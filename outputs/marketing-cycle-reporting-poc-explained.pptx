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Net ROAS</c:v>
          </c:tx>
          <c:spPr>
            <a:solidFill>
              <a:srgbClr val="6DCBF4"/>
            </a:solidFill>
          </c:spPr>
          <c:invertIfNegative val="1"/>
          <c:dPt>
            <c:idx val="0"/>
            <c:invertIfNegative val="1"/>
            <c:bubble3D val="0"/>
            <c:spPr>
              <a:solidFill>
                <a:srgbClr val="D0EDFA"/>
              </a:solidFill>
            </c:spPr>
            <c:extLst>
              <c:ext xmlns:c16="http://schemas.microsoft.com/office/drawing/2014/chart" uri="{C3380CC4-5D6E-409C-BE32-E72D297353CC}">
                <c16:uniqueId val="{00000001-C0BF-1141-8FF8-BFEFBAB794AE}"/>
              </c:ext>
            </c:extLst>
          </c:dPt>
          <c:dPt>
            <c:idx val="1"/>
            <c:invertIfNegative val="1"/>
            <c:bubble3D val="0"/>
            <c:spPr>
              <a:solidFill>
                <a:srgbClr val="3D8DFF"/>
              </a:solidFill>
            </c:spPr>
            <c:extLst>
              <c:ext xmlns:c16="http://schemas.microsoft.com/office/drawing/2014/chart" uri="{C3380CC4-5D6E-409C-BE32-E72D297353CC}">
                <c16:uniqueId val="{00000003-C0BF-1141-8FF8-BFEFBAB794AE}"/>
              </c:ext>
            </c:extLst>
          </c:dPt>
          <c:dLbls>
            <c:spPr>
              <a:noFill/>
              <a:ln>
                <a:noFill/>
              </a:ln>
              <a:effectLst/>
            </c:spPr>
            <c:txPr>
              <a:bodyPr anchorCtr="1"/>
              <a:lstStyle/>
              <a:p>
                <a:pPr>
                  <a:defRPr sz="1050" b="1">
                    <a:solidFill>
                      <a:srgbClr val="000000"/>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1% LAL</c:v>
              </c:pt>
              <c:pt idx="1">
                <c:v>Broad</c:v>
              </c:pt>
            </c:strLit>
          </c:cat>
          <c:val>
            <c:numLit>
              <c:formatCode>General</c:formatCode>
              <c:ptCount val="2"/>
              <c:pt idx="0">
                <c:v>2.2599999999999998</c:v>
              </c:pt>
              <c:pt idx="1">
                <c:v>5.53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C0BF-1141-8FF8-BFEFBAB794AE}"/>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5F6368"/>
                </a:solidFill>
                <a:latin typeface="Helvetica Neue"/>
                <a:ea typeface="Helvetica Neue"/>
                <a:cs typeface="Helvetica Neue"/>
              </a:defRPr>
            </a:pPr>
            <a:endParaRPr lang="en-DE"/>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975">
                <a:solidFill>
                  <a:srgbClr val="000000"/>
                </a:solidFill>
                <a:latin typeface="Helvetica Neue"/>
                <a:ea typeface="Helvetica Neue"/>
                <a:cs typeface="Helvetica Neue"/>
              </a:defRPr>
            </a:pPr>
            <a:endParaRPr lang="en-DE"/>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Net ROAS</c:v>
          </c:tx>
          <c:spPr>
            <a:solidFill>
              <a:srgbClr val="6DCBF4"/>
            </a:solidFill>
          </c:spPr>
          <c:invertIfNegative val="1"/>
          <c:dPt>
            <c:idx val="0"/>
            <c:invertIfNegative val="1"/>
            <c:bubble3D val="0"/>
            <c:spPr>
              <a:solidFill>
                <a:srgbClr val="D0EDFA"/>
              </a:solidFill>
            </c:spPr>
            <c:extLst>
              <c:ext xmlns:c16="http://schemas.microsoft.com/office/drawing/2014/chart" uri="{C3380CC4-5D6E-409C-BE32-E72D297353CC}">
                <c16:uniqueId val="{00000001-36B7-3248-A0FE-FB048C33C7FA}"/>
              </c:ext>
            </c:extLst>
          </c:dPt>
          <c:dPt>
            <c:idx val="1"/>
            <c:invertIfNegative val="1"/>
            <c:bubble3D val="0"/>
            <c:extLst>
              <c:ext xmlns:c16="http://schemas.microsoft.com/office/drawing/2014/chart" uri="{C3380CC4-5D6E-409C-BE32-E72D297353CC}">
                <c16:uniqueId val="{00000003-36B7-3248-A0FE-FB048C33C7FA}"/>
              </c:ext>
            </c:extLst>
          </c:dPt>
          <c:dPt>
            <c:idx val="2"/>
            <c:invertIfNegative val="1"/>
            <c:bubble3D val="0"/>
            <c:spPr>
              <a:solidFill>
                <a:srgbClr val="3D8DFF"/>
              </a:solidFill>
            </c:spPr>
            <c:extLst>
              <c:ext xmlns:c16="http://schemas.microsoft.com/office/drawing/2014/chart" uri="{C3380CC4-5D6E-409C-BE32-E72D297353CC}">
                <c16:uniqueId val="{00000005-36B7-3248-A0FE-FB048C33C7FA}"/>
              </c:ext>
            </c:extLst>
          </c:dPt>
          <c:dLbls>
            <c:spPr>
              <a:noFill/>
              <a:ln>
                <a:noFill/>
              </a:ln>
              <a:effectLst/>
            </c:spPr>
            <c:txPr>
              <a:bodyPr anchorCtr="1"/>
              <a:lstStyle/>
              <a:p>
                <a:pPr>
                  <a:defRPr sz="1050" b="1">
                    <a:solidFill>
                      <a:srgbClr val="000000"/>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Suh.</c:v>
              </c:pt>
              <c:pt idx="1">
                <c:v>Iftar</c:v>
              </c:pt>
              <c:pt idx="2">
                <c:v>Eid</c:v>
              </c:pt>
            </c:strLit>
          </c:cat>
          <c:val>
            <c:numLit>
              <c:formatCode>General</c:formatCode>
              <c:ptCount val="3"/>
              <c:pt idx="0">
                <c:v>1.18</c:v>
              </c:pt>
              <c:pt idx="1">
                <c:v>1.35</c:v>
              </c:pt>
              <c:pt idx="2">
                <c:v>4.34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36B7-3248-A0FE-FB048C33C7FA}"/>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5F6368"/>
                </a:solidFill>
                <a:latin typeface="Helvetica Neue"/>
                <a:ea typeface="Helvetica Neue"/>
                <a:cs typeface="Helvetica Neue"/>
              </a:defRPr>
            </a:pPr>
            <a:endParaRPr lang="en-DE"/>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975">
                <a:solidFill>
                  <a:srgbClr val="000000"/>
                </a:solidFill>
                <a:latin typeface="Helvetica Neue"/>
                <a:ea typeface="Helvetica Neue"/>
                <a:cs typeface="Helvetica Neue"/>
              </a:defRPr>
            </a:pPr>
            <a:endParaRPr lang="en-DE"/>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Spend share</c:v>
          </c:tx>
          <c:spPr>
            <a:solidFill>
              <a:srgbClr val="6DCBF4"/>
            </a:solidFill>
          </c:spPr>
          <c:invertIfNegative val="1"/>
          <c:dPt>
            <c:idx val="2"/>
            <c:invertIfNegative val="1"/>
            <c:bubble3D val="0"/>
            <c:spPr>
              <a:solidFill>
                <a:srgbClr val="3D8DFF"/>
              </a:solidFill>
            </c:spPr>
            <c:extLst>
              <c:ext xmlns:c16="http://schemas.microsoft.com/office/drawing/2014/chart" uri="{C3380CC4-5D6E-409C-BE32-E72D297353CC}">
                <c16:uniqueId val="{00000001-AE2E-E343-8DB5-DB19566375BC}"/>
              </c:ext>
            </c:extLst>
          </c:dPt>
          <c:dLbls>
            <c:spPr>
              <a:noFill/>
              <a:ln>
                <a:noFill/>
              </a:ln>
              <a:effectLst/>
            </c:spPr>
            <c:txPr>
              <a:bodyPr anchorCtr="1"/>
              <a:lstStyle/>
              <a:p>
                <a:pPr>
                  <a:defRPr sz="1050" b="1">
                    <a:solidFill>
                      <a:srgbClr val="000000"/>
                    </a:solidFill>
                  </a:defRPr>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8"/>
              <c:pt idx="0">
                <c:v>Awareness</c:v>
              </c:pt>
              <c:pt idx="1">
                <c:v>Retention</c:v>
              </c:pt>
              <c:pt idx="2">
                <c:v>Experimental</c:v>
              </c:pt>
              <c:pt idx="3">
                <c:v>Scale</c:v>
              </c:pt>
              <c:pt idx="4">
                <c:v>Promotional</c:v>
              </c:pt>
              <c:pt idx="5">
                <c:v>Launch</c:v>
              </c:pt>
              <c:pt idx="6">
                <c:v>Seasonal</c:v>
              </c:pt>
              <c:pt idx="7">
                <c:v>Always-on</c:v>
              </c:pt>
            </c:strLit>
          </c:cat>
          <c:val>
            <c:numLit>
              <c:formatCode>General</c:formatCode>
              <c:ptCount val="8"/>
              <c:pt idx="0">
                <c:v>1.48</c:v>
              </c:pt>
              <c:pt idx="1">
                <c:v>2.2400000000000002</c:v>
              </c:pt>
              <c:pt idx="2">
                <c:v>2.63</c:v>
              </c:pt>
              <c:pt idx="3">
                <c:v>7.82</c:v>
              </c:pt>
              <c:pt idx="4">
                <c:v>7.83</c:v>
              </c:pt>
              <c:pt idx="5">
                <c:v>17.05</c:v>
              </c:pt>
              <c:pt idx="6">
                <c:v>25.94</c:v>
              </c:pt>
              <c:pt idx="7">
                <c:v>35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AE2E-E343-8DB5-DB19566375BC}"/>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w="9525">
              <a:solidFill>
                <a:srgbClr val="EDEDED"/>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00">
                <a:solidFill>
                  <a:srgbClr val="5F6368"/>
                </a:solidFill>
                <a:latin typeface="Helvetica Neue"/>
                <a:ea typeface="Helvetica Neue"/>
                <a:cs typeface="Helvetica Neue"/>
              </a:defRPr>
            </a:pPr>
            <a:endParaRPr lang="en-DE"/>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975">
                <a:solidFill>
                  <a:srgbClr val="000000"/>
                </a:solidFill>
                <a:latin typeface="Helvetica Neue"/>
                <a:ea typeface="Helvetica Neue"/>
                <a:cs typeface="Helvetica Neue"/>
              </a:defRPr>
            </a:pPr>
            <a:endParaRPr lang="en-DE"/>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deck explains the business problem, the data model, deterministic calculations, decisions already taken in src_2, and how prompt implementations can later be replaced by agents. The existing src baseline and the src_2 target architecture are deliberately kept separate.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as the mental model for the entire system. A campaign can achieve its media objective but fail to produce business value. It can also appear commercially strong in a sample that is too incomplete for automatic allocation.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Campaign is the strategic container. Adset is where Meta targeting and optimization live. Audience is therefore an adset characteristic. An ad carries a creative, but ad performance also includes the adset context. The v2 policy will enforce parent-child eligibility.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not a fully reconciled conversion funnel. Meta reports attributed conversation-start actions; the WhatsApp file contains unique supplied conversation records. We can follow the 617 observed records into orders, but we cannot assume they represent all Meta-attributed starts.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giant flat join would multiply daily Meta rows by conversation rows and double-count spend or revenue. The v2 design keeps fact tables at natural grain and joins only after aggregation. Campaign and ad IDs are the conformed keys; adset is derivable from ad ownership.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join logic is working for the records we received. The unresolved issue is completeness and event semantics. This is why src_2 models evidence readiness separately and downgrades an apparent scale action to a controlled test when evidence is limited.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Meta metrics explain how efficiently media was delivered and whether it generated response. WhatsApp metrics describe downstream business quality. Net revenue and ROAS remain profit proxies because margin and fulfilment cost are absent.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word conversion is context dependent. Always name the denominator and the next step. ROAS is not profit because cost of goods, fulfilment, payment fees, and overhead are missing. AOV measures order size, not customer profitability.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Campaign type changes the success question. An awareness campaign should not be judged as though its primary purpose were immediate revenue. The YAML lookup supplies one primary KPI, supporting diagnostics, guardrails, allocation metric, and analysis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Weights are useful only when the business approves the trade-offs. For the POC, src_2 makes the primary objective explicit, uses supporting KPIs to explain it, and lets guardrails restrict a decision. This is easier to audit and teach.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LLM in this path. Limited evidence can produce achieved with concerns even when the primary KPI passes. Missing outcome maturity produces data not ready. Every classification can be reconstructed from component results and reason codes.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Scale requires the allocation metric and critical guardrails to pass with ready evidence. Limited evidence deliberately downgrades a potential scale to keep as test. Positive spend with zero delivered orders becomes do not fund.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is not currently an independent causal entity; it is an adset attribute. Creative rollups can aggregate a creative ID across ads, but timing and audience differences remain confounders. The hierarchy provides diagnostic depth, not experimental proof.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observed association is useful: broad Gift-buyer targeting plus the Hostess Gift message is a strong next-cycle hypothesis. But the audience cannot be credited alone because the lookalike adset received a different creative and delivery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Eid is the strongest observed seasonal campaign by ROAS. The existing src engine also recommends the largest share of the seasonal envelope. The v2 decision adds an evidence-readiness gate, so this remains a scenario rather than an executable instruction.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Without business priorities, the POC should not decide whether awareness is more important than retention. It preserves the historical type mix. Experimental spend was EGP 10,579.62 out of EGP 402,274.64, giving 2.63 units. No maximum campaign concentration rule is applied.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src_2 was created in parallel to avoid breaking the current application. The next engineering task is not an agent. It is deterministic parity: normalize the same data, reproduce aggregates, then compare every entity-level KPI before switching the UI.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Domain and analytics contain the rules we must be able to test. Application orchestration depends on interfaces. Infrastructure and intelligence implement those interfaces. Presentation never calculates metrics or calls a model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YAML can select named metrics and benchmark strategies, but it must not execute arbitrary formulas. Python loaders validate YAML with Pydantic. Markdown contains prose instructions but not KPI math. JSON and later Parquet provide auditable artifacts.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depends on a Protocol, not an OpenAI call. A future agent may use tools such as get campaign evidence, compare peers, or simulate a budget policy. It must return the same validated CampaignInsight and cannot mutate deterministic calculations.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report should not create three independent truths. It should create one validated evidence model and project it into three stakeholder views. The business owner sees portfolio consequences, the director sees objective and strategy, and the manager sees entity-level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scaffold is real and tested, but it is not yet the production path. The next work should be canonical data and parity. This sequencing protects the team from debugging data math and agent behavior at the same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reinforcing the design discipline. The team should be able to challenge a benchmark, inspect a rule, reproduce a KPI, and replace an intelligence adapter without changing the evidence contract.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1">
            <a:extLst>
              <a:ext uri="{FF2B5EF4-FFF2-40B4-BE49-F238E27FC236}">
                <a16:creationId xmlns:a16="http://schemas.microsoft.com/office/drawing/2014/main" id="{54E4860D-AC43-4951-B8A1-29C957EE71B1}"/>
              </a:ext>
            </a:extLst>
          </p:cNvPr>
          <p:cNvSpPr>
            <a:spLocks noGrp="1"/>
          </p:cNvSpPr>
          <p:nvPr/>
        </p:nvSpPr>
        <p:spPr>
          <a:xfrm>
            <a:off x="390525" y="390525"/>
            <a:ext cx="4953000" cy="361950"/>
          </a:xfrm>
          <a:prstGeom prst="rect">
            <a:avLst/>
          </a:prstGeom>
        </p:spPr>
        <p:txBody>
          <a:bodyPr wrap="square" lIns="0" tIns="0" rIns="0" bIns="0" anchor="t">
            <a:normAutofit/>
          </a:bodyPr>
          <a:lstStyle/>
          <a:p>
            <a:pPr algn="l">
              <a:defRPr sz="1650" b="1">
                <a:solidFill>
                  <a:srgbClr val="3D8DFF"/>
                </a:solidFill>
                <a:latin typeface="Helvetica Neue"/>
                <a:ea typeface="Helvetica Neue"/>
                <a:cs typeface="Helvetica Neue"/>
              </a:defRPr>
            </a:pPr>
            <a:r>
              <a:t>TEAM 2 | MARKETING REPORTING</a:t>
            </a:r>
          </a:p>
        </p:txBody>
      </p:sp>
      <p:sp>
        <p:nvSpPr>
          <p:cNvPr id="2" name="text-2">
            <a:extLst>
              <a:ext uri="{FF2B5EF4-FFF2-40B4-BE49-F238E27FC236}">
                <a16:creationId xmlns:a16="http://schemas.microsoft.com/office/drawing/2014/main" id="{70D2DF2C-D6FB-4E48-B48B-2D09B0BA45FC}"/>
              </a:ext>
            </a:extLst>
          </p:cNvPr>
          <p:cNvSpPr>
            <a:spLocks noGrp="1"/>
          </p:cNvSpPr>
          <p:nvPr/>
        </p:nvSpPr>
        <p:spPr>
          <a:xfrm>
            <a:off x="390525" y="1581150"/>
            <a:ext cx="8096250" cy="2381250"/>
          </a:xfrm>
          <a:prstGeom prst="rect">
            <a:avLst/>
          </a:prstGeom>
        </p:spPr>
        <p:txBody>
          <a:bodyPr wrap="square" lIns="0" tIns="0" rIns="0" bIns="0" anchor="b">
            <a:noAutofit/>
          </a:bodyPr>
          <a:lstStyle/>
          <a:p>
            <a:pPr algn="l">
              <a:defRPr sz="5850" b="1">
                <a:solidFill>
                  <a:srgbClr val="000000"/>
                </a:solidFill>
                <a:latin typeface="Helvetica Neue"/>
                <a:ea typeface="Helvetica Neue"/>
                <a:cs typeface="Helvetica Neue"/>
              </a:defRPr>
            </a:pPr>
            <a:r>
              <a:t>Marketing Cycle
Reporting POC</a:t>
            </a:r>
          </a:p>
        </p:txBody>
      </p:sp>
      <p:sp>
        <p:nvSpPr>
          <p:cNvPr id="3" name="shape-3">
            <a:extLst>
              <a:ext uri="{FF2B5EF4-FFF2-40B4-BE49-F238E27FC236}">
                <a16:creationId xmlns:a16="http://schemas.microsoft.com/office/drawing/2014/main" id="{BECB1A58-E346-48DE-9E05-B0F6A4AB6429}"/>
              </a:ext>
            </a:extLst>
          </p:cNvPr>
          <p:cNvSpPr>
            <a:spLocks noGrp="1"/>
          </p:cNvSpPr>
          <p:nvPr/>
        </p:nvSpPr>
        <p:spPr>
          <a:xfrm>
            <a:off x="9067800" y="1581150"/>
            <a:ext cx="2724150" cy="2381250"/>
          </a:xfrm>
          <a:prstGeom prst="rect">
            <a:avLst/>
          </a:prstGeom>
          <a:solidFill>
            <a:srgbClr val="D0EDFA"/>
          </a:solidFill>
          <a:ln w="9525">
            <a:solidFill>
              <a:srgbClr val="D0EDFA"/>
            </a:solidFill>
            <a:prstDash val="solid"/>
          </a:ln>
        </p:spPr>
        <p:txBody>
          <a:bodyPr/>
          <a:lstStyle/>
          <a:p>
            <a:endParaRPr lang="en-DE"/>
          </a:p>
        </p:txBody>
      </p:sp>
      <p:sp>
        <p:nvSpPr>
          <p:cNvPr id="4" name="text-4">
            <a:extLst>
              <a:ext uri="{FF2B5EF4-FFF2-40B4-BE49-F238E27FC236}">
                <a16:creationId xmlns:a16="http://schemas.microsoft.com/office/drawing/2014/main" id="{2B3D860F-36B7-45E1-817D-8EC0AC194C93}"/>
              </a:ext>
            </a:extLst>
          </p:cNvPr>
          <p:cNvSpPr>
            <a:spLocks noGrp="1"/>
          </p:cNvSpPr>
          <p:nvPr/>
        </p:nvSpPr>
        <p:spPr>
          <a:xfrm>
            <a:off x="9401175" y="2047875"/>
            <a:ext cx="2095500" cy="1524000"/>
          </a:xfrm>
          <a:prstGeom prst="rect">
            <a:avLst/>
          </a:prstGeom>
        </p:spPr>
        <p:txBody>
          <a:bodyPr wrap="square" lIns="0" tIns="0" rIns="0" bIns="0" anchor="ctr">
            <a:normAutofit/>
          </a:bodyPr>
          <a:lstStyle/>
          <a:p>
            <a:pPr algn="ctr">
              <a:defRPr sz="2550" b="1">
                <a:solidFill>
                  <a:srgbClr val="000000"/>
                </a:solidFill>
                <a:latin typeface="Helvetica Neue"/>
                <a:ea typeface="Helvetica Neue"/>
                <a:cs typeface="Helvetica Neue"/>
              </a:defRPr>
            </a:pPr>
            <a:r>
              <a:t>META
+
WHATSAPP</a:t>
            </a:r>
          </a:p>
        </p:txBody>
      </p:sp>
      <p:sp>
        <p:nvSpPr>
          <p:cNvPr id="5" name="text-5">
            <a:extLst>
              <a:ext uri="{FF2B5EF4-FFF2-40B4-BE49-F238E27FC236}">
                <a16:creationId xmlns:a16="http://schemas.microsoft.com/office/drawing/2014/main" id="{D7CE11AD-F28D-484E-A6C6-20B3ACB045D5}"/>
              </a:ext>
            </a:extLst>
          </p:cNvPr>
          <p:cNvSpPr>
            <a:spLocks noGrp="1"/>
          </p:cNvSpPr>
          <p:nvPr/>
        </p:nvSpPr>
        <p:spPr>
          <a:xfrm>
            <a:off x="390525" y="4552950"/>
            <a:ext cx="8001000" cy="914400"/>
          </a:xfrm>
          <a:prstGeom prst="rect">
            <a:avLst/>
          </a:prstGeom>
        </p:spPr>
        <p:txBody>
          <a:bodyPr wrap="square" lIns="0" tIns="0" rIns="0" bIns="0" anchor="t">
            <a:normAutofit/>
          </a:bodyPr>
          <a:lstStyle/>
          <a:p>
            <a:pPr algn="l">
              <a:defRPr sz="2100" b="0">
                <a:solidFill>
                  <a:srgbClr val="5F6368"/>
                </a:solidFill>
                <a:latin typeface="Helvetica Neue"/>
                <a:ea typeface="Helvetica Neue"/>
                <a:cs typeface="Helvetica Neue"/>
              </a:defRPr>
            </a:pPr>
            <a:r>
              <a:t>How the code turns media delivery and observed business outcomes into explainable next-cycle scenarios</a:t>
            </a:r>
          </a:p>
        </p:txBody>
      </p:sp>
      <p:sp>
        <p:nvSpPr>
          <p:cNvPr id="6" name="text-6">
            <a:extLst>
              <a:ext uri="{FF2B5EF4-FFF2-40B4-BE49-F238E27FC236}">
                <a16:creationId xmlns:a16="http://schemas.microsoft.com/office/drawing/2014/main" id="{35D73EE1-2716-4C0A-A790-13A08220A29A}"/>
              </a:ext>
            </a:extLst>
          </p:cNvPr>
          <p:cNvSpPr>
            <a:spLocks noGrp="1"/>
          </p:cNvSpPr>
          <p:nvPr/>
        </p:nvSpPr>
        <p:spPr>
          <a:xfrm>
            <a:off x="390525" y="5981700"/>
            <a:ext cx="5905500" cy="285750"/>
          </a:xfrm>
          <a:prstGeom prst="rect">
            <a:avLst/>
          </a:prstGeom>
        </p:spPr>
        <p:txBody>
          <a:bodyPr wrap="square" lIns="0" tIns="0" rIns="0" bIns="0" anchor="t">
            <a:normAutofit/>
          </a:bodyPr>
          <a:lstStyle/>
          <a:p>
            <a:pPr algn="l">
              <a:defRPr sz="1350" b="1">
                <a:solidFill>
                  <a:srgbClr val="000000"/>
                </a:solidFill>
                <a:latin typeface="Helvetica Neue"/>
                <a:ea typeface="Helvetica Neue"/>
                <a:cs typeface="Helvetica Neue"/>
              </a:defRPr>
            </a:pPr>
            <a:r>
              <a:t>For data scientists new to marketing</a:t>
            </a:r>
          </a:p>
        </p:txBody>
      </p:sp>
    </p:spTree>
    <p:extLst>
      <p:ext uri="{BB962C8B-B14F-4D97-AF65-F5344CB8AC3E}">
        <p14:creationId xmlns:p14="http://schemas.microsoft.com/office/powerpoint/2010/main" val="886475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2-title">
            <a:extLst>
              <a:ext uri="{FF2B5EF4-FFF2-40B4-BE49-F238E27FC236}">
                <a16:creationId xmlns:a16="http://schemas.microsoft.com/office/drawing/2014/main" id="{1571FE9D-E013-47EB-8EC2-0BC496396153}"/>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Three questions keep decisions honest</a:t>
            </a:r>
          </a:p>
        </p:txBody>
      </p:sp>
      <p:cxnSp>
        <p:nvCxnSpPr>
          <p:cNvPr id="19" name="line-21"/>
          <p:cNvCxnSpPr/>
          <p:nvPr/>
        </p:nvCxnSpPr>
        <p:spPr>
          <a:xfrm>
            <a:off x="495300" y="1057275"/>
            <a:ext cx="11296650" cy="9525"/>
          </a:xfrm>
          <a:prstGeom prst="straightConnector1">
            <a:avLst/>
          </a:prstGeom>
          <a:ln w="9525">
            <a:solidFill>
              <a:srgbClr val="B8BCC4"/>
            </a:solidFill>
            <a:prstDash val="solid"/>
          </a:ln>
        </p:spPr>
      </p:cxnSp>
      <p:sp>
        <p:nvSpPr>
          <p:cNvPr id="3" name="slide-2-source">
            <a:extLst>
              <a:ext uri="{FF2B5EF4-FFF2-40B4-BE49-F238E27FC236}">
                <a16:creationId xmlns:a16="http://schemas.microsoft.com/office/drawing/2014/main" id="{C358CEE8-543F-40FF-B791-6EC6F9674C76}"/>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 methodology and decision contracts</a:t>
            </a:r>
          </a:p>
        </p:txBody>
      </p:sp>
      <p:sp>
        <p:nvSpPr>
          <p:cNvPr id="4" name="slide-2-number">
            <a:extLst>
              <a:ext uri="{FF2B5EF4-FFF2-40B4-BE49-F238E27FC236}">
                <a16:creationId xmlns:a16="http://schemas.microsoft.com/office/drawing/2014/main" id="{B8A12434-336A-48B3-8C31-4BF3187E3C72}"/>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02</a:t>
            </a:r>
          </a:p>
        </p:txBody>
      </p:sp>
      <p:sp>
        <p:nvSpPr>
          <p:cNvPr id="5" name="shape-7">
            <a:extLst>
              <a:ext uri="{FF2B5EF4-FFF2-40B4-BE49-F238E27FC236}">
                <a16:creationId xmlns:a16="http://schemas.microsoft.com/office/drawing/2014/main" id="{3687D5F0-A992-4732-A6EB-F4C7A277DC50}"/>
              </a:ext>
            </a:extLst>
          </p:cNvPr>
          <p:cNvSpPr>
            <a:spLocks noGrp="1"/>
          </p:cNvSpPr>
          <p:nvPr/>
        </p:nvSpPr>
        <p:spPr>
          <a:xfrm>
            <a:off x="390525" y="1809750"/>
            <a:ext cx="3562350" cy="3429000"/>
          </a:xfrm>
          <a:prstGeom prst="rect">
            <a:avLst/>
          </a:prstGeom>
          <a:solidFill>
            <a:srgbClr val="F7F7F7"/>
          </a:solidFill>
          <a:ln w="9525">
            <a:solidFill>
              <a:srgbClr val="B8BCC4"/>
            </a:solidFill>
            <a:prstDash val="solid"/>
          </a:ln>
        </p:spPr>
        <p:txBody>
          <a:bodyPr/>
          <a:lstStyle/>
          <a:p>
            <a:endParaRPr lang="en-DE"/>
          </a:p>
        </p:txBody>
      </p:sp>
      <p:sp>
        <p:nvSpPr>
          <p:cNvPr id="6" name="shape-8">
            <a:extLst>
              <a:ext uri="{FF2B5EF4-FFF2-40B4-BE49-F238E27FC236}">
                <a16:creationId xmlns:a16="http://schemas.microsoft.com/office/drawing/2014/main" id="{4DC8738D-856B-49A8-838C-DB42C4D91A9E}"/>
              </a:ext>
            </a:extLst>
          </p:cNvPr>
          <p:cNvSpPr>
            <a:spLocks noGrp="1"/>
          </p:cNvSpPr>
          <p:nvPr/>
        </p:nvSpPr>
        <p:spPr>
          <a:xfrm>
            <a:off x="4314825" y="1809750"/>
            <a:ext cx="3562350" cy="3429000"/>
          </a:xfrm>
          <a:prstGeom prst="rect">
            <a:avLst/>
          </a:prstGeom>
          <a:solidFill>
            <a:srgbClr val="F7F7F7"/>
          </a:solidFill>
          <a:ln w="9525">
            <a:solidFill>
              <a:srgbClr val="B8BCC4"/>
            </a:solidFill>
            <a:prstDash val="solid"/>
          </a:ln>
        </p:spPr>
        <p:txBody>
          <a:bodyPr/>
          <a:lstStyle/>
          <a:p>
            <a:endParaRPr lang="en-DE"/>
          </a:p>
        </p:txBody>
      </p:sp>
      <p:sp>
        <p:nvSpPr>
          <p:cNvPr id="7" name="shape-9">
            <a:extLst>
              <a:ext uri="{FF2B5EF4-FFF2-40B4-BE49-F238E27FC236}">
                <a16:creationId xmlns:a16="http://schemas.microsoft.com/office/drawing/2014/main" id="{569768FE-23FD-47B9-AD04-FEC55E37F3FB}"/>
              </a:ext>
            </a:extLst>
          </p:cNvPr>
          <p:cNvSpPr>
            <a:spLocks noGrp="1"/>
          </p:cNvSpPr>
          <p:nvPr/>
        </p:nvSpPr>
        <p:spPr>
          <a:xfrm>
            <a:off x="8239125" y="1809750"/>
            <a:ext cx="3562350" cy="3429000"/>
          </a:xfrm>
          <a:prstGeom prst="rect">
            <a:avLst/>
          </a:prstGeom>
          <a:solidFill>
            <a:srgbClr val="F7F7F7"/>
          </a:solidFill>
          <a:ln w="9525">
            <a:solidFill>
              <a:srgbClr val="B8BCC4"/>
            </a:solidFill>
            <a:prstDash val="solid"/>
          </a:ln>
        </p:spPr>
        <p:txBody>
          <a:bodyPr/>
          <a:lstStyle/>
          <a:p>
            <a:endParaRPr lang="en-DE"/>
          </a:p>
        </p:txBody>
      </p:sp>
      <p:sp>
        <p:nvSpPr>
          <p:cNvPr id="8" name="text-10">
            <a:extLst>
              <a:ext uri="{FF2B5EF4-FFF2-40B4-BE49-F238E27FC236}">
                <a16:creationId xmlns:a16="http://schemas.microsoft.com/office/drawing/2014/main" id="{1A1CF314-D10B-4090-9C18-A3058A55F3EA}"/>
              </a:ext>
            </a:extLst>
          </p:cNvPr>
          <p:cNvSpPr>
            <a:spLocks noGrp="1"/>
          </p:cNvSpPr>
          <p:nvPr/>
        </p:nvSpPr>
        <p:spPr>
          <a:xfrm>
            <a:off x="666750" y="2095500"/>
            <a:ext cx="666750" cy="666750"/>
          </a:xfrm>
          <a:prstGeom prst="rect">
            <a:avLst/>
          </a:prstGeom>
        </p:spPr>
        <p:txBody>
          <a:bodyPr wrap="square" lIns="0" tIns="0" rIns="0" bIns="0" anchor="t">
            <a:normAutofit/>
          </a:bodyPr>
          <a:lstStyle/>
          <a:p>
            <a:pPr algn="l">
              <a:defRPr sz="4200" b="1">
                <a:solidFill>
                  <a:srgbClr val="3D8DFF"/>
                </a:solidFill>
                <a:latin typeface="Helvetica Neue"/>
                <a:ea typeface="Helvetica Neue"/>
                <a:cs typeface="Helvetica Neue"/>
              </a:defRPr>
            </a:pPr>
            <a:r>
              <a:t>1</a:t>
            </a:r>
          </a:p>
        </p:txBody>
      </p:sp>
      <p:sp>
        <p:nvSpPr>
          <p:cNvPr id="9" name="text-11">
            <a:extLst>
              <a:ext uri="{FF2B5EF4-FFF2-40B4-BE49-F238E27FC236}">
                <a16:creationId xmlns:a16="http://schemas.microsoft.com/office/drawing/2014/main" id="{2A3B8FEC-B279-4207-A4F4-A2E7FE88ED10}"/>
              </a:ext>
            </a:extLst>
          </p:cNvPr>
          <p:cNvSpPr>
            <a:spLocks noGrp="1"/>
          </p:cNvSpPr>
          <p:nvPr/>
        </p:nvSpPr>
        <p:spPr>
          <a:xfrm>
            <a:off x="666750" y="2905125"/>
            <a:ext cx="2857500" cy="476250"/>
          </a:xfrm>
          <a:prstGeom prst="rect">
            <a:avLst/>
          </a:prstGeom>
        </p:spPr>
        <p:txBody>
          <a:bodyPr wrap="square" lIns="0" tIns="0" rIns="0" bIns="0" anchor="t">
            <a:normAutofit/>
          </a:bodyPr>
          <a:lstStyle/>
          <a:p>
            <a:pPr algn="l">
              <a:defRPr sz="2100" b="1">
                <a:solidFill>
                  <a:srgbClr val="000000"/>
                </a:solidFill>
                <a:latin typeface="Helvetica Neue"/>
                <a:ea typeface="Helvetica Neue"/>
                <a:cs typeface="Helvetica Neue"/>
              </a:defRPr>
            </a:pPr>
            <a:r>
              <a:t>Target achievement</a:t>
            </a:r>
          </a:p>
        </p:txBody>
      </p:sp>
      <p:sp>
        <p:nvSpPr>
          <p:cNvPr id="10" name="text-12">
            <a:extLst>
              <a:ext uri="{FF2B5EF4-FFF2-40B4-BE49-F238E27FC236}">
                <a16:creationId xmlns:a16="http://schemas.microsoft.com/office/drawing/2014/main" id="{13AF7B63-252B-4BF6-91A7-F67330DB1DA1}"/>
              </a:ext>
            </a:extLst>
          </p:cNvPr>
          <p:cNvSpPr>
            <a:spLocks noGrp="1"/>
          </p:cNvSpPr>
          <p:nvPr/>
        </p:nvSpPr>
        <p:spPr>
          <a:xfrm>
            <a:off x="666750" y="3562350"/>
            <a:ext cx="2857500" cy="1047750"/>
          </a:xfrm>
          <a:prstGeom prst="rect">
            <a:avLst/>
          </a:prstGeom>
        </p:spPr>
        <p:txBody>
          <a:bodyPr wrap="square" lIns="0" tIns="0" rIns="0" bIns="0" anchor="t">
            <a:normAutofit/>
          </a:bodyPr>
          <a:lstStyle/>
          <a:p>
            <a:pPr algn="l">
              <a:defRPr sz="1650" b="0">
                <a:solidFill>
                  <a:srgbClr val="5F6368"/>
                </a:solidFill>
                <a:latin typeface="Helvetica Neue"/>
                <a:ea typeface="Helvetica Neue"/>
                <a:cs typeface="Helvetica Neue"/>
              </a:defRPr>
            </a:pPr>
            <a:r>
              <a:t>Did the campaign do the job associated with its type?</a:t>
            </a:r>
          </a:p>
        </p:txBody>
      </p:sp>
      <p:sp>
        <p:nvSpPr>
          <p:cNvPr id="11" name="text-13">
            <a:extLst>
              <a:ext uri="{FF2B5EF4-FFF2-40B4-BE49-F238E27FC236}">
                <a16:creationId xmlns:a16="http://schemas.microsoft.com/office/drawing/2014/main" id="{07EA7FA0-CF09-4AB3-B326-E5B20386EC34}"/>
              </a:ext>
            </a:extLst>
          </p:cNvPr>
          <p:cNvSpPr>
            <a:spLocks noGrp="1"/>
          </p:cNvSpPr>
          <p:nvPr/>
        </p:nvSpPr>
        <p:spPr>
          <a:xfrm>
            <a:off x="4591050" y="2095500"/>
            <a:ext cx="666750" cy="666750"/>
          </a:xfrm>
          <a:prstGeom prst="rect">
            <a:avLst/>
          </a:prstGeom>
        </p:spPr>
        <p:txBody>
          <a:bodyPr wrap="square" lIns="0" tIns="0" rIns="0" bIns="0" anchor="t">
            <a:normAutofit/>
          </a:bodyPr>
          <a:lstStyle/>
          <a:p>
            <a:pPr algn="l">
              <a:defRPr sz="4200" b="1">
                <a:solidFill>
                  <a:srgbClr val="3D8DFF"/>
                </a:solidFill>
                <a:latin typeface="Helvetica Neue"/>
                <a:ea typeface="Helvetica Neue"/>
                <a:cs typeface="Helvetica Neue"/>
              </a:defRPr>
            </a:pPr>
            <a:r>
              <a:t>2</a:t>
            </a:r>
          </a:p>
        </p:txBody>
      </p:sp>
      <p:sp>
        <p:nvSpPr>
          <p:cNvPr id="12" name="text-14">
            <a:extLst>
              <a:ext uri="{FF2B5EF4-FFF2-40B4-BE49-F238E27FC236}">
                <a16:creationId xmlns:a16="http://schemas.microsoft.com/office/drawing/2014/main" id="{70A37948-A4CA-4C99-B674-4FA5EDBFF9C0}"/>
              </a:ext>
            </a:extLst>
          </p:cNvPr>
          <p:cNvSpPr>
            <a:spLocks noGrp="1"/>
          </p:cNvSpPr>
          <p:nvPr/>
        </p:nvSpPr>
        <p:spPr>
          <a:xfrm>
            <a:off x="4591050" y="2905125"/>
            <a:ext cx="2857500" cy="476250"/>
          </a:xfrm>
          <a:prstGeom prst="rect">
            <a:avLst/>
          </a:prstGeom>
        </p:spPr>
        <p:txBody>
          <a:bodyPr wrap="square" lIns="0" tIns="0" rIns="0" bIns="0" anchor="t">
            <a:normAutofit/>
          </a:bodyPr>
          <a:lstStyle/>
          <a:p>
            <a:pPr algn="l">
              <a:defRPr sz="2100" b="1">
                <a:solidFill>
                  <a:srgbClr val="000000"/>
                </a:solidFill>
                <a:latin typeface="Helvetica Neue"/>
                <a:ea typeface="Helvetica Neue"/>
                <a:cs typeface="Helvetica Neue"/>
              </a:defRPr>
            </a:pPr>
            <a:r>
              <a:t>Business outcome</a:t>
            </a:r>
          </a:p>
        </p:txBody>
      </p:sp>
      <p:sp>
        <p:nvSpPr>
          <p:cNvPr id="13" name="text-15">
            <a:extLst>
              <a:ext uri="{FF2B5EF4-FFF2-40B4-BE49-F238E27FC236}">
                <a16:creationId xmlns:a16="http://schemas.microsoft.com/office/drawing/2014/main" id="{08E810D1-27A6-454F-8F7B-2E78A9AA32B7}"/>
              </a:ext>
            </a:extLst>
          </p:cNvPr>
          <p:cNvSpPr>
            <a:spLocks noGrp="1"/>
          </p:cNvSpPr>
          <p:nvPr/>
        </p:nvSpPr>
        <p:spPr>
          <a:xfrm>
            <a:off x="4591050" y="3562350"/>
            <a:ext cx="2857500" cy="1047750"/>
          </a:xfrm>
          <a:prstGeom prst="rect">
            <a:avLst/>
          </a:prstGeom>
        </p:spPr>
        <p:txBody>
          <a:bodyPr wrap="square" lIns="0" tIns="0" rIns="0" bIns="0" anchor="t">
            <a:normAutofit/>
          </a:bodyPr>
          <a:lstStyle/>
          <a:p>
            <a:pPr algn="l">
              <a:defRPr sz="1650" b="0">
                <a:solidFill>
                  <a:srgbClr val="5F6368"/>
                </a:solidFill>
                <a:latin typeface="Helvetica Neue"/>
                <a:ea typeface="Helvetica Neue"/>
                <a:cs typeface="Helvetica Neue"/>
              </a:defRPr>
            </a:pPr>
            <a:r>
              <a:t>Did observed WhatsApp conversations become valuable orders?</a:t>
            </a:r>
          </a:p>
        </p:txBody>
      </p:sp>
      <p:sp>
        <p:nvSpPr>
          <p:cNvPr id="14" name="text-16">
            <a:extLst>
              <a:ext uri="{FF2B5EF4-FFF2-40B4-BE49-F238E27FC236}">
                <a16:creationId xmlns:a16="http://schemas.microsoft.com/office/drawing/2014/main" id="{DEFC2FE4-84B6-4D30-9AC0-2375DBF8253C}"/>
              </a:ext>
            </a:extLst>
          </p:cNvPr>
          <p:cNvSpPr>
            <a:spLocks noGrp="1"/>
          </p:cNvSpPr>
          <p:nvPr/>
        </p:nvSpPr>
        <p:spPr>
          <a:xfrm>
            <a:off x="8515350" y="2095500"/>
            <a:ext cx="666750" cy="666750"/>
          </a:xfrm>
          <a:prstGeom prst="rect">
            <a:avLst/>
          </a:prstGeom>
        </p:spPr>
        <p:txBody>
          <a:bodyPr wrap="square" lIns="0" tIns="0" rIns="0" bIns="0" anchor="t">
            <a:normAutofit/>
          </a:bodyPr>
          <a:lstStyle/>
          <a:p>
            <a:pPr algn="l">
              <a:defRPr sz="4200" b="1">
                <a:solidFill>
                  <a:srgbClr val="3D8DFF"/>
                </a:solidFill>
                <a:latin typeface="Helvetica Neue"/>
                <a:ea typeface="Helvetica Neue"/>
                <a:cs typeface="Helvetica Neue"/>
              </a:defRPr>
            </a:pPr>
            <a:r>
              <a:t>3</a:t>
            </a:r>
          </a:p>
        </p:txBody>
      </p:sp>
      <p:sp>
        <p:nvSpPr>
          <p:cNvPr id="15" name="text-17">
            <a:extLst>
              <a:ext uri="{FF2B5EF4-FFF2-40B4-BE49-F238E27FC236}">
                <a16:creationId xmlns:a16="http://schemas.microsoft.com/office/drawing/2014/main" id="{F6D21390-C165-44A3-A51A-9A847DE3FC40}"/>
              </a:ext>
            </a:extLst>
          </p:cNvPr>
          <p:cNvSpPr>
            <a:spLocks noGrp="1"/>
          </p:cNvSpPr>
          <p:nvPr/>
        </p:nvSpPr>
        <p:spPr>
          <a:xfrm>
            <a:off x="8515350" y="2905125"/>
            <a:ext cx="2857500" cy="476250"/>
          </a:xfrm>
          <a:prstGeom prst="rect">
            <a:avLst/>
          </a:prstGeom>
        </p:spPr>
        <p:txBody>
          <a:bodyPr wrap="square" lIns="0" tIns="0" rIns="0" bIns="0" anchor="t">
            <a:normAutofit/>
          </a:bodyPr>
          <a:lstStyle/>
          <a:p>
            <a:pPr algn="l">
              <a:defRPr sz="2100" b="1">
                <a:solidFill>
                  <a:srgbClr val="000000"/>
                </a:solidFill>
                <a:latin typeface="Helvetica Neue"/>
                <a:ea typeface="Helvetica Neue"/>
                <a:cs typeface="Helvetica Neue"/>
              </a:defRPr>
            </a:pPr>
            <a:r>
              <a:t>Evidence readiness</a:t>
            </a:r>
          </a:p>
        </p:txBody>
      </p:sp>
      <p:sp>
        <p:nvSpPr>
          <p:cNvPr id="16" name="text-18">
            <a:extLst>
              <a:ext uri="{FF2B5EF4-FFF2-40B4-BE49-F238E27FC236}">
                <a16:creationId xmlns:a16="http://schemas.microsoft.com/office/drawing/2014/main" id="{169E07C4-7CF5-48EF-902D-95F2C21C6A76}"/>
              </a:ext>
            </a:extLst>
          </p:cNvPr>
          <p:cNvSpPr>
            <a:spLocks noGrp="1"/>
          </p:cNvSpPr>
          <p:nvPr/>
        </p:nvSpPr>
        <p:spPr>
          <a:xfrm>
            <a:off x="8515350" y="3562350"/>
            <a:ext cx="2857500" cy="1047750"/>
          </a:xfrm>
          <a:prstGeom prst="rect">
            <a:avLst/>
          </a:prstGeom>
        </p:spPr>
        <p:txBody>
          <a:bodyPr wrap="square" lIns="0" tIns="0" rIns="0" bIns="0" anchor="t">
            <a:normAutofit/>
          </a:bodyPr>
          <a:lstStyle/>
          <a:p>
            <a:pPr algn="l">
              <a:defRPr sz="1650" b="0">
                <a:solidFill>
                  <a:srgbClr val="5F6368"/>
                </a:solidFill>
                <a:latin typeface="Helvetica Neue"/>
                <a:ea typeface="Helvetica Neue"/>
                <a:cs typeface="Helvetica Neue"/>
              </a:defRPr>
            </a:pPr>
            <a:r>
              <a:t>Is the sample complete, mature, and comparable enough to act?</a:t>
            </a:r>
          </a:p>
        </p:txBody>
      </p:sp>
      <p:sp>
        <p:nvSpPr>
          <p:cNvPr id="17" name="text-19">
            <a:extLst>
              <a:ext uri="{FF2B5EF4-FFF2-40B4-BE49-F238E27FC236}">
                <a16:creationId xmlns:a16="http://schemas.microsoft.com/office/drawing/2014/main" id="{A597C881-F0A3-4144-94F0-AFFACAD94D8B}"/>
              </a:ext>
            </a:extLst>
          </p:cNvPr>
          <p:cNvSpPr>
            <a:spLocks noGrp="1"/>
          </p:cNvSpPr>
          <p:nvPr/>
        </p:nvSpPr>
        <p:spPr>
          <a:xfrm>
            <a:off x="390525" y="5600700"/>
            <a:ext cx="11410950" cy="438150"/>
          </a:xfrm>
          <a:prstGeom prst="rect">
            <a:avLst/>
          </a:prstGeom>
        </p:spPr>
        <p:txBody>
          <a:bodyPr wrap="square" lIns="0" tIns="0" rIns="0" bIns="0" anchor="t">
            <a:normAutofit/>
          </a:bodyPr>
          <a:lstStyle/>
          <a:p>
            <a:pPr algn="ctr">
              <a:defRPr sz="1800" b="1">
                <a:solidFill>
                  <a:srgbClr val="3D8DFF"/>
                </a:solidFill>
                <a:latin typeface="Helvetica Neue"/>
                <a:ea typeface="Helvetica Neue"/>
                <a:cs typeface="Helvetica Neue"/>
              </a:defRPr>
            </a:pPr>
            <a:r>
              <a:t>The recommendation is valid only when all three questions remain visible.</a:t>
            </a:r>
          </a:p>
        </p:txBody>
      </p:sp>
    </p:spTree>
    <p:extLst>
      <p:ext uri="{BB962C8B-B14F-4D97-AF65-F5344CB8AC3E}">
        <p14:creationId xmlns:p14="http://schemas.microsoft.com/office/powerpoint/2010/main" val="943107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3-title">
            <a:extLst>
              <a:ext uri="{FF2B5EF4-FFF2-40B4-BE49-F238E27FC236}">
                <a16:creationId xmlns:a16="http://schemas.microsoft.com/office/drawing/2014/main" id="{F8857701-C36C-4030-A36C-3D885490786C}"/>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Marketing decisions follow a hierarchy</a:t>
            </a:r>
          </a:p>
        </p:txBody>
      </p:sp>
      <p:cxnSp>
        <p:nvCxnSpPr>
          <p:cNvPr id="26" name="line-45"/>
          <p:cNvCxnSpPr/>
          <p:nvPr/>
        </p:nvCxnSpPr>
        <p:spPr>
          <a:xfrm>
            <a:off x="495300" y="1057275"/>
            <a:ext cx="11296650" cy="9525"/>
          </a:xfrm>
          <a:prstGeom prst="straightConnector1">
            <a:avLst/>
          </a:prstGeom>
          <a:ln w="9525">
            <a:solidFill>
              <a:srgbClr val="B8BCC4"/>
            </a:solidFill>
            <a:prstDash val="solid"/>
          </a:ln>
        </p:spPr>
      </p:cxnSp>
      <p:sp>
        <p:nvSpPr>
          <p:cNvPr id="3" name="slide-3-source">
            <a:extLst>
              <a:ext uri="{FF2B5EF4-FFF2-40B4-BE49-F238E27FC236}">
                <a16:creationId xmlns:a16="http://schemas.microsoft.com/office/drawing/2014/main" id="{1A9D67B7-8586-40EA-82D1-296E25795F92}"/>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Sample 2 Meta hierarchy; src_2 domain models</a:t>
            </a:r>
          </a:p>
        </p:txBody>
      </p:sp>
      <p:sp>
        <p:nvSpPr>
          <p:cNvPr id="4" name="slide-3-number">
            <a:extLst>
              <a:ext uri="{FF2B5EF4-FFF2-40B4-BE49-F238E27FC236}">
                <a16:creationId xmlns:a16="http://schemas.microsoft.com/office/drawing/2014/main" id="{17E61B1A-FA7D-42B7-BFE4-03BE57C830CF}"/>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03</a:t>
            </a:r>
          </a:p>
        </p:txBody>
      </p:sp>
      <p:cxnSp>
        <p:nvCxnSpPr>
          <p:cNvPr id="29" name="line-24"/>
          <p:cNvCxnSpPr/>
          <p:nvPr/>
        </p:nvCxnSpPr>
        <p:spPr>
          <a:xfrm>
            <a:off x="2352675" y="3009900"/>
            <a:ext cx="990600" cy="9525"/>
          </a:xfrm>
          <a:prstGeom prst="straightConnector1">
            <a:avLst/>
          </a:prstGeom>
          <a:ln w="28575">
            <a:solidFill>
              <a:srgbClr val="3D8DFF"/>
            </a:solidFill>
            <a:prstDash val="solid"/>
          </a:ln>
        </p:spPr>
      </p:cxnSp>
      <p:cxnSp>
        <p:nvCxnSpPr>
          <p:cNvPr id="30" name="line-25"/>
          <p:cNvCxnSpPr/>
          <p:nvPr/>
        </p:nvCxnSpPr>
        <p:spPr>
          <a:xfrm>
            <a:off x="5305425" y="3009900"/>
            <a:ext cx="990600" cy="9525"/>
          </a:xfrm>
          <a:prstGeom prst="straightConnector1">
            <a:avLst/>
          </a:prstGeom>
          <a:ln w="28575">
            <a:solidFill>
              <a:srgbClr val="3D8DFF"/>
            </a:solidFill>
            <a:prstDash val="solid"/>
          </a:ln>
        </p:spPr>
      </p:cxnSp>
      <p:cxnSp>
        <p:nvCxnSpPr>
          <p:cNvPr id="31" name="line-26"/>
          <p:cNvCxnSpPr/>
          <p:nvPr/>
        </p:nvCxnSpPr>
        <p:spPr>
          <a:xfrm>
            <a:off x="8258175" y="3009900"/>
            <a:ext cx="990600" cy="9525"/>
          </a:xfrm>
          <a:prstGeom prst="straightConnector1">
            <a:avLst/>
          </a:prstGeom>
          <a:ln w="28575">
            <a:solidFill>
              <a:srgbClr val="3D8DFF"/>
            </a:solidFill>
            <a:prstDash val="solid"/>
          </a:ln>
        </p:spPr>
      </p:cxnSp>
      <p:cxnSp>
        <p:nvCxnSpPr>
          <p:cNvPr id="32" name="line-27"/>
          <p:cNvCxnSpPr/>
          <p:nvPr/>
        </p:nvCxnSpPr>
        <p:spPr>
          <a:xfrm>
            <a:off x="4324350" y="3943350"/>
            <a:ext cx="9525" cy="723900"/>
          </a:xfrm>
          <a:prstGeom prst="straightConnector1">
            <a:avLst/>
          </a:prstGeom>
          <a:ln w="19050">
            <a:solidFill>
              <a:srgbClr val="B8BCC4"/>
            </a:solidFill>
            <a:prstDash val="solid"/>
          </a:ln>
        </p:spPr>
      </p:cxnSp>
      <p:sp>
        <p:nvSpPr>
          <p:cNvPr id="9" name="shape-28">
            <a:extLst>
              <a:ext uri="{FF2B5EF4-FFF2-40B4-BE49-F238E27FC236}">
                <a16:creationId xmlns:a16="http://schemas.microsoft.com/office/drawing/2014/main" id="{80C01F4C-61BC-4BC1-8E0B-9A38FDC487B7}"/>
              </a:ext>
            </a:extLst>
          </p:cNvPr>
          <p:cNvSpPr>
            <a:spLocks noGrp="1"/>
          </p:cNvSpPr>
          <p:nvPr/>
        </p:nvSpPr>
        <p:spPr>
          <a:xfrm>
            <a:off x="390525" y="2247900"/>
            <a:ext cx="1962150" cy="1524000"/>
          </a:xfrm>
          <a:prstGeom prst="rect">
            <a:avLst/>
          </a:prstGeom>
          <a:solidFill>
            <a:srgbClr val="000000"/>
          </a:solidFill>
          <a:ln w="9525">
            <a:solidFill>
              <a:srgbClr val="000000"/>
            </a:solidFill>
            <a:prstDash val="solid"/>
          </a:ln>
        </p:spPr>
        <p:txBody>
          <a:bodyPr/>
          <a:lstStyle/>
          <a:p>
            <a:endParaRPr lang="en-DE"/>
          </a:p>
        </p:txBody>
      </p:sp>
      <p:sp>
        <p:nvSpPr>
          <p:cNvPr id="10" name="shape-29">
            <a:extLst>
              <a:ext uri="{FF2B5EF4-FFF2-40B4-BE49-F238E27FC236}">
                <a16:creationId xmlns:a16="http://schemas.microsoft.com/office/drawing/2014/main" id="{11889382-D652-4F07-B518-58F1B3E5E151}"/>
              </a:ext>
            </a:extLst>
          </p:cNvPr>
          <p:cNvSpPr>
            <a:spLocks noGrp="1"/>
          </p:cNvSpPr>
          <p:nvPr/>
        </p:nvSpPr>
        <p:spPr>
          <a:xfrm>
            <a:off x="3343275" y="2247900"/>
            <a:ext cx="1962150" cy="1524000"/>
          </a:xfrm>
          <a:prstGeom prst="rect">
            <a:avLst/>
          </a:prstGeom>
          <a:solidFill>
            <a:srgbClr val="D0EDFA"/>
          </a:solidFill>
          <a:ln w="9525">
            <a:solidFill>
              <a:srgbClr val="D0EDFA"/>
            </a:solidFill>
            <a:prstDash val="solid"/>
          </a:ln>
        </p:spPr>
        <p:txBody>
          <a:bodyPr/>
          <a:lstStyle/>
          <a:p>
            <a:endParaRPr lang="en-DE"/>
          </a:p>
        </p:txBody>
      </p:sp>
      <p:sp>
        <p:nvSpPr>
          <p:cNvPr id="11" name="shape-30">
            <a:extLst>
              <a:ext uri="{FF2B5EF4-FFF2-40B4-BE49-F238E27FC236}">
                <a16:creationId xmlns:a16="http://schemas.microsoft.com/office/drawing/2014/main" id="{0126AF1F-30EF-4516-9890-94759E9F42A4}"/>
              </a:ext>
            </a:extLst>
          </p:cNvPr>
          <p:cNvSpPr>
            <a:spLocks noGrp="1"/>
          </p:cNvSpPr>
          <p:nvPr/>
        </p:nvSpPr>
        <p:spPr>
          <a:xfrm>
            <a:off x="6296025" y="2247900"/>
            <a:ext cx="1962150" cy="1524000"/>
          </a:xfrm>
          <a:prstGeom prst="rect">
            <a:avLst/>
          </a:prstGeom>
          <a:solidFill>
            <a:srgbClr val="EDEDED"/>
          </a:solidFill>
          <a:ln w="9525">
            <a:solidFill>
              <a:srgbClr val="EDEDED"/>
            </a:solidFill>
            <a:prstDash val="solid"/>
          </a:ln>
        </p:spPr>
        <p:txBody>
          <a:bodyPr/>
          <a:lstStyle/>
          <a:p>
            <a:endParaRPr lang="en-DE"/>
          </a:p>
        </p:txBody>
      </p:sp>
      <p:sp>
        <p:nvSpPr>
          <p:cNvPr id="12" name="shape-31">
            <a:extLst>
              <a:ext uri="{FF2B5EF4-FFF2-40B4-BE49-F238E27FC236}">
                <a16:creationId xmlns:a16="http://schemas.microsoft.com/office/drawing/2014/main" id="{B253F150-CEA5-4B04-814D-2B7DD502F093}"/>
              </a:ext>
            </a:extLst>
          </p:cNvPr>
          <p:cNvSpPr>
            <a:spLocks noGrp="1"/>
          </p:cNvSpPr>
          <p:nvPr/>
        </p:nvSpPr>
        <p:spPr>
          <a:xfrm>
            <a:off x="9248775" y="2247900"/>
            <a:ext cx="1962150" cy="1524000"/>
          </a:xfrm>
          <a:prstGeom prst="rect">
            <a:avLst/>
          </a:prstGeom>
          <a:solidFill>
            <a:srgbClr val="F7F7F7"/>
          </a:solidFill>
          <a:ln w="9525">
            <a:solidFill>
              <a:srgbClr val="B8BCC4"/>
            </a:solidFill>
            <a:prstDash val="solid"/>
          </a:ln>
        </p:spPr>
        <p:txBody>
          <a:bodyPr/>
          <a:lstStyle/>
          <a:p>
            <a:endParaRPr lang="en-DE"/>
          </a:p>
        </p:txBody>
      </p:sp>
      <p:sp>
        <p:nvSpPr>
          <p:cNvPr id="13" name="shape-32">
            <a:extLst>
              <a:ext uri="{FF2B5EF4-FFF2-40B4-BE49-F238E27FC236}">
                <a16:creationId xmlns:a16="http://schemas.microsoft.com/office/drawing/2014/main" id="{38884D3D-13E0-414A-82BF-7B8291CEF870}"/>
              </a:ext>
            </a:extLst>
          </p:cNvPr>
          <p:cNvSpPr>
            <a:spLocks noGrp="1"/>
          </p:cNvSpPr>
          <p:nvPr/>
        </p:nvSpPr>
        <p:spPr>
          <a:xfrm>
            <a:off x="3343275" y="4667250"/>
            <a:ext cx="1962150" cy="1047750"/>
          </a:xfrm>
          <a:prstGeom prst="rect">
            <a:avLst/>
          </a:prstGeom>
          <a:solidFill>
            <a:srgbClr val="6DCBF4"/>
          </a:solidFill>
          <a:ln w="9525">
            <a:solidFill>
              <a:srgbClr val="6DCBF4"/>
            </a:solidFill>
            <a:prstDash val="solid"/>
          </a:ln>
        </p:spPr>
        <p:txBody>
          <a:bodyPr/>
          <a:lstStyle/>
          <a:p>
            <a:endParaRPr lang="en-DE"/>
          </a:p>
        </p:txBody>
      </p:sp>
      <p:sp>
        <p:nvSpPr>
          <p:cNvPr id="14" name="text-33">
            <a:extLst>
              <a:ext uri="{FF2B5EF4-FFF2-40B4-BE49-F238E27FC236}">
                <a16:creationId xmlns:a16="http://schemas.microsoft.com/office/drawing/2014/main" id="{AFD17B1F-65F4-44D2-A6A8-EF3C416D7DBF}"/>
              </a:ext>
            </a:extLst>
          </p:cNvPr>
          <p:cNvSpPr>
            <a:spLocks noGrp="1"/>
          </p:cNvSpPr>
          <p:nvPr/>
        </p:nvSpPr>
        <p:spPr>
          <a:xfrm>
            <a:off x="666750" y="2514600"/>
            <a:ext cx="1409700" cy="342900"/>
          </a:xfrm>
          <a:prstGeom prst="rect">
            <a:avLst/>
          </a:prstGeom>
        </p:spPr>
        <p:txBody>
          <a:bodyPr wrap="square" lIns="0" tIns="0" rIns="0" bIns="0" anchor="t">
            <a:normAutofit/>
          </a:bodyPr>
          <a:lstStyle/>
          <a:p>
            <a:pPr algn="ctr">
              <a:defRPr sz="1725" b="1">
                <a:solidFill>
                  <a:srgbClr val="FFFFFF"/>
                </a:solidFill>
                <a:latin typeface="Helvetica Neue"/>
                <a:ea typeface="Helvetica Neue"/>
                <a:cs typeface="Helvetica Neue"/>
              </a:defRPr>
            </a:pPr>
            <a:r>
              <a:t>CAMPAIGN</a:t>
            </a:r>
          </a:p>
        </p:txBody>
      </p:sp>
      <p:sp>
        <p:nvSpPr>
          <p:cNvPr id="15" name="text-34">
            <a:extLst>
              <a:ext uri="{FF2B5EF4-FFF2-40B4-BE49-F238E27FC236}">
                <a16:creationId xmlns:a16="http://schemas.microsoft.com/office/drawing/2014/main" id="{16BCD3F5-25BB-4E45-B081-C5DCC963B83A}"/>
              </a:ext>
            </a:extLst>
          </p:cNvPr>
          <p:cNvSpPr>
            <a:spLocks noGrp="1"/>
          </p:cNvSpPr>
          <p:nvPr/>
        </p:nvSpPr>
        <p:spPr>
          <a:xfrm>
            <a:off x="666750" y="3028950"/>
            <a:ext cx="1409700" cy="552450"/>
          </a:xfrm>
          <a:prstGeom prst="rect">
            <a:avLst/>
          </a:prstGeom>
        </p:spPr>
        <p:txBody>
          <a:bodyPr wrap="square" lIns="0" tIns="0" rIns="0" bIns="0" anchor="t">
            <a:normAutofit/>
          </a:bodyPr>
          <a:lstStyle/>
          <a:p>
            <a:pPr algn="ctr">
              <a:defRPr sz="1350" b="0">
                <a:solidFill>
                  <a:srgbClr val="FFFFFF"/>
                </a:solidFill>
                <a:latin typeface="Helvetica Neue"/>
                <a:ea typeface="Helvetica Neue"/>
                <a:cs typeface="Helvetica Neue"/>
              </a:defRPr>
            </a:pPr>
            <a:r>
              <a:t>Objective and strategic budget</a:t>
            </a:r>
          </a:p>
        </p:txBody>
      </p:sp>
      <p:sp>
        <p:nvSpPr>
          <p:cNvPr id="16" name="text-35">
            <a:extLst>
              <a:ext uri="{FF2B5EF4-FFF2-40B4-BE49-F238E27FC236}">
                <a16:creationId xmlns:a16="http://schemas.microsoft.com/office/drawing/2014/main" id="{F531AFB7-D894-468B-9F82-27766C2ED110}"/>
              </a:ext>
            </a:extLst>
          </p:cNvPr>
          <p:cNvSpPr>
            <a:spLocks noGrp="1"/>
          </p:cNvSpPr>
          <p:nvPr/>
        </p:nvSpPr>
        <p:spPr>
          <a:xfrm>
            <a:off x="3619500" y="2514600"/>
            <a:ext cx="1409700" cy="342900"/>
          </a:xfrm>
          <a:prstGeom prst="rect">
            <a:avLst/>
          </a:prstGeom>
        </p:spPr>
        <p:txBody>
          <a:bodyPr wrap="square" lIns="0" tIns="0" rIns="0" bIns="0" anchor="t">
            <a:normAutofit/>
          </a:bodyPr>
          <a:lstStyle/>
          <a:p>
            <a:pPr algn="ctr">
              <a:defRPr sz="1725" b="1">
                <a:solidFill>
                  <a:srgbClr val="000000"/>
                </a:solidFill>
                <a:latin typeface="Helvetica Neue"/>
                <a:ea typeface="Helvetica Neue"/>
                <a:cs typeface="Helvetica Neue"/>
              </a:defRPr>
            </a:pPr>
            <a:r>
              <a:t>ADSET</a:t>
            </a:r>
          </a:p>
        </p:txBody>
      </p:sp>
      <p:sp>
        <p:nvSpPr>
          <p:cNvPr id="17" name="text-36">
            <a:extLst>
              <a:ext uri="{FF2B5EF4-FFF2-40B4-BE49-F238E27FC236}">
                <a16:creationId xmlns:a16="http://schemas.microsoft.com/office/drawing/2014/main" id="{6F4BF23A-A57E-469B-A9B8-C394F2B2951C}"/>
              </a:ext>
            </a:extLst>
          </p:cNvPr>
          <p:cNvSpPr>
            <a:spLocks noGrp="1"/>
          </p:cNvSpPr>
          <p:nvPr/>
        </p:nvSpPr>
        <p:spPr>
          <a:xfrm>
            <a:off x="3619500" y="3028950"/>
            <a:ext cx="1409700" cy="571500"/>
          </a:xfrm>
          <a:prstGeom prst="rect">
            <a:avLst/>
          </a:prstGeom>
        </p:spPr>
        <p:txBody>
          <a:bodyPr wrap="square" lIns="0" tIns="0" rIns="0" bIns="0" anchor="t">
            <a:normAutofit fontScale="92593"/>
          </a:bodyPr>
          <a:lstStyle/>
          <a:p>
            <a:pPr algn="ctr">
              <a:defRPr sz="1350" b="0">
                <a:solidFill>
                  <a:srgbClr val="000000"/>
                </a:solidFill>
                <a:latin typeface="Helvetica Neue"/>
                <a:ea typeface="Helvetica Neue"/>
                <a:cs typeface="Helvetica Neue"/>
              </a:defRPr>
            </a:pPr>
            <a:r>
              <a:t>Audience, bid, budget, optimization</a:t>
            </a:r>
          </a:p>
        </p:txBody>
      </p:sp>
      <p:sp>
        <p:nvSpPr>
          <p:cNvPr id="18" name="text-37">
            <a:extLst>
              <a:ext uri="{FF2B5EF4-FFF2-40B4-BE49-F238E27FC236}">
                <a16:creationId xmlns:a16="http://schemas.microsoft.com/office/drawing/2014/main" id="{F1AFC297-CA60-45E5-8DF3-43321934E1D8}"/>
              </a:ext>
            </a:extLst>
          </p:cNvPr>
          <p:cNvSpPr>
            <a:spLocks noGrp="1"/>
          </p:cNvSpPr>
          <p:nvPr/>
        </p:nvSpPr>
        <p:spPr>
          <a:xfrm>
            <a:off x="6572250" y="2514600"/>
            <a:ext cx="1409700" cy="342900"/>
          </a:xfrm>
          <a:prstGeom prst="rect">
            <a:avLst/>
          </a:prstGeom>
        </p:spPr>
        <p:txBody>
          <a:bodyPr wrap="square" lIns="0" tIns="0" rIns="0" bIns="0" anchor="t">
            <a:normAutofit/>
          </a:bodyPr>
          <a:lstStyle/>
          <a:p>
            <a:pPr algn="ctr">
              <a:defRPr sz="1725" b="1">
                <a:solidFill>
                  <a:srgbClr val="000000"/>
                </a:solidFill>
                <a:latin typeface="Helvetica Neue"/>
                <a:ea typeface="Helvetica Neue"/>
                <a:cs typeface="Helvetica Neue"/>
              </a:defRPr>
            </a:pPr>
            <a:r>
              <a:t>AD</a:t>
            </a:r>
          </a:p>
        </p:txBody>
      </p:sp>
      <p:sp>
        <p:nvSpPr>
          <p:cNvPr id="19" name="text-38">
            <a:extLst>
              <a:ext uri="{FF2B5EF4-FFF2-40B4-BE49-F238E27FC236}">
                <a16:creationId xmlns:a16="http://schemas.microsoft.com/office/drawing/2014/main" id="{07A955FF-27EC-4740-993B-56872AA249CA}"/>
              </a:ext>
            </a:extLst>
          </p:cNvPr>
          <p:cNvSpPr>
            <a:spLocks noGrp="1"/>
          </p:cNvSpPr>
          <p:nvPr/>
        </p:nvSpPr>
        <p:spPr>
          <a:xfrm>
            <a:off x="6572250" y="3028950"/>
            <a:ext cx="1409700" cy="571500"/>
          </a:xfrm>
          <a:prstGeom prst="rect">
            <a:avLst/>
          </a:prstGeom>
        </p:spPr>
        <p:txBody>
          <a:bodyPr wrap="square" lIns="0" tIns="0" rIns="0" bIns="0" anchor="t">
            <a:normAutofit fontScale="97208"/>
          </a:bodyPr>
          <a:lstStyle/>
          <a:p>
            <a:pPr algn="ctr">
              <a:defRPr sz="1350" b="0">
                <a:solidFill>
                  <a:srgbClr val="000000"/>
                </a:solidFill>
                <a:latin typeface="Helvetica Neue"/>
                <a:ea typeface="Helvetica Neue"/>
                <a:cs typeface="Helvetica Neue"/>
              </a:defRPr>
            </a:pPr>
            <a:r>
              <a:t>Delivered message inside the adset</a:t>
            </a:r>
          </a:p>
        </p:txBody>
      </p:sp>
      <p:sp>
        <p:nvSpPr>
          <p:cNvPr id="20" name="text-39">
            <a:extLst>
              <a:ext uri="{FF2B5EF4-FFF2-40B4-BE49-F238E27FC236}">
                <a16:creationId xmlns:a16="http://schemas.microsoft.com/office/drawing/2014/main" id="{F2D30E05-919D-42C6-8347-CE6D0A441CC8}"/>
              </a:ext>
            </a:extLst>
          </p:cNvPr>
          <p:cNvSpPr>
            <a:spLocks noGrp="1"/>
          </p:cNvSpPr>
          <p:nvPr/>
        </p:nvSpPr>
        <p:spPr>
          <a:xfrm>
            <a:off x="9525000" y="2514600"/>
            <a:ext cx="1409700" cy="342900"/>
          </a:xfrm>
          <a:prstGeom prst="rect">
            <a:avLst/>
          </a:prstGeom>
        </p:spPr>
        <p:txBody>
          <a:bodyPr wrap="square" lIns="0" tIns="0" rIns="0" bIns="0" anchor="t">
            <a:normAutofit/>
          </a:bodyPr>
          <a:lstStyle/>
          <a:p>
            <a:pPr algn="ctr">
              <a:defRPr sz="1725" b="1">
                <a:solidFill>
                  <a:srgbClr val="000000"/>
                </a:solidFill>
                <a:latin typeface="Helvetica Neue"/>
                <a:ea typeface="Helvetica Neue"/>
                <a:cs typeface="Helvetica Neue"/>
              </a:defRPr>
            </a:pPr>
            <a:r>
              <a:t>CREATIVE</a:t>
            </a:r>
          </a:p>
        </p:txBody>
      </p:sp>
      <p:sp>
        <p:nvSpPr>
          <p:cNvPr id="21" name="text-40">
            <a:extLst>
              <a:ext uri="{FF2B5EF4-FFF2-40B4-BE49-F238E27FC236}">
                <a16:creationId xmlns:a16="http://schemas.microsoft.com/office/drawing/2014/main" id="{3ACA995A-9038-44C4-89E9-65341AC8FE72}"/>
              </a:ext>
            </a:extLst>
          </p:cNvPr>
          <p:cNvSpPr>
            <a:spLocks noGrp="1"/>
          </p:cNvSpPr>
          <p:nvPr/>
        </p:nvSpPr>
        <p:spPr>
          <a:xfrm>
            <a:off x="9525000" y="3028950"/>
            <a:ext cx="1409700" cy="571500"/>
          </a:xfrm>
          <a:prstGeom prst="rect">
            <a:avLst/>
          </a:prstGeom>
        </p:spPr>
        <p:txBody>
          <a:bodyPr wrap="square" lIns="0" tIns="0" rIns="0" bIns="0" anchor="t">
            <a:normAutofit fontScale="97381"/>
          </a:bodyPr>
          <a:lstStyle/>
          <a:p>
            <a:pPr algn="ctr">
              <a:defRPr sz="1350" b="0">
                <a:solidFill>
                  <a:srgbClr val="000000"/>
                </a:solidFill>
                <a:latin typeface="Helvetica Neue"/>
                <a:ea typeface="Helvetica Neue"/>
                <a:cs typeface="Helvetica Neue"/>
              </a:defRPr>
            </a:pPr>
            <a:r>
              <a:t>Image or video, copy, theme, angle</a:t>
            </a:r>
          </a:p>
        </p:txBody>
      </p:sp>
      <p:sp>
        <p:nvSpPr>
          <p:cNvPr id="22" name="text-41">
            <a:extLst>
              <a:ext uri="{FF2B5EF4-FFF2-40B4-BE49-F238E27FC236}">
                <a16:creationId xmlns:a16="http://schemas.microsoft.com/office/drawing/2014/main" id="{1B8CBDFE-E8DB-4646-AFD8-33AF31237C6B}"/>
              </a:ext>
            </a:extLst>
          </p:cNvPr>
          <p:cNvSpPr>
            <a:spLocks noGrp="1"/>
          </p:cNvSpPr>
          <p:nvPr/>
        </p:nvSpPr>
        <p:spPr>
          <a:xfrm>
            <a:off x="3619500" y="4914900"/>
            <a:ext cx="1409700" cy="285750"/>
          </a:xfrm>
          <a:prstGeom prst="rect">
            <a:avLst/>
          </a:prstGeom>
        </p:spPr>
        <p:txBody>
          <a:bodyPr wrap="square" lIns="0" tIns="0" rIns="0" bIns="0" anchor="t">
            <a:normAutofit/>
          </a:bodyPr>
          <a:lstStyle/>
          <a:p>
            <a:pPr algn="ctr">
              <a:defRPr sz="1650" b="1">
                <a:solidFill>
                  <a:srgbClr val="000000"/>
                </a:solidFill>
                <a:latin typeface="Helvetica Neue"/>
                <a:ea typeface="Helvetica Neue"/>
                <a:cs typeface="Helvetica Neue"/>
              </a:defRPr>
            </a:pPr>
            <a:r>
              <a:t>AUDIENCE</a:t>
            </a:r>
          </a:p>
        </p:txBody>
      </p:sp>
      <p:sp>
        <p:nvSpPr>
          <p:cNvPr id="23" name="text-42">
            <a:extLst>
              <a:ext uri="{FF2B5EF4-FFF2-40B4-BE49-F238E27FC236}">
                <a16:creationId xmlns:a16="http://schemas.microsoft.com/office/drawing/2014/main" id="{49CAC49E-0B55-4D83-BD9C-E02BFFA8E0F3}"/>
              </a:ext>
            </a:extLst>
          </p:cNvPr>
          <p:cNvSpPr>
            <a:spLocks noGrp="1"/>
          </p:cNvSpPr>
          <p:nvPr/>
        </p:nvSpPr>
        <p:spPr>
          <a:xfrm>
            <a:off x="3524250" y="5257800"/>
            <a:ext cx="1600200" cy="361950"/>
          </a:xfrm>
          <a:prstGeom prst="rect">
            <a:avLst/>
          </a:prstGeom>
        </p:spPr>
        <p:txBody>
          <a:bodyPr wrap="square" lIns="0" tIns="0" rIns="0" bIns="0" anchor="t">
            <a:normAutofit fontScale="98958"/>
          </a:bodyPr>
          <a:lstStyle/>
          <a:p>
            <a:pPr algn="ctr">
              <a:defRPr sz="1200" b="0">
                <a:solidFill>
                  <a:srgbClr val="000000"/>
                </a:solidFill>
                <a:latin typeface="Helvetica Neue"/>
                <a:ea typeface="Helvetica Neue"/>
                <a:cs typeface="Helvetica Neue"/>
              </a:defRPr>
            </a:pPr>
            <a:r>
              <a:t>Broad, lookalike, retargeting, custom</a:t>
            </a:r>
          </a:p>
        </p:txBody>
      </p:sp>
      <p:sp>
        <p:nvSpPr>
          <p:cNvPr id="24" name="text-43">
            <a:extLst>
              <a:ext uri="{FF2B5EF4-FFF2-40B4-BE49-F238E27FC236}">
                <a16:creationId xmlns:a16="http://schemas.microsoft.com/office/drawing/2014/main" id="{8883C6E2-15F1-4E8F-8C2B-CF9C9D516F83}"/>
              </a:ext>
            </a:extLst>
          </p:cNvPr>
          <p:cNvSpPr>
            <a:spLocks noGrp="1"/>
          </p:cNvSpPr>
          <p:nvPr/>
        </p:nvSpPr>
        <p:spPr>
          <a:xfrm>
            <a:off x="6296025" y="4648200"/>
            <a:ext cx="4914900" cy="1066800"/>
          </a:xfrm>
          <a:prstGeom prst="rect">
            <a:avLst/>
          </a:prstGeom>
        </p:spPr>
        <p:txBody>
          <a:bodyPr wrap="square" lIns="0" tIns="0" rIns="0" bIns="0" anchor="ctr">
            <a:normAutofit/>
          </a:bodyPr>
          <a:lstStyle/>
          <a:p>
            <a:pPr algn="l">
              <a:defRPr sz="1950" b="1">
                <a:solidFill>
                  <a:srgbClr val="3D8DFF"/>
                </a:solidFill>
                <a:latin typeface="Helvetica Neue"/>
                <a:ea typeface="Helvetica Neue"/>
                <a:cs typeface="Helvetica Neue"/>
              </a:defRPr>
            </a:pPr>
            <a:r>
              <a:t>Parent rules matter: a winning ad cannot rescue a blocked campaign.</a:t>
            </a:r>
          </a:p>
        </p:txBody>
      </p:sp>
    </p:spTree>
    <p:extLst>
      <p:ext uri="{BB962C8B-B14F-4D97-AF65-F5344CB8AC3E}">
        <p14:creationId xmlns:p14="http://schemas.microsoft.com/office/powerpoint/2010/main" val="2047554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lide-4-title">
            <a:extLst>
              <a:ext uri="{FF2B5EF4-FFF2-40B4-BE49-F238E27FC236}">
                <a16:creationId xmlns:a16="http://schemas.microsoft.com/office/drawing/2014/main" id="{4A01F83E-77A9-4933-9E0D-26DDDCE840C9}"/>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Media response is not business value</a:t>
            </a:r>
          </a:p>
        </p:txBody>
      </p:sp>
      <p:cxnSp>
        <p:nvCxnSpPr>
          <p:cNvPr id="27" name="line-70"/>
          <p:cNvCxnSpPr/>
          <p:nvPr/>
        </p:nvCxnSpPr>
        <p:spPr>
          <a:xfrm>
            <a:off x="495300" y="1057275"/>
            <a:ext cx="11296650" cy="9525"/>
          </a:xfrm>
          <a:prstGeom prst="straightConnector1">
            <a:avLst/>
          </a:prstGeom>
          <a:ln w="9525">
            <a:solidFill>
              <a:srgbClr val="B8BCC4"/>
            </a:solidFill>
            <a:prstDash val="solid"/>
          </a:ln>
        </p:spPr>
      </p:cxnSp>
      <p:sp>
        <p:nvSpPr>
          <p:cNvPr id="3" name="slide-4-source">
            <a:extLst>
              <a:ext uri="{FF2B5EF4-FFF2-40B4-BE49-F238E27FC236}">
                <a16:creationId xmlns:a16="http://schemas.microsoft.com/office/drawing/2014/main" id="{17B48302-32AC-456D-9135-EEF284E740F2}"/>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Sample 2 totals; observed outcomes only</a:t>
            </a:r>
          </a:p>
        </p:txBody>
      </p:sp>
      <p:sp>
        <p:nvSpPr>
          <p:cNvPr id="4" name="slide-4-number">
            <a:extLst>
              <a:ext uri="{FF2B5EF4-FFF2-40B4-BE49-F238E27FC236}">
                <a16:creationId xmlns:a16="http://schemas.microsoft.com/office/drawing/2014/main" id="{569B6634-01A5-4798-8EBF-B2C361748A72}"/>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04</a:t>
            </a:r>
          </a:p>
        </p:txBody>
      </p:sp>
      <p:cxnSp>
        <p:nvCxnSpPr>
          <p:cNvPr id="30" name="line-48"/>
          <p:cNvCxnSpPr/>
          <p:nvPr/>
        </p:nvCxnSpPr>
        <p:spPr>
          <a:xfrm>
            <a:off x="1238250" y="3429000"/>
            <a:ext cx="9620250" cy="9525"/>
          </a:xfrm>
          <a:prstGeom prst="straightConnector1">
            <a:avLst/>
          </a:prstGeom>
          <a:ln w="19050">
            <a:solidFill>
              <a:srgbClr val="B8BCC4"/>
            </a:solidFill>
            <a:prstDash val="solid"/>
          </a:ln>
        </p:spPr>
      </p:cxnSp>
      <p:sp>
        <p:nvSpPr>
          <p:cNvPr id="6" name="shape-49">
            <a:extLst>
              <a:ext uri="{FF2B5EF4-FFF2-40B4-BE49-F238E27FC236}">
                <a16:creationId xmlns:a16="http://schemas.microsoft.com/office/drawing/2014/main" id="{B7BEEC9A-0B46-4F70-919D-F939F759E4A0}"/>
              </a:ext>
            </a:extLst>
          </p:cNvPr>
          <p:cNvSpPr>
            <a:spLocks noGrp="1"/>
          </p:cNvSpPr>
          <p:nvPr/>
        </p:nvSpPr>
        <p:spPr>
          <a:xfrm>
            <a:off x="428625" y="2400300"/>
            <a:ext cx="1714500" cy="2057400"/>
          </a:xfrm>
          <a:prstGeom prst="rect">
            <a:avLst/>
          </a:prstGeom>
          <a:solidFill>
            <a:srgbClr val="F7F7F7"/>
          </a:solidFill>
          <a:ln w="9525">
            <a:solidFill>
              <a:srgbClr val="B8BCC4"/>
            </a:solidFill>
            <a:prstDash val="solid"/>
          </a:ln>
        </p:spPr>
        <p:txBody>
          <a:bodyPr/>
          <a:lstStyle/>
          <a:p>
            <a:endParaRPr lang="en-DE"/>
          </a:p>
        </p:txBody>
      </p:sp>
      <p:sp>
        <p:nvSpPr>
          <p:cNvPr id="7" name="shape-50">
            <a:extLst>
              <a:ext uri="{FF2B5EF4-FFF2-40B4-BE49-F238E27FC236}">
                <a16:creationId xmlns:a16="http://schemas.microsoft.com/office/drawing/2014/main" id="{EE6E6B66-42D9-407F-85BB-8A796EDD5102}"/>
              </a:ext>
            </a:extLst>
          </p:cNvPr>
          <p:cNvSpPr>
            <a:spLocks noGrp="1"/>
          </p:cNvSpPr>
          <p:nvPr/>
        </p:nvSpPr>
        <p:spPr>
          <a:xfrm>
            <a:off x="2352675" y="2571750"/>
            <a:ext cx="1714500" cy="1714500"/>
          </a:xfrm>
          <a:prstGeom prst="rect">
            <a:avLst/>
          </a:prstGeom>
          <a:solidFill>
            <a:srgbClr val="F7F7F7"/>
          </a:solidFill>
          <a:ln w="9525">
            <a:solidFill>
              <a:srgbClr val="B8BCC4"/>
            </a:solidFill>
            <a:prstDash val="solid"/>
          </a:ln>
        </p:spPr>
        <p:txBody>
          <a:bodyPr/>
          <a:lstStyle/>
          <a:p>
            <a:endParaRPr lang="en-DE"/>
          </a:p>
        </p:txBody>
      </p:sp>
      <p:sp>
        <p:nvSpPr>
          <p:cNvPr id="8" name="shape-51">
            <a:extLst>
              <a:ext uri="{FF2B5EF4-FFF2-40B4-BE49-F238E27FC236}">
                <a16:creationId xmlns:a16="http://schemas.microsoft.com/office/drawing/2014/main" id="{1070EA55-32DB-43A2-BC57-729AC931069F}"/>
              </a:ext>
            </a:extLst>
          </p:cNvPr>
          <p:cNvSpPr>
            <a:spLocks noGrp="1"/>
          </p:cNvSpPr>
          <p:nvPr/>
        </p:nvSpPr>
        <p:spPr>
          <a:xfrm>
            <a:off x="4276725" y="2743200"/>
            <a:ext cx="1714500" cy="1371600"/>
          </a:xfrm>
          <a:prstGeom prst="rect">
            <a:avLst/>
          </a:prstGeom>
          <a:solidFill>
            <a:srgbClr val="D0EDFA"/>
          </a:solidFill>
          <a:ln w="9525">
            <a:solidFill>
              <a:srgbClr val="B8BCC4"/>
            </a:solidFill>
            <a:prstDash val="solid"/>
          </a:ln>
        </p:spPr>
        <p:txBody>
          <a:bodyPr/>
          <a:lstStyle/>
          <a:p>
            <a:endParaRPr lang="en-DE"/>
          </a:p>
        </p:txBody>
      </p:sp>
      <p:sp>
        <p:nvSpPr>
          <p:cNvPr id="9" name="shape-52">
            <a:extLst>
              <a:ext uri="{FF2B5EF4-FFF2-40B4-BE49-F238E27FC236}">
                <a16:creationId xmlns:a16="http://schemas.microsoft.com/office/drawing/2014/main" id="{D6935856-D198-4EE9-B1A1-855F06B7BB01}"/>
              </a:ext>
            </a:extLst>
          </p:cNvPr>
          <p:cNvSpPr>
            <a:spLocks noGrp="1"/>
          </p:cNvSpPr>
          <p:nvPr/>
        </p:nvSpPr>
        <p:spPr>
          <a:xfrm>
            <a:off x="6200775" y="2857500"/>
            <a:ext cx="1714500" cy="1143000"/>
          </a:xfrm>
          <a:prstGeom prst="rect">
            <a:avLst/>
          </a:prstGeom>
          <a:solidFill>
            <a:srgbClr val="F4C27A"/>
          </a:solidFill>
          <a:ln w="9525">
            <a:solidFill>
              <a:srgbClr val="F4C27A"/>
            </a:solidFill>
            <a:prstDash val="solid"/>
          </a:ln>
        </p:spPr>
        <p:txBody>
          <a:bodyPr/>
          <a:lstStyle/>
          <a:p>
            <a:endParaRPr lang="en-DE"/>
          </a:p>
        </p:txBody>
      </p:sp>
      <p:sp>
        <p:nvSpPr>
          <p:cNvPr id="10" name="shape-53">
            <a:extLst>
              <a:ext uri="{FF2B5EF4-FFF2-40B4-BE49-F238E27FC236}">
                <a16:creationId xmlns:a16="http://schemas.microsoft.com/office/drawing/2014/main" id="{3EE70A6C-C720-4884-8926-CD369888F5F7}"/>
              </a:ext>
            </a:extLst>
          </p:cNvPr>
          <p:cNvSpPr>
            <a:spLocks noGrp="1"/>
          </p:cNvSpPr>
          <p:nvPr/>
        </p:nvSpPr>
        <p:spPr>
          <a:xfrm>
            <a:off x="8124825" y="2971800"/>
            <a:ext cx="1714500" cy="914400"/>
          </a:xfrm>
          <a:prstGeom prst="rect">
            <a:avLst/>
          </a:prstGeom>
          <a:solidFill>
            <a:srgbClr val="EDEDED"/>
          </a:solidFill>
          <a:ln w="9525">
            <a:solidFill>
              <a:srgbClr val="B8BCC4"/>
            </a:solidFill>
            <a:prstDash val="solid"/>
          </a:ln>
        </p:spPr>
        <p:txBody>
          <a:bodyPr/>
          <a:lstStyle/>
          <a:p>
            <a:endParaRPr lang="en-DE"/>
          </a:p>
        </p:txBody>
      </p:sp>
      <p:sp>
        <p:nvSpPr>
          <p:cNvPr id="11" name="shape-54">
            <a:extLst>
              <a:ext uri="{FF2B5EF4-FFF2-40B4-BE49-F238E27FC236}">
                <a16:creationId xmlns:a16="http://schemas.microsoft.com/office/drawing/2014/main" id="{85157F02-9797-4317-A55F-750AB65ABF08}"/>
              </a:ext>
            </a:extLst>
          </p:cNvPr>
          <p:cNvSpPr>
            <a:spLocks noGrp="1"/>
          </p:cNvSpPr>
          <p:nvPr/>
        </p:nvSpPr>
        <p:spPr>
          <a:xfrm>
            <a:off x="10048875" y="3067050"/>
            <a:ext cx="1714500" cy="723900"/>
          </a:xfrm>
          <a:prstGeom prst="rect">
            <a:avLst/>
          </a:prstGeom>
          <a:solidFill>
            <a:srgbClr val="A9D6B9"/>
          </a:solidFill>
          <a:ln w="9525">
            <a:solidFill>
              <a:srgbClr val="A9D6B9"/>
            </a:solidFill>
            <a:prstDash val="solid"/>
          </a:ln>
        </p:spPr>
        <p:txBody>
          <a:bodyPr/>
          <a:lstStyle/>
          <a:p>
            <a:endParaRPr lang="en-DE"/>
          </a:p>
        </p:txBody>
      </p:sp>
      <p:sp>
        <p:nvSpPr>
          <p:cNvPr id="12" name="text-55">
            <a:extLst>
              <a:ext uri="{FF2B5EF4-FFF2-40B4-BE49-F238E27FC236}">
                <a16:creationId xmlns:a16="http://schemas.microsoft.com/office/drawing/2014/main" id="{20E646F4-2ADA-40DB-94BB-EB1DC5322621}"/>
              </a:ext>
            </a:extLst>
          </p:cNvPr>
          <p:cNvSpPr>
            <a:spLocks noGrp="1"/>
          </p:cNvSpPr>
          <p:nvPr/>
        </p:nvSpPr>
        <p:spPr>
          <a:xfrm>
            <a:off x="619125" y="2762250"/>
            <a:ext cx="1333500" cy="495300"/>
          </a:xfrm>
          <a:prstGeom prst="rect">
            <a:avLst/>
          </a:prstGeom>
        </p:spPr>
        <p:txBody>
          <a:bodyPr wrap="square" lIns="0" tIns="0" rIns="0" bIns="0" anchor="t">
            <a:normAutofit/>
          </a:bodyPr>
          <a:lstStyle/>
          <a:p>
            <a:pPr algn="ctr">
              <a:defRPr sz="2550" b="1">
                <a:solidFill>
                  <a:srgbClr val="000000"/>
                </a:solidFill>
                <a:latin typeface="Helvetica Neue"/>
                <a:ea typeface="Helvetica Neue"/>
                <a:cs typeface="Helvetica Neue"/>
              </a:defRPr>
            </a:pPr>
            <a:r>
              <a:t>73.9M</a:t>
            </a:r>
          </a:p>
        </p:txBody>
      </p:sp>
      <p:sp>
        <p:nvSpPr>
          <p:cNvPr id="13" name="text-56">
            <a:extLst>
              <a:ext uri="{FF2B5EF4-FFF2-40B4-BE49-F238E27FC236}">
                <a16:creationId xmlns:a16="http://schemas.microsoft.com/office/drawing/2014/main" id="{765EFABE-6541-48AD-8EEA-B2C4E6C7050A}"/>
              </a:ext>
            </a:extLst>
          </p:cNvPr>
          <p:cNvSpPr>
            <a:spLocks noGrp="1"/>
          </p:cNvSpPr>
          <p:nvPr/>
        </p:nvSpPr>
        <p:spPr>
          <a:xfrm>
            <a:off x="619125" y="3543300"/>
            <a:ext cx="1333500" cy="361950"/>
          </a:xfrm>
          <a:prstGeom prst="rect">
            <a:avLst/>
          </a:prstGeom>
        </p:spPr>
        <p:txBody>
          <a:bodyPr wrap="square" lIns="0" tIns="0" rIns="0" bIns="0" anchor="t">
            <a:normAutofit/>
          </a:bodyPr>
          <a:lstStyle/>
          <a:p>
            <a:pPr algn="ctr">
              <a:defRPr sz="1350" b="0">
                <a:solidFill>
                  <a:srgbClr val="000000"/>
                </a:solidFill>
                <a:latin typeface="Helvetica Neue"/>
                <a:ea typeface="Helvetica Neue"/>
                <a:cs typeface="Helvetica Neue"/>
              </a:defRPr>
            </a:pPr>
            <a:r>
              <a:t>Impressions</a:t>
            </a:r>
          </a:p>
        </p:txBody>
      </p:sp>
      <p:sp>
        <p:nvSpPr>
          <p:cNvPr id="14" name="text-57">
            <a:extLst>
              <a:ext uri="{FF2B5EF4-FFF2-40B4-BE49-F238E27FC236}">
                <a16:creationId xmlns:a16="http://schemas.microsoft.com/office/drawing/2014/main" id="{605EA8C3-717B-4EC9-B2E5-D3A77BF7FE23}"/>
              </a:ext>
            </a:extLst>
          </p:cNvPr>
          <p:cNvSpPr>
            <a:spLocks noGrp="1"/>
          </p:cNvSpPr>
          <p:nvPr/>
        </p:nvSpPr>
        <p:spPr>
          <a:xfrm>
            <a:off x="2543175" y="2857500"/>
            <a:ext cx="1333500" cy="495300"/>
          </a:xfrm>
          <a:prstGeom prst="rect">
            <a:avLst/>
          </a:prstGeom>
        </p:spPr>
        <p:txBody>
          <a:bodyPr wrap="square" lIns="0" tIns="0" rIns="0" bIns="0" anchor="t">
            <a:normAutofit/>
          </a:bodyPr>
          <a:lstStyle/>
          <a:p>
            <a:pPr algn="ctr">
              <a:defRPr sz="2550" b="1">
                <a:solidFill>
                  <a:srgbClr val="000000"/>
                </a:solidFill>
                <a:latin typeface="Helvetica Neue"/>
                <a:ea typeface="Helvetica Neue"/>
                <a:cs typeface="Helvetica Neue"/>
              </a:defRPr>
            </a:pPr>
            <a:r>
              <a:t>823K</a:t>
            </a:r>
          </a:p>
        </p:txBody>
      </p:sp>
      <p:sp>
        <p:nvSpPr>
          <p:cNvPr id="15" name="text-58">
            <a:extLst>
              <a:ext uri="{FF2B5EF4-FFF2-40B4-BE49-F238E27FC236}">
                <a16:creationId xmlns:a16="http://schemas.microsoft.com/office/drawing/2014/main" id="{B6CDDC46-EA2C-41B3-9222-A46A834E23A1}"/>
              </a:ext>
            </a:extLst>
          </p:cNvPr>
          <p:cNvSpPr>
            <a:spLocks noGrp="1"/>
          </p:cNvSpPr>
          <p:nvPr/>
        </p:nvSpPr>
        <p:spPr>
          <a:xfrm>
            <a:off x="2543175" y="3543300"/>
            <a:ext cx="1333500" cy="361950"/>
          </a:xfrm>
          <a:prstGeom prst="rect">
            <a:avLst/>
          </a:prstGeom>
        </p:spPr>
        <p:txBody>
          <a:bodyPr wrap="square" lIns="0" tIns="0" rIns="0" bIns="0" anchor="t">
            <a:normAutofit/>
          </a:bodyPr>
          <a:lstStyle/>
          <a:p>
            <a:pPr algn="ctr">
              <a:defRPr sz="1350" b="0">
                <a:solidFill>
                  <a:srgbClr val="000000"/>
                </a:solidFill>
                <a:latin typeface="Helvetica Neue"/>
                <a:ea typeface="Helvetica Neue"/>
                <a:cs typeface="Helvetica Neue"/>
              </a:defRPr>
            </a:pPr>
            <a:r>
              <a:t>Link clicks</a:t>
            </a:r>
          </a:p>
        </p:txBody>
      </p:sp>
      <p:sp>
        <p:nvSpPr>
          <p:cNvPr id="16" name="text-59">
            <a:extLst>
              <a:ext uri="{FF2B5EF4-FFF2-40B4-BE49-F238E27FC236}">
                <a16:creationId xmlns:a16="http://schemas.microsoft.com/office/drawing/2014/main" id="{50B7FB5F-5039-434C-9125-C0B132261EF9}"/>
              </a:ext>
            </a:extLst>
          </p:cNvPr>
          <p:cNvSpPr>
            <a:spLocks noGrp="1"/>
          </p:cNvSpPr>
          <p:nvPr/>
        </p:nvSpPr>
        <p:spPr>
          <a:xfrm>
            <a:off x="4467225" y="2952750"/>
            <a:ext cx="1333500" cy="495300"/>
          </a:xfrm>
          <a:prstGeom prst="rect">
            <a:avLst/>
          </a:prstGeom>
        </p:spPr>
        <p:txBody>
          <a:bodyPr wrap="square" lIns="0" tIns="0" rIns="0" bIns="0" anchor="t">
            <a:normAutofit/>
          </a:bodyPr>
          <a:lstStyle/>
          <a:p>
            <a:pPr algn="ctr">
              <a:defRPr sz="2400" b="1">
                <a:solidFill>
                  <a:srgbClr val="000000"/>
                </a:solidFill>
                <a:latin typeface="Helvetica Neue"/>
                <a:ea typeface="Helvetica Neue"/>
                <a:cs typeface="Helvetica Neue"/>
              </a:defRPr>
            </a:pPr>
            <a:r>
              <a:t>116,098</a:t>
            </a:r>
          </a:p>
        </p:txBody>
      </p:sp>
      <p:sp>
        <p:nvSpPr>
          <p:cNvPr id="17" name="text-60">
            <a:extLst>
              <a:ext uri="{FF2B5EF4-FFF2-40B4-BE49-F238E27FC236}">
                <a16:creationId xmlns:a16="http://schemas.microsoft.com/office/drawing/2014/main" id="{4D9DD0FE-D0A4-45C8-9318-7B6C36A08BF6}"/>
              </a:ext>
            </a:extLst>
          </p:cNvPr>
          <p:cNvSpPr>
            <a:spLocks noGrp="1"/>
          </p:cNvSpPr>
          <p:nvPr/>
        </p:nvSpPr>
        <p:spPr>
          <a:xfrm>
            <a:off x="4467225" y="3486150"/>
            <a:ext cx="1333500" cy="514350"/>
          </a:xfrm>
          <a:prstGeom prst="rect">
            <a:avLst/>
          </a:prstGeom>
        </p:spPr>
        <p:txBody>
          <a:bodyPr wrap="square" lIns="0" tIns="0" rIns="0" bIns="0" anchor="t">
            <a:normAutofit fontScale="99526"/>
          </a:bodyPr>
          <a:lstStyle/>
          <a:p>
            <a:pPr algn="ctr">
              <a:defRPr sz="1275" b="0">
                <a:solidFill>
                  <a:srgbClr val="000000"/>
                </a:solidFill>
                <a:latin typeface="Helvetica Neue"/>
                <a:ea typeface="Helvetica Neue"/>
                <a:cs typeface="Helvetica Neue"/>
              </a:defRPr>
            </a:pPr>
            <a:r>
              <a:t>Meta conversation starts</a:t>
            </a:r>
          </a:p>
        </p:txBody>
      </p:sp>
      <p:sp>
        <p:nvSpPr>
          <p:cNvPr id="18" name="text-61">
            <a:extLst>
              <a:ext uri="{FF2B5EF4-FFF2-40B4-BE49-F238E27FC236}">
                <a16:creationId xmlns:a16="http://schemas.microsoft.com/office/drawing/2014/main" id="{13533927-7FB3-4626-9DA0-5FCEBF3512AF}"/>
              </a:ext>
            </a:extLst>
          </p:cNvPr>
          <p:cNvSpPr>
            <a:spLocks noGrp="1"/>
          </p:cNvSpPr>
          <p:nvPr/>
        </p:nvSpPr>
        <p:spPr>
          <a:xfrm>
            <a:off x="6391275" y="3028950"/>
            <a:ext cx="1333500" cy="438150"/>
          </a:xfrm>
          <a:prstGeom prst="rect">
            <a:avLst/>
          </a:prstGeom>
        </p:spPr>
        <p:txBody>
          <a:bodyPr wrap="square" lIns="0" tIns="0" rIns="0" bIns="0" anchor="t">
            <a:normAutofit/>
          </a:bodyPr>
          <a:lstStyle/>
          <a:p>
            <a:pPr algn="ctr">
              <a:defRPr sz="2550" b="1">
                <a:solidFill>
                  <a:srgbClr val="000000"/>
                </a:solidFill>
                <a:latin typeface="Helvetica Neue"/>
                <a:ea typeface="Helvetica Neue"/>
                <a:cs typeface="Helvetica Neue"/>
              </a:defRPr>
            </a:pPr>
            <a:r>
              <a:t>617</a:t>
            </a:r>
          </a:p>
        </p:txBody>
      </p:sp>
      <p:sp>
        <p:nvSpPr>
          <p:cNvPr id="19" name="text-62">
            <a:extLst>
              <a:ext uri="{FF2B5EF4-FFF2-40B4-BE49-F238E27FC236}">
                <a16:creationId xmlns:a16="http://schemas.microsoft.com/office/drawing/2014/main" id="{2EAB9924-1632-4676-B83E-73F55AB87C99}"/>
              </a:ext>
            </a:extLst>
          </p:cNvPr>
          <p:cNvSpPr>
            <a:spLocks noGrp="1"/>
          </p:cNvSpPr>
          <p:nvPr/>
        </p:nvSpPr>
        <p:spPr>
          <a:xfrm>
            <a:off x="6391275" y="3486150"/>
            <a:ext cx="1333500" cy="457200"/>
          </a:xfrm>
          <a:prstGeom prst="rect">
            <a:avLst/>
          </a:prstGeom>
        </p:spPr>
        <p:txBody>
          <a:bodyPr wrap="square" lIns="0" tIns="0" rIns="0" bIns="0" anchor="t">
            <a:normAutofit fontScale="97984"/>
          </a:bodyPr>
          <a:lstStyle/>
          <a:p>
            <a:pPr algn="ctr">
              <a:defRPr sz="1200" b="0">
                <a:solidFill>
                  <a:srgbClr val="000000"/>
                </a:solidFill>
                <a:latin typeface="Helvetica Neue"/>
                <a:ea typeface="Helvetica Neue"/>
                <a:cs typeface="Helvetica Neue"/>
              </a:defRPr>
            </a:pPr>
            <a:r>
              <a:t>Supplied WhatsApp conversations</a:t>
            </a:r>
          </a:p>
        </p:txBody>
      </p:sp>
      <p:sp>
        <p:nvSpPr>
          <p:cNvPr id="20" name="text-63">
            <a:extLst>
              <a:ext uri="{FF2B5EF4-FFF2-40B4-BE49-F238E27FC236}">
                <a16:creationId xmlns:a16="http://schemas.microsoft.com/office/drawing/2014/main" id="{0C1E576D-70D6-4E01-81DD-2818591DD108}"/>
              </a:ext>
            </a:extLst>
          </p:cNvPr>
          <p:cNvSpPr>
            <a:spLocks noGrp="1"/>
          </p:cNvSpPr>
          <p:nvPr/>
        </p:nvSpPr>
        <p:spPr>
          <a:xfrm>
            <a:off x="8315325" y="3105150"/>
            <a:ext cx="1333500" cy="381000"/>
          </a:xfrm>
          <a:prstGeom prst="rect">
            <a:avLst/>
          </a:prstGeom>
        </p:spPr>
        <p:txBody>
          <a:bodyPr wrap="square" lIns="0" tIns="0" rIns="0" bIns="0" anchor="t">
            <a:normAutofit/>
          </a:bodyPr>
          <a:lstStyle/>
          <a:p>
            <a:pPr algn="ctr">
              <a:defRPr sz="2400" b="1">
                <a:solidFill>
                  <a:srgbClr val="000000"/>
                </a:solidFill>
                <a:latin typeface="Helvetica Neue"/>
                <a:ea typeface="Helvetica Neue"/>
                <a:cs typeface="Helvetica Neue"/>
              </a:defRPr>
            </a:pPr>
            <a:r>
              <a:t>457</a:t>
            </a:r>
          </a:p>
        </p:txBody>
      </p:sp>
      <p:sp>
        <p:nvSpPr>
          <p:cNvPr id="21" name="text-64">
            <a:extLst>
              <a:ext uri="{FF2B5EF4-FFF2-40B4-BE49-F238E27FC236}">
                <a16:creationId xmlns:a16="http://schemas.microsoft.com/office/drawing/2014/main" id="{BC3041A7-21BF-4707-9A0F-84BA846BE58E}"/>
              </a:ext>
            </a:extLst>
          </p:cNvPr>
          <p:cNvSpPr>
            <a:spLocks noGrp="1"/>
          </p:cNvSpPr>
          <p:nvPr/>
        </p:nvSpPr>
        <p:spPr>
          <a:xfrm>
            <a:off x="8315325" y="3524250"/>
            <a:ext cx="1333500" cy="285750"/>
          </a:xfrm>
          <a:prstGeom prst="rect">
            <a:avLst/>
          </a:prstGeom>
        </p:spPr>
        <p:txBody>
          <a:bodyPr wrap="square" lIns="0" tIns="0" rIns="0" bIns="0" anchor="t">
            <a:normAutofit/>
          </a:bodyPr>
          <a:lstStyle/>
          <a:p>
            <a:pPr algn="ctr">
              <a:defRPr sz="1275" b="0">
                <a:solidFill>
                  <a:srgbClr val="000000"/>
                </a:solidFill>
                <a:latin typeface="Helvetica Neue"/>
                <a:ea typeface="Helvetica Neue"/>
                <a:cs typeface="Helvetica Neue"/>
              </a:defRPr>
            </a:pPr>
            <a:r>
              <a:t>Orders created</a:t>
            </a:r>
          </a:p>
        </p:txBody>
      </p:sp>
      <p:sp>
        <p:nvSpPr>
          <p:cNvPr id="22" name="text-65">
            <a:extLst>
              <a:ext uri="{FF2B5EF4-FFF2-40B4-BE49-F238E27FC236}">
                <a16:creationId xmlns:a16="http://schemas.microsoft.com/office/drawing/2014/main" id="{2BA36F6F-3916-450D-94DB-85794657E176}"/>
              </a:ext>
            </a:extLst>
          </p:cNvPr>
          <p:cNvSpPr>
            <a:spLocks noGrp="1"/>
          </p:cNvSpPr>
          <p:nvPr/>
        </p:nvSpPr>
        <p:spPr>
          <a:xfrm>
            <a:off x="10239375" y="3143250"/>
            <a:ext cx="1333500" cy="342900"/>
          </a:xfrm>
          <a:prstGeom prst="rect">
            <a:avLst/>
          </a:prstGeom>
        </p:spPr>
        <p:txBody>
          <a:bodyPr wrap="square" lIns="0" tIns="0" rIns="0" bIns="0" anchor="t">
            <a:normAutofit/>
          </a:bodyPr>
          <a:lstStyle/>
          <a:p>
            <a:pPr algn="ctr">
              <a:defRPr sz="2250" b="1">
                <a:solidFill>
                  <a:srgbClr val="000000"/>
                </a:solidFill>
                <a:latin typeface="Helvetica Neue"/>
                <a:ea typeface="Helvetica Neue"/>
                <a:cs typeface="Helvetica Neue"/>
              </a:defRPr>
            </a:pPr>
            <a:r>
              <a:t>331</a:t>
            </a:r>
          </a:p>
        </p:txBody>
      </p:sp>
      <p:sp>
        <p:nvSpPr>
          <p:cNvPr id="23" name="text-66">
            <a:extLst>
              <a:ext uri="{FF2B5EF4-FFF2-40B4-BE49-F238E27FC236}">
                <a16:creationId xmlns:a16="http://schemas.microsoft.com/office/drawing/2014/main" id="{5E82D257-87B5-43DF-8DBB-7BE13BAEA723}"/>
              </a:ext>
            </a:extLst>
          </p:cNvPr>
          <p:cNvSpPr>
            <a:spLocks noGrp="1"/>
          </p:cNvSpPr>
          <p:nvPr/>
        </p:nvSpPr>
        <p:spPr>
          <a:xfrm>
            <a:off x="10239375" y="3505200"/>
            <a:ext cx="1333500" cy="247650"/>
          </a:xfrm>
          <a:prstGeom prst="rect">
            <a:avLst/>
          </a:prstGeom>
        </p:spPr>
        <p:txBody>
          <a:bodyPr wrap="square" lIns="0" tIns="0" rIns="0" bIns="0" anchor="t">
            <a:normAutofit/>
          </a:bodyPr>
          <a:lstStyle/>
          <a:p>
            <a:pPr algn="ctr">
              <a:defRPr sz="1200" b="0">
                <a:solidFill>
                  <a:srgbClr val="000000"/>
                </a:solidFill>
                <a:latin typeface="Helvetica Neue"/>
                <a:ea typeface="Helvetica Neue"/>
                <a:cs typeface="Helvetica Neue"/>
              </a:defRPr>
            </a:pPr>
            <a:r>
              <a:t>Delivered</a:t>
            </a:r>
          </a:p>
        </p:txBody>
      </p:sp>
      <p:sp>
        <p:nvSpPr>
          <p:cNvPr id="24" name="text-67">
            <a:extLst>
              <a:ext uri="{FF2B5EF4-FFF2-40B4-BE49-F238E27FC236}">
                <a16:creationId xmlns:a16="http://schemas.microsoft.com/office/drawing/2014/main" id="{EA9D66A5-00AB-47D9-ACE3-07BDDD917AEA}"/>
              </a:ext>
            </a:extLst>
          </p:cNvPr>
          <p:cNvSpPr>
            <a:spLocks noGrp="1"/>
          </p:cNvSpPr>
          <p:nvPr/>
        </p:nvSpPr>
        <p:spPr>
          <a:xfrm>
            <a:off x="6010275" y="4762500"/>
            <a:ext cx="2095500" cy="571500"/>
          </a:xfrm>
          <a:prstGeom prst="rect">
            <a:avLst/>
          </a:prstGeom>
        </p:spPr>
        <p:txBody>
          <a:bodyPr wrap="square" lIns="0" tIns="0" rIns="0" bIns="0" anchor="t">
            <a:normAutofit/>
          </a:bodyPr>
          <a:lstStyle/>
          <a:p>
            <a:pPr algn="ctr">
              <a:defRPr sz="3600" b="1">
                <a:solidFill>
                  <a:srgbClr val="3D8DFF"/>
                </a:solidFill>
                <a:latin typeface="Helvetica Neue"/>
                <a:ea typeface="Helvetica Neue"/>
                <a:cs typeface="Helvetica Neue"/>
              </a:defRPr>
            </a:pPr>
            <a:r>
              <a:t>0.53%</a:t>
            </a:r>
          </a:p>
        </p:txBody>
      </p:sp>
      <p:sp>
        <p:nvSpPr>
          <p:cNvPr id="25" name="text-68">
            <a:extLst>
              <a:ext uri="{FF2B5EF4-FFF2-40B4-BE49-F238E27FC236}">
                <a16:creationId xmlns:a16="http://schemas.microsoft.com/office/drawing/2014/main" id="{7E1878E6-FB7F-4138-B59A-52715B7B9048}"/>
              </a:ext>
            </a:extLst>
          </p:cNvPr>
          <p:cNvSpPr>
            <a:spLocks noGrp="1"/>
          </p:cNvSpPr>
          <p:nvPr/>
        </p:nvSpPr>
        <p:spPr>
          <a:xfrm>
            <a:off x="5295900" y="5410200"/>
            <a:ext cx="3524250" cy="438150"/>
          </a:xfrm>
          <a:prstGeom prst="rect">
            <a:avLst/>
          </a:prstGeom>
        </p:spPr>
        <p:txBody>
          <a:bodyPr wrap="square" lIns="0" tIns="0" rIns="0" bIns="0" anchor="t">
            <a:normAutofit fontScale="95833"/>
          </a:bodyPr>
          <a:lstStyle/>
          <a:p>
            <a:pPr algn="ctr">
              <a:defRPr sz="1500" b="1">
                <a:solidFill>
                  <a:srgbClr val="000000"/>
                </a:solidFill>
                <a:latin typeface="Helvetica Neue"/>
                <a:ea typeface="Helvetica Neue"/>
                <a:cs typeface="Helvetica Neue"/>
              </a:defRPr>
            </a:pPr>
            <a:r>
              <a:t>The event populations are not yet reconciled</a:t>
            </a:r>
          </a:p>
        </p:txBody>
      </p:sp>
    </p:spTree>
    <p:extLst>
      <p:ext uri="{BB962C8B-B14F-4D97-AF65-F5344CB8AC3E}">
        <p14:creationId xmlns:p14="http://schemas.microsoft.com/office/powerpoint/2010/main" val="903171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lide-5-title">
            <a:extLst>
              <a:ext uri="{FF2B5EF4-FFF2-40B4-BE49-F238E27FC236}">
                <a16:creationId xmlns:a16="http://schemas.microsoft.com/office/drawing/2014/main" id="{BA8C2EE2-6336-4C7A-BC27-AAE8040B98F0}"/>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Three files form one evidence model</a:t>
            </a:r>
          </a:p>
        </p:txBody>
      </p:sp>
      <p:cxnSp>
        <p:nvCxnSpPr>
          <p:cNvPr id="24" name="line-92"/>
          <p:cNvCxnSpPr/>
          <p:nvPr/>
        </p:nvCxnSpPr>
        <p:spPr>
          <a:xfrm>
            <a:off x="495300" y="1057275"/>
            <a:ext cx="11296650" cy="9525"/>
          </a:xfrm>
          <a:prstGeom prst="straightConnector1">
            <a:avLst/>
          </a:prstGeom>
          <a:ln w="9525">
            <a:solidFill>
              <a:srgbClr val="B8BCC4"/>
            </a:solidFill>
            <a:prstDash val="solid"/>
          </a:ln>
        </p:spPr>
      </p:cxnSp>
      <p:sp>
        <p:nvSpPr>
          <p:cNvPr id="3" name="slide-5-source">
            <a:extLst>
              <a:ext uri="{FF2B5EF4-FFF2-40B4-BE49-F238E27FC236}">
                <a16:creationId xmlns:a16="http://schemas.microsoft.com/office/drawing/2014/main" id="{2D408D32-9E95-4A04-BDE6-1FE45596867C}"/>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 cycle_data.py; src_2 data architecture</a:t>
            </a:r>
          </a:p>
        </p:txBody>
      </p:sp>
      <p:sp>
        <p:nvSpPr>
          <p:cNvPr id="4" name="slide-5-number">
            <a:extLst>
              <a:ext uri="{FF2B5EF4-FFF2-40B4-BE49-F238E27FC236}">
                <a16:creationId xmlns:a16="http://schemas.microsoft.com/office/drawing/2014/main" id="{363C7D65-A42F-4E37-A5FE-4260CEF28F59}"/>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05</a:t>
            </a:r>
          </a:p>
        </p:txBody>
      </p:sp>
      <p:cxnSp>
        <p:nvCxnSpPr>
          <p:cNvPr id="27" name="line-73"/>
          <p:cNvCxnSpPr/>
          <p:nvPr/>
        </p:nvCxnSpPr>
        <p:spPr>
          <a:xfrm>
            <a:off x="2095500" y="2381250"/>
            <a:ext cx="2571750" cy="1000125"/>
          </a:xfrm>
          <a:prstGeom prst="straightConnector1">
            <a:avLst/>
          </a:prstGeom>
          <a:ln w="19050">
            <a:solidFill>
              <a:srgbClr val="B8BCC4"/>
            </a:solidFill>
            <a:prstDash val="solid"/>
          </a:ln>
        </p:spPr>
      </p:cxnSp>
      <p:cxnSp>
        <p:nvCxnSpPr>
          <p:cNvPr id="28" name="line-74"/>
          <p:cNvCxnSpPr/>
          <p:nvPr/>
        </p:nvCxnSpPr>
        <p:spPr>
          <a:xfrm>
            <a:off x="6096000" y="2381250"/>
            <a:ext cx="9525" cy="1000125"/>
          </a:xfrm>
          <a:prstGeom prst="straightConnector1">
            <a:avLst/>
          </a:prstGeom>
          <a:ln w="19050">
            <a:solidFill>
              <a:srgbClr val="B8BCC4"/>
            </a:solidFill>
            <a:prstDash val="solid"/>
          </a:ln>
        </p:spPr>
      </p:cxnSp>
      <p:cxnSp>
        <p:nvCxnSpPr>
          <p:cNvPr id="29" name="line-75"/>
          <p:cNvCxnSpPr/>
          <p:nvPr/>
        </p:nvCxnSpPr>
        <p:spPr>
          <a:xfrm>
            <a:off x="7524750" y="2381250"/>
            <a:ext cx="2571750" cy="1000125"/>
          </a:xfrm>
          <a:prstGeom prst="straightConnector1">
            <a:avLst/>
          </a:prstGeom>
          <a:ln w="19050">
            <a:solidFill>
              <a:srgbClr val="B8BCC4"/>
            </a:solidFill>
            <a:prstDash val="solid"/>
          </a:ln>
        </p:spPr>
      </p:cxnSp>
      <p:cxnSp>
        <p:nvCxnSpPr>
          <p:cNvPr id="30" name="line-76"/>
          <p:cNvCxnSpPr/>
          <p:nvPr/>
        </p:nvCxnSpPr>
        <p:spPr>
          <a:xfrm>
            <a:off x="6096000" y="4476750"/>
            <a:ext cx="9525" cy="857250"/>
          </a:xfrm>
          <a:prstGeom prst="straightConnector1">
            <a:avLst/>
          </a:prstGeom>
          <a:ln w="19050">
            <a:solidFill>
              <a:srgbClr val="B8BCC4"/>
            </a:solidFill>
            <a:prstDash val="solid"/>
          </a:ln>
        </p:spPr>
      </p:cxnSp>
      <p:sp>
        <p:nvSpPr>
          <p:cNvPr id="9" name="shape-77">
            <a:extLst>
              <a:ext uri="{FF2B5EF4-FFF2-40B4-BE49-F238E27FC236}">
                <a16:creationId xmlns:a16="http://schemas.microsoft.com/office/drawing/2014/main" id="{45AA2E0F-90B5-46D7-AC2B-587FC7CC48ED}"/>
              </a:ext>
            </a:extLst>
          </p:cNvPr>
          <p:cNvSpPr>
            <a:spLocks noGrp="1"/>
          </p:cNvSpPr>
          <p:nvPr/>
        </p:nvSpPr>
        <p:spPr>
          <a:xfrm>
            <a:off x="390525" y="1581150"/>
            <a:ext cx="3409950" cy="1200150"/>
          </a:xfrm>
          <a:prstGeom prst="rect">
            <a:avLst/>
          </a:prstGeom>
          <a:solidFill>
            <a:srgbClr val="D0EDFA"/>
          </a:solidFill>
          <a:ln w="9525">
            <a:solidFill>
              <a:srgbClr val="B8BCC4"/>
            </a:solidFill>
            <a:prstDash val="solid"/>
          </a:ln>
        </p:spPr>
        <p:txBody>
          <a:bodyPr/>
          <a:lstStyle/>
          <a:p>
            <a:endParaRPr lang="en-DE"/>
          </a:p>
        </p:txBody>
      </p:sp>
      <p:sp>
        <p:nvSpPr>
          <p:cNvPr id="10" name="shape-78">
            <a:extLst>
              <a:ext uri="{FF2B5EF4-FFF2-40B4-BE49-F238E27FC236}">
                <a16:creationId xmlns:a16="http://schemas.microsoft.com/office/drawing/2014/main" id="{D640A27E-5DEB-419E-90EE-F0470F005BE2}"/>
              </a:ext>
            </a:extLst>
          </p:cNvPr>
          <p:cNvSpPr>
            <a:spLocks noGrp="1"/>
          </p:cNvSpPr>
          <p:nvPr/>
        </p:nvSpPr>
        <p:spPr>
          <a:xfrm>
            <a:off x="4391025" y="1581150"/>
            <a:ext cx="3409950" cy="1200150"/>
          </a:xfrm>
          <a:prstGeom prst="rect">
            <a:avLst/>
          </a:prstGeom>
          <a:solidFill>
            <a:srgbClr val="EDEDED"/>
          </a:solidFill>
          <a:ln w="9525">
            <a:solidFill>
              <a:srgbClr val="B8BCC4"/>
            </a:solidFill>
            <a:prstDash val="solid"/>
          </a:ln>
        </p:spPr>
        <p:txBody>
          <a:bodyPr/>
          <a:lstStyle/>
          <a:p>
            <a:endParaRPr lang="en-DE"/>
          </a:p>
        </p:txBody>
      </p:sp>
      <p:sp>
        <p:nvSpPr>
          <p:cNvPr id="11" name="shape-79">
            <a:extLst>
              <a:ext uri="{FF2B5EF4-FFF2-40B4-BE49-F238E27FC236}">
                <a16:creationId xmlns:a16="http://schemas.microsoft.com/office/drawing/2014/main" id="{F61CA621-B301-4C0D-843C-9DE0EDA9F29E}"/>
              </a:ext>
            </a:extLst>
          </p:cNvPr>
          <p:cNvSpPr>
            <a:spLocks noGrp="1"/>
          </p:cNvSpPr>
          <p:nvPr/>
        </p:nvSpPr>
        <p:spPr>
          <a:xfrm>
            <a:off x="8391525" y="1581150"/>
            <a:ext cx="3409950" cy="1200150"/>
          </a:xfrm>
          <a:prstGeom prst="rect">
            <a:avLst/>
          </a:prstGeom>
          <a:solidFill>
            <a:srgbClr val="F7F7F7"/>
          </a:solidFill>
          <a:ln w="9525">
            <a:solidFill>
              <a:srgbClr val="B8BCC4"/>
            </a:solidFill>
            <a:prstDash val="solid"/>
          </a:ln>
        </p:spPr>
        <p:txBody>
          <a:bodyPr/>
          <a:lstStyle/>
          <a:p>
            <a:endParaRPr lang="en-DE"/>
          </a:p>
        </p:txBody>
      </p:sp>
      <p:sp>
        <p:nvSpPr>
          <p:cNvPr id="12" name="shape-80">
            <a:extLst>
              <a:ext uri="{FF2B5EF4-FFF2-40B4-BE49-F238E27FC236}">
                <a16:creationId xmlns:a16="http://schemas.microsoft.com/office/drawing/2014/main" id="{8E3EFD64-885F-4A54-98C5-B7612CA287A6}"/>
              </a:ext>
            </a:extLst>
          </p:cNvPr>
          <p:cNvSpPr>
            <a:spLocks noGrp="1"/>
          </p:cNvSpPr>
          <p:nvPr/>
        </p:nvSpPr>
        <p:spPr>
          <a:xfrm>
            <a:off x="3695700" y="3381375"/>
            <a:ext cx="4800600" cy="1104900"/>
          </a:xfrm>
          <a:prstGeom prst="rect">
            <a:avLst/>
          </a:prstGeom>
          <a:solidFill>
            <a:srgbClr val="000000"/>
          </a:solidFill>
          <a:ln w="9525">
            <a:solidFill>
              <a:srgbClr val="000000"/>
            </a:solidFill>
            <a:prstDash val="solid"/>
          </a:ln>
        </p:spPr>
        <p:txBody>
          <a:bodyPr/>
          <a:lstStyle/>
          <a:p>
            <a:endParaRPr lang="en-DE"/>
          </a:p>
        </p:txBody>
      </p:sp>
      <p:sp>
        <p:nvSpPr>
          <p:cNvPr id="13" name="shape-81">
            <a:extLst>
              <a:ext uri="{FF2B5EF4-FFF2-40B4-BE49-F238E27FC236}">
                <a16:creationId xmlns:a16="http://schemas.microsoft.com/office/drawing/2014/main" id="{9044F9AA-1AA6-4088-8CA2-B8827158FC85}"/>
              </a:ext>
            </a:extLst>
          </p:cNvPr>
          <p:cNvSpPr>
            <a:spLocks noGrp="1"/>
          </p:cNvSpPr>
          <p:nvPr/>
        </p:nvSpPr>
        <p:spPr>
          <a:xfrm>
            <a:off x="1809750" y="5334000"/>
            <a:ext cx="8572500" cy="723900"/>
          </a:xfrm>
          <a:prstGeom prst="rect">
            <a:avLst/>
          </a:prstGeom>
          <a:solidFill>
            <a:srgbClr val="6DCBF4"/>
          </a:solidFill>
          <a:ln w="9525">
            <a:solidFill>
              <a:srgbClr val="6DCBF4"/>
            </a:solidFill>
            <a:prstDash val="solid"/>
          </a:ln>
        </p:spPr>
        <p:txBody>
          <a:bodyPr/>
          <a:lstStyle/>
          <a:p>
            <a:endParaRPr lang="en-DE"/>
          </a:p>
        </p:txBody>
      </p:sp>
      <p:sp>
        <p:nvSpPr>
          <p:cNvPr id="14" name="text-82">
            <a:extLst>
              <a:ext uri="{FF2B5EF4-FFF2-40B4-BE49-F238E27FC236}">
                <a16:creationId xmlns:a16="http://schemas.microsoft.com/office/drawing/2014/main" id="{1BBAECF9-F3ED-4DC9-BFBD-099351608C02}"/>
              </a:ext>
            </a:extLst>
          </p:cNvPr>
          <p:cNvSpPr>
            <a:spLocks noGrp="1"/>
          </p:cNvSpPr>
          <p:nvPr/>
        </p:nvSpPr>
        <p:spPr>
          <a:xfrm>
            <a:off x="666750" y="1790700"/>
            <a:ext cx="2857500" cy="323850"/>
          </a:xfrm>
          <a:prstGeom prst="rect">
            <a:avLst/>
          </a:prstGeom>
        </p:spPr>
        <p:txBody>
          <a:bodyPr wrap="square" lIns="0" tIns="0" rIns="0" bIns="0" anchor="t">
            <a:normAutofit/>
          </a:bodyPr>
          <a:lstStyle/>
          <a:p>
            <a:pPr algn="ctr">
              <a:defRPr sz="1875" b="1">
                <a:solidFill>
                  <a:srgbClr val="000000"/>
                </a:solidFill>
                <a:latin typeface="Helvetica Neue"/>
                <a:ea typeface="Helvetica Neue"/>
                <a:cs typeface="Helvetica Neue"/>
              </a:defRPr>
            </a:pPr>
            <a:r>
              <a:t>meta_data.json</a:t>
            </a:r>
          </a:p>
        </p:txBody>
      </p:sp>
      <p:sp>
        <p:nvSpPr>
          <p:cNvPr id="15" name="text-83">
            <a:extLst>
              <a:ext uri="{FF2B5EF4-FFF2-40B4-BE49-F238E27FC236}">
                <a16:creationId xmlns:a16="http://schemas.microsoft.com/office/drawing/2014/main" id="{72033C8D-05FC-490E-A6DE-8BF18AAED005}"/>
              </a:ext>
            </a:extLst>
          </p:cNvPr>
          <p:cNvSpPr>
            <a:spLocks noGrp="1"/>
          </p:cNvSpPr>
          <p:nvPr/>
        </p:nvSpPr>
        <p:spPr>
          <a:xfrm>
            <a:off x="666750" y="2209800"/>
            <a:ext cx="2857500" cy="438150"/>
          </a:xfrm>
          <a:prstGeom prst="rect">
            <a:avLst/>
          </a:prstGeom>
        </p:spPr>
        <p:txBody>
          <a:bodyPr wrap="square" lIns="0" tIns="0" rIns="0" bIns="0" anchor="t">
            <a:normAutofit/>
          </a:bodyPr>
          <a:lstStyle/>
          <a:p>
            <a:pPr algn="ctr">
              <a:defRPr sz="1275" b="0">
                <a:solidFill>
                  <a:srgbClr val="000000"/>
                </a:solidFill>
                <a:latin typeface="Helvetica Neue"/>
                <a:ea typeface="Helvetica Neue"/>
                <a:cs typeface="Helvetica Neue"/>
              </a:defRPr>
            </a:pPr>
            <a:r>
              <a:t>Campaigns, adsets, ads, creatives, daily insights</a:t>
            </a:r>
          </a:p>
        </p:txBody>
      </p:sp>
      <p:sp>
        <p:nvSpPr>
          <p:cNvPr id="16" name="text-84">
            <a:extLst>
              <a:ext uri="{FF2B5EF4-FFF2-40B4-BE49-F238E27FC236}">
                <a16:creationId xmlns:a16="http://schemas.microsoft.com/office/drawing/2014/main" id="{050D36C0-89B1-46CB-9D09-E7EB6614C6BA}"/>
              </a:ext>
            </a:extLst>
          </p:cNvPr>
          <p:cNvSpPr>
            <a:spLocks noGrp="1"/>
          </p:cNvSpPr>
          <p:nvPr/>
        </p:nvSpPr>
        <p:spPr>
          <a:xfrm>
            <a:off x="4667250" y="1790700"/>
            <a:ext cx="2857500" cy="323850"/>
          </a:xfrm>
          <a:prstGeom prst="rect">
            <a:avLst/>
          </a:prstGeom>
        </p:spPr>
        <p:txBody>
          <a:bodyPr wrap="square" lIns="0" tIns="0" rIns="0" bIns="0" anchor="t">
            <a:normAutofit/>
          </a:bodyPr>
          <a:lstStyle/>
          <a:p>
            <a:pPr algn="ctr">
              <a:defRPr sz="1875" b="1">
                <a:solidFill>
                  <a:srgbClr val="000000"/>
                </a:solidFill>
                <a:latin typeface="Helvetica Neue"/>
                <a:ea typeface="Helvetica Neue"/>
                <a:cs typeface="Helvetica Neue"/>
              </a:defRPr>
            </a:pPr>
            <a:r>
              <a:t>conversations.json</a:t>
            </a:r>
          </a:p>
        </p:txBody>
      </p:sp>
      <p:sp>
        <p:nvSpPr>
          <p:cNvPr id="17" name="text-85">
            <a:extLst>
              <a:ext uri="{FF2B5EF4-FFF2-40B4-BE49-F238E27FC236}">
                <a16:creationId xmlns:a16="http://schemas.microsoft.com/office/drawing/2014/main" id="{31625250-22FA-4816-8DDA-1F7317AA1842}"/>
              </a:ext>
            </a:extLst>
          </p:cNvPr>
          <p:cNvSpPr>
            <a:spLocks noGrp="1"/>
          </p:cNvSpPr>
          <p:nvPr/>
        </p:nvSpPr>
        <p:spPr>
          <a:xfrm>
            <a:off x="4667250" y="2209800"/>
            <a:ext cx="2857500" cy="438150"/>
          </a:xfrm>
          <a:prstGeom prst="rect">
            <a:avLst/>
          </a:prstGeom>
        </p:spPr>
        <p:txBody>
          <a:bodyPr wrap="square" lIns="0" tIns="0" rIns="0" bIns="0" anchor="t">
            <a:normAutofit/>
          </a:bodyPr>
          <a:lstStyle/>
          <a:p>
            <a:pPr algn="ctr">
              <a:defRPr sz="1275" b="0">
                <a:solidFill>
                  <a:srgbClr val="000000"/>
                </a:solidFill>
                <a:latin typeface="Helvetica Neue"/>
                <a:ea typeface="Helvetica Neue"/>
                <a:cs typeface="Helvetica Neue"/>
              </a:defRPr>
            </a:pPr>
            <a:r>
              <a:t>Source IDs, customer cycle, order outcome, messages</a:t>
            </a:r>
          </a:p>
        </p:txBody>
      </p:sp>
      <p:sp>
        <p:nvSpPr>
          <p:cNvPr id="18" name="text-86">
            <a:extLst>
              <a:ext uri="{FF2B5EF4-FFF2-40B4-BE49-F238E27FC236}">
                <a16:creationId xmlns:a16="http://schemas.microsoft.com/office/drawing/2014/main" id="{EB5C9443-4775-4DDD-8990-BD33C8AE3E30}"/>
              </a:ext>
            </a:extLst>
          </p:cNvPr>
          <p:cNvSpPr>
            <a:spLocks noGrp="1"/>
          </p:cNvSpPr>
          <p:nvPr/>
        </p:nvSpPr>
        <p:spPr>
          <a:xfrm>
            <a:off x="8667750" y="1790700"/>
            <a:ext cx="2857500" cy="323850"/>
          </a:xfrm>
          <a:prstGeom prst="rect">
            <a:avLst/>
          </a:prstGeom>
        </p:spPr>
        <p:txBody>
          <a:bodyPr wrap="square" lIns="0" tIns="0" rIns="0" bIns="0" anchor="t">
            <a:normAutofit/>
          </a:bodyPr>
          <a:lstStyle/>
          <a:p>
            <a:pPr algn="ctr">
              <a:defRPr sz="1875" b="1">
                <a:solidFill>
                  <a:srgbClr val="000000"/>
                </a:solidFill>
                <a:latin typeface="Helvetica Neue"/>
                <a:ea typeface="Helvetica Neue"/>
                <a:cs typeface="Helvetica Neue"/>
              </a:defRPr>
            </a:pPr>
            <a:r>
              <a:t>products.json</a:t>
            </a:r>
          </a:p>
        </p:txBody>
      </p:sp>
      <p:sp>
        <p:nvSpPr>
          <p:cNvPr id="19" name="text-87">
            <a:extLst>
              <a:ext uri="{FF2B5EF4-FFF2-40B4-BE49-F238E27FC236}">
                <a16:creationId xmlns:a16="http://schemas.microsoft.com/office/drawing/2014/main" id="{604D2358-CB86-40CA-AF3E-745EF7B9CDD0}"/>
              </a:ext>
            </a:extLst>
          </p:cNvPr>
          <p:cNvSpPr>
            <a:spLocks noGrp="1"/>
          </p:cNvSpPr>
          <p:nvPr/>
        </p:nvSpPr>
        <p:spPr>
          <a:xfrm>
            <a:off x="8667750" y="2209800"/>
            <a:ext cx="2857500" cy="438150"/>
          </a:xfrm>
          <a:prstGeom prst="rect">
            <a:avLst/>
          </a:prstGeom>
        </p:spPr>
        <p:txBody>
          <a:bodyPr wrap="square" lIns="0" tIns="0" rIns="0" bIns="0" anchor="t">
            <a:normAutofit/>
          </a:bodyPr>
          <a:lstStyle/>
          <a:p>
            <a:pPr algn="ctr">
              <a:defRPr sz="1275" b="0">
                <a:solidFill>
                  <a:srgbClr val="000000"/>
                </a:solidFill>
                <a:latin typeface="Helvetica Neue"/>
                <a:ea typeface="Helvetica Neue"/>
                <a:cs typeface="Helvetica Neue"/>
              </a:defRPr>
            </a:pPr>
            <a:r>
              <a:t>Product metadata joined to order line items</a:t>
            </a:r>
          </a:p>
        </p:txBody>
      </p:sp>
      <p:sp>
        <p:nvSpPr>
          <p:cNvPr id="20" name="text-88">
            <a:extLst>
              <a:ext uri="{FF2B5EF4-FFF2-40B4-BE49-F238E27FC236}">
                <a16:creationId xmlns:a16="http://schemas.microsoft.com/office/drawing/2014/main" id="{C87E176D-7BE9-4A28-B275-FB60775E410F}"/>
              </a:ext>
            </a:extLst>
          </p:cNvPr>
          <p:cNvSpPr>
            <a:spLocks noGrp="1"/>
          </p:cNvSpPr>
          <p:nvPr/>
        </p:nvSpPr>
        <p:spPr>
          <a:xfrm>
            <a:off x="4076700" y="3648075"/>
            <a:ext cx="4038600" cy="342900"/>
          </a:xfrm>
          <a:prstGeom prst="rect">
            <a:avLst/>
          </a:prstGeom>
        </p:spPr>
        <p:txBody>
          <a:bodyPr wrap="square" lIns="0" tIns="0" rIns="0" bIns="0" anchor="t">
            <a:normAutofit/>
          </a:bodyPr>
          <a:lstStyle/>
          <a:p>
            <a:pPr algn="ctr">
              <a:defRPr sz="1875" b="1">
                <a:solidFill>
                  <a:srgbClr val="FFFFFF"/>
                </a:solidFill>
                <a:latin typeface="Helvetica Neue"/>
                <a:ea typeface="Helvetica Neue"/>
                <a:cs typeface="Helvetica Neue"/>
              </a:defRPr>
            </a:pPr>
            <a:r>
              <a:t>CANONICAL EVIDENCE MODEL</a:t>
            </a:r>
          </a:p>
        </p:txBody>
      </p:sp>
      <p:sp>
        <p:nvSpPr>
          <p:cNvPr id="21" name="text-89">
            <a:extLst>
              <a:ext uri="{FF2B5EF4-FFF2-40B4-BE49-F238E27FC236}">
                <a16:creationId xmlns:a16="http://schemas.microsoft.com/office/drawing/2014/main" id="{75FDCED8-79A0-4C02-BCCC-AD356887B7A9}"/>
              </a:ext>
            </a:extLst>
          </p:cNvPr>
          <p:cNvSpPr>
            <a:spLocks noGrp="1"/>
          </p:cNvSpPr>
          <p:nvPr/>
        </p:nvSpPr>
        <p:spPr>
          <a:xfrm>
            <a:off x="4076700" y="4057650"/>
            <a:ext cx="4038600" cy="266700"/>
          </a:xfrm>
          <a:prstGeom prst="rect">
            <a:avLst/>
          </a:prstGeom>
        </p:spPr>
        <p:txBody>
          <a:bodyPr wrap="square" lIns="0" tIns="0" rIns="0" bIns="0" anchor="t">
            <a:normAutofit fontScale="83473"/>
          </a:bodyPr>
          <a:lstStyle/>
          <a:p>
            <a:pPr algn="ctr">
              <a:defRPr sz="1275" b="0">
                <a:solidFill>
                  <a:srgbClr val="FFFFFF"/>
                </a:solidFill>
                <a:latin typeface="Helvetica Neue"/>
                <a:ea typeface="Helvetica Neue"/>
                <a:cs typeface="Helvetica Neue"/>
              </a:defRPr>
            </a:pPr>
            <a:r>
              <a:t>Keep daily media facts separate from conversation and order facts</a:t>
            </a:r>
          </a:p>
        </p:txBody>
      </p:sp>
      <p:sp>
        <p:nvSpPr>
          <p:cNvPr id="22" name="text-90">
            <a:extLst>
              <a:ext uri="{FF2B5EF4-FFF2-40B4-BE49-F238E27FC236}">
                <a16:creationId xmlns:a16="http://schemas.microsoft.com/office/drawing/2014/main" id="{539761F1-A74A-49F0-AF6B-2D681CCE3671}"/>
              </a:ext>
            </a:extLst>
          </p:cNvPr>
          <p:cNvSpPr>
            <a:spLocks noGrp="1"/>
          </p:cNvSpPr>
          <p:nvPr/>
        </p:nvSpPr>
        <p:spPr>
          <a:xfrm>
            <a:off x="2095500" y="5543550"/>
            <a:ext cx="8001000" cy="323850"/>
          </a:xfrm>
          <a:prstGeom prst="rect">
            <a:avLst/>
          </a:prstGeom>
        </p:spPr>
        <p:txBody>
          <a:bodyPr wrap="square" lIns="0" tIns="0" rIns="0" bIns="0" anchor="t">
            <a:normAutofit/>
          </a:bodyPr>
          <a:lstStyle/>
          <a:p>
            <a:pPr algn="ctr">
              <a:defRPr sz="1800" b="1">
                <a:solidFill>
                  <a:srgbClr val="000000"/>
                </a:solidFill>
                <a:latin typeface="Helvetica Neue"/>
                <a:ea typeface="Helvetica Neue"/>
                <a:cs typeface="Helvetica Neue"/>
              </a:defRPr>
            </a:pPr>
            <a:r>
              <a:t>Aggregate separately, then join at campaign / adset / ad grain</a:t>
            </a:r>
          </a:p>
        </p:txBody>
      </p:sp>
    </p:spTree>
    <p:extLst>
      <p:ext uri="{BB962C8B-B14F-4D97-AF65-F5344CB8AC3E}">
        <p14:creationId xmlns:p14="http://schemas.microsoft.com/office/powerpoint/2010/main" val="1539803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6-title">
            <a:extLst>
              <a:ext uri="{FF2B5EF4-FFF2-40B4-BE49-F238E27FC236}">
                <a16:creationId xmlns:a16="http://schemas.microsoft.com/office/drawing/2014/main" id="{45CE0A1A-68B8-46F6-806A-7D2F85EF1E7D}"/>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150" b="1">
                <a:solidFill>
                  <a:srgbClr val="000000"/>
                </a:solidFill>
                <a:latin typeface="Helvetica Neue"/>
                <a:ea typeface="Helvetica Neue"/>
                <a:cs typeface="Helvetica Neue"/>
              </a:defRPr>
            </a:pPr>
            <a:r>
              <a:t>The 0.53% gap blocks automation, not analysis</a:t>
            </a:r>
          </a:p>
        </p:txBody>
      </p:sp>
      <p:cxnSp>
        <p:nvCxnSpPr>
          <p:cNvPr id="17" name="line-107"/>
          <p:cNvCxnSpPr/>
          <p:nvPr/>
        </p:nvCxnSpPr>
        <p:spPr>
          <a:xfrm>
            <a:off x="495300" y="1057275"/>
            <a:ext cx="11296650" cy="9525"/>
          </a:xfrm>
          <a:prstGeom prst="straightConnector1">
            <a:avLst/>
          </a:prstGeom>
          <a:ln w="9525">
            <a:solidFill>
              <a:srgbClr val="B8BCC4"/>
            </a:solidFill>
            <a:prstDash val="solid"/>
          </a:ln>
        </p:spPr>
      </p:cxnSp>
      <p:sp>
        <p:nvSpPr>
          <p:cNvPr id="3" name="slide-6-source">
            <a:extLst>
              <a:ext uri="{FF2B5EF4-FFF2-40B4-BE49-F238E27FC236}">
                <a16:creationId xmlns:a16="http://schemas.microsoft.com/office/drawing/2014/main" id="{D081332B-17A3-4ECE-ACB5-06038437B1D8}"/>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Sample 2 data-quality audit; src_2 data_quality_rules.yaml</a:t>
            </a:r>
          </a:p>
        </p:txBody>
      </p:sp>
      <p:sp>
        <p:nvSpPr>
          <p:cNvPr id="4" name="slide-6-number">
            <a:extLst>
              <a:ext uri="{FF2B5EF4-FFF2-40B4-BE49-F238E27FC236}">
                <a16:creationId xmlns:a16="http://schemas.microsoft.com/office/drawing/2014/main" id="{C2B2D076-EC11-4EB5-8B66-612D47618208}"/>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06</a:t>
            </a:r>
          </a:p>
        </p:txBody>
      </p:sp>
      <p:sp>
        <p:nvSpPr>
          <p:cNvPr id="5" name="shape-95">
            <a:extLst>
              <a:ext uri="{FF2B5EF4-FFF2-40B4-BE49-F238E27FC236}">
                <a16:creationId xmlns:a16="http://schemas.microsoft.com/office/drawing/2014/main" id="{7A4BD03C-D980-454C-95F5-A3482CA9F6A9}"/>
              </a:ext>
            </a:extLst>
          </p:cNvPr>
          <p:cNvSpPr>
            <a:spLocks noGrp="1"/>
          </p:cNvSpPr>
          <p:nvPr/>
        </p:nvSpPr>
        <p:spPr>
          <a:xfrm>
            <a:off x="390525" y="1771650"/>
            <a:ext cx="3562350" cy="2762250"/>
          </a:xfrm>
          <a:prstGeom prst="rect">
            <a:avLst/>
          </a:prstGeom>
          <a:solidFill>
            <a:srgbClr val="F7F7F7"/>
          </a:solidFill>
          <a:ln w="9525">
            <a:solidFill>
              <a:srgbClr val="B8BCC4"/>
            </a:solidFill>
            <a:prstDash val="solid"/>
          </a:ln>
        </p:spPr>
        <p:txBody>
          <a:bodyPr/>
          <a:lstStyle/>
          <a:p>
            <a:endParaRPr lang="en-DE"/>
          </a:p>
        </p:txBody>
      </p:sp>
      <p:sp>
        <p:nvSpPr>
          <p:cNvPr id="6" name="shape-96">
            <a:extLst>
              <a:ext uri="{FF2B5EF4-FFF2-40B4-BE49-F238E27FC236}">
                <a16:creationId xmlns:a16="http://schemas.microsoft.com/office/drawing/2014/main" id="{FD0CBB29-7D83-4B44-8C59-54AD58F1AB79}"/>
              </a:ext>
            </a:extLst>
          </p:cNvPr>
          <p:cNvSpPr>
            <a:spLocks noGrp="1"/>
          </p:cNvSpPr>
          <p:nvPr/>
        </p:nvSpPr>
        <p:spPr>
          <a:xfrm>
            <a:off x="4314825" y="1771650"/>
            <a:ext cx="3562350" cy="2762250"/>
          </a:xfrm>
          <a:prstGeom prst="rect">
            <a:avLst/>
          </a:prstGeom>
          <a:solidFill>
            <a:srgbClr val="F7F7F7"/>
          </a:solidFill>
          <a:ln w="9525">
            <a:solidFill>
              <a:srgbClr val="B8BCC4"/>
            </a:solidFill>
            <a:prstDash val="solid"/>
          </a:ln>
        </p:spPr>
        <p:txBody>
          <a:bodyPr/>
          <a:lstStyle/>
          <a:p>
            <a:endParaRPr lang="en-DE"/>
          </a:p>
        </p:txBody>
      </p:sp>
      <p:sp>
        <p:nvSpPr>
          <p:cNvPr id="7" name="shape-97">
            <a:extLst>
              <a:ext uri="{FF2B5EF4-FFF2-40B4-BE49-F238E27FC236}">
                <a16:creationId xmlns:a16="http://schemas.microsoft.com/office/drawing/2014/main" id="{C53E62AC-E05A-4174-A4B8-E3780B183FA7}"/>
              </a:ext>
            </a:extLst>
          </p:cNvPr>
          <p:cNvSpPr>
            <a:spLocks noGrp="1"/>
          </p:cNvSpPr>
          <p:nvPr/>
        </p:nvSpPr>
        <p:spPr>
          <a:xfrm>
            <a:off x="8239125" y="1771650"/>
            <a:ext cx="3562350" cy="2762250"/>
          </a:xfrm>
          <a:prstGeom prst="rect">
            <a:avLst/>
          </a:prstGeom>
          <a:solidFill>
            <a:srgbClr val="F7F7F7"/>
          </a:solidFill>
          <a:ln w="9525">
            <a:solidFill>
              <a:srgbClr val="B8BCC4"/>
            </a:solidFill>
            <a:prstDash val="solid"/>
          </a:ln>
        </p:spPr>
        <p:txBody>
          <a:bodyPr/>
          <a:lstStyle/>
          <a:p>
            <a:endParaRPr lang="en-DE"/>
          </a:p>
        </p:txBody>
      </p:sp>
      <p:sp>
        <p:nvSpPr>
          <p:cNvPr id="8" name="text-98">
            <a:extLst>
              <a:ext uri="{FF2B5EF4-FFF2-40B4-BE49-F238E27FC236}">
                <a16:creationId xmlns:a16="http://schemas.microsoft.com/office/drawing/2014/main" id="{0C37BAA3-C96D-441B-9D0A-1AC28205481F}"/>
              </a:ext>
            </a:extLst>
          </p:cNvPr>
          <p:cNvSpPr>
            <a:spLocks noGrp="1"/>
          </p:cNvSpPr>
          <p:nvPr/>
        </p:nvSpPr>
        <p:spPr>
          <a:xfrm>
            <a:off x="666750" y="2152650"/>
            <a:ext cx="3009900" cy="838200"/>
          </a:xfrm>
          <a:prstGeom prst="rect">
            <a:avLst/>
          </a:prstGeom>
        </p:spPr>
        <p:txBody>
          <a:bodyPr wrap="square" lIns="0" tIns="0" rIns="0" bIns="0" anchor="t">
            <a:normAutofit/>
          </a:bodyPr>
          <a:lstStyle/>
          <a:p>
            <a:pPr algn="ctr">
              <a:defRPr sz="4350" b="1">
                <a:solidFill>
                  <a:srgbClr val="3D8DFF"/>
                </a:solidFill>
                <a:latin typeface="Helvetica Neue"/>
                <a:ea typeface="Helvetica Neue"/>
                <a:cs typeface="Helvetica Neue"/>
              </a:defRPr>
            </a:pPr>
            <a:r>
              <a:t>0.53%</a:t>
            </a:r>
          </a:p>
        </p:txBody>
      </p:sp>
      <p:sp>
        <p:nvSpPr>
          <p:cNvPr id="9" name="text-99">
            <a:extLst>
              <a:ext uri="{FF2B5EF4-FFF2-40B4-BE49-F238E27FC236}">
                <a16:creationId xmlns:a16="http://schemas.microsoft.com/office/drawing/2014/main" id="{50792B50-044C-411A-8986-1161B19ECBFC}"/>
              </a:ext>
            </a:extLst>
          </p:cNvPr>
          <p:cNvSpPr>
            <a:spLocks noGrp="1"/>
          </p:cNvSpPr>
          <p:nvPr/>
        </p:nvSpPr>
        <p:spPr>
          <a:xfrm>
            <a:off x="762000" y="3295650"/>
            <a:ext cx="2819400" cy="704850"/>
          </a:xfrm>
          <a:prstGeom prst="rect">
            <a:avLst/>
          </a:prstGeom>
        </p:spPr>
        <p:txBody>
          <a:bodyPr wrap="square" lIns="0" tIns="0" rIns="0" bIns="0" anchor="t">
            <a:normAutofit/>
          </a:bodyPr>
          <a:lstStyle/>
          <a:p>
            <a:pPr algn="ctr">
              <a:defRPr sz="1425" b="0">
                <a:solidFill>
                  <a:srgbClr val="000000"/>
                </a:solidFill>
                <a:latin typeface="Helvetica Neue"/>
                <a:ea typeface="Helvetica Neue"/>
                <a:cs typeface="Helvetica Neue"/>
              </a:defRPr>
            </a:pPr>
            <a:r>
              <a:t>617 supplied records divided by 116,098 Meta actions</a:t>
            </a:r>
          </a:p>
        </p:txBody>
      </p:sp>
      <p:sp>
        <p:nvSpPr>
          <p:cNvPr id="10" name="text-100">
            <a:extLst>
              <a:ext uri="{FF2B5EF4-FFF2-40B4-BE49-F238E27FC236}">
                <a16:creationId xmlns:a16="http://schemas.microsoft.com/office/drawing/2014/main" id="{E2472ECA-DA36-4245-A0A7-7F288BCEB65C}"/>
              </a:ext>
            </a:extLst>
          </p:cNvPr>
          <p:cNvSpPr>
            <a:spLocks noGrp="1"/>
          </p:cNvSpPr>
          <p:nvPr/>
        </p:nvSpPr>
        <p:spPr>
          <a:xfrm>
            <a:off x="4591050" y="2152650"/>
            <a:ext cx="3009900" cy="838200"/>
          </a:xfrm>
          <a:prstGeom prst="rect">
            <a:avLst/>
          </a:prstGeom>
        </p:spPr>
        <p:txBody>
          <a:bodyPr wrap="square" lIns="0" tIns="0" rIns="0" bIns="0" anchor="t">
            <a:normAutofit/>
          </a:bodyPr>
          <a:lstStyle/>
          <a:p>
            <a:pPr algn="ctr">
              <a:defRPr sz="3900" b="1">
                <a:solidFill>
                  <a:srgbClr val="3D8DFF"/>
                </a:solidFill>
                <a:latin typeface="Helvetica Neue"/>
                <a:ea typeface="Helvetica Neue"/>
                <a:cs typeface="Helvetica Neue"/>
              </a:defRPr>
            </a:pPr>
            <a:r>
              <a:t>617 / 617</a:t>
            </a:r>
          </a:p>
        </p:txBody>
      </p:sp>
      <p:sp>
        <p:nvSpPr>
          <p:cNvPr id="11" name="text-101">
            <a:extLst>
              <a:ext uri="{FF2B5EF4-FFF2-40B4-BE49-F238E27FC236}">
                <a16:creationId xmlns:a16="http://schemas.microsoft.com/office/drawing/2014/main" id="{2DC20D12-BE33-420A-A605-2B9243F9F2FC}"/>
              </a:ext>
            </a:extLst>
          </p:cNvPr>
          <p:cNvSpPr>
            <a:spLocks noGrp="1"/>
          </p:cNvSpPr>
          <p:nvPr/>
        </p:nvSpPr>
        <p:spPr>
          <a:xfrm>
            <a:off x="4686300" y="3295650"/>
            <a:ext cx="2819400" cy="704850"/>
          </a:xfrm>
          <a:prstGeom prst="rect">
            <a:avLst/>
          </a:prstGeom>
        </p:spPr>
        <p:txBody>
          <a:bodyPr wrap="square" lIns="0" tIns="0" rIns="0" bIns="0" anchor="t">
            <a:normAutofit/>
          </a:bodyPr>
          <a:lstStyle/>
          <a:p>
            <a:pPr algn="ctr">
              <a:defRPr sz="1425" b="0">
                <a:solidFill>
                  <a:srgbClr val="000000"/>
                </a:solidFill>
                <a:latin typeface="Helvetica Neue"/>
                <a:ea typeface="Helvetica Neue"/>
                <a:cs typeface="Helvetica Neue"/>
              </a:defRPr>
            </a:pPr>
            <a:r>
              <a:t>Every supplied Meta-sourced conversation joins to known hierarchy IDs</a:t>
            </a:r>
          </a:p>
        </p:txBody>
      </p:sp>
      <p:sp>
        <p:nvSpPr>
          <p:cNvPr id="12" name="text-102">
            <a:extLst>
              <a:ext uri="{FF2B5EF4-FFF2-40B4-BE49-F238E27FC236}">
                <a16:creationId xmlns:a16="http://schemas.microsoft.com/office/drawing/2014/main" id="{EC010AF6-BE6F-434C-B75C-E9F7372F360E}"/>
              </a:ext>
            </a:extLst>
          </p:cNvPr>
          <p:cNvSpPr>
            <a:spLocks noGrp="1"/>
          </p:cNvSpPr>
          <p:nvPr/>
        </p:nvSpPr>
        <p:spPr>
          <a:xfrm>
            <a:off x="8515350" y="2152650"/>
            <a:ext cx="3009900" cy="838200"/>
          </a:xfrm>
          <a:prstGeom prst="rect">
            <a:avLst/>
          </a:prstGeom>
        </p:spPr>
        <p:txBody>
          <a:bodyPr wrap="square" lIns="0" tIns="0" rIns="0" bIns="0" anchor="t">
            <a:normAutofit/>
          </a:bodyPr>
          <a:lstStyle/>
          <a:p>
            <a:pPr algn="ctr">
              <a:defRPr sz="3600" b="1">
                <a:solidFill>
                  <a:srgbClr val="3D8DFF"/>
                </a:solidFill>
                <a:latin typeface="Helvetica Neue"/>
                <a:ea typeface="Helvetica Neue"/>
                <a:cs typeface="Helvetica Neue"/>
              </a:defRPr>
            </a:pPr>
            <a:r>
              <a:t>2 definitions</a:t>
            </a:r>
          </a:p>
        </p:txBody>
      </p:sp>
      <p:sp>
        <p:nvSpPr>
          <p:cNvPr id="13" name="text-103">
            <a:extLst>
              <a:ext uri="{FF2B5EF4-FFF2-40B4-BE49-F238E27FC236}">
                <a16:creationId xmlns:a16="http://schemas.microsoft.com/office/drawing/2014/main" id="{FEF57073-107D-4243-9C0F-30B3D6B3FC27}"/>
              </a:ext>
            </a:extLst>
          </p:cNvPr>
          <p:cNvSpPr>
            <a:spLocks noGrp="1"/>
          </p:cNvSpPr>
          <p:nvPr/>
        </p:nvSpPr>
        <p:spPr>
          <a:xfrm>
            <a:off x="8610600" y="3295650"/>
            <a:ext cx="2819400" cy="704850"/>
          </a:xfrm>
          <a:prstGeom prst="rect">
            <a:avLst/>
          </a:prstGeom>
        </p:spPr>
        <p:txBody>
          <a:bodyPr wrap="square" lIns="0" tIns="0" rIns="0" bIns="0" anchor="t">
            <a:normAutofit/>
          </a:bodyPr>
          <a:lstStyle/>
          <a:p>
            <a:pPr algn="ctr">
              <a:defRPr sz="1425" b="0">
                <a:solidFill>
                  <a:srgbClr val="000000"/>
                </a:solidFill>
                <a:latin typeface="Helvetica Neue"/>
                <a:ea typeface="Helvetica Neue"/>
                <a:cs typeface="Helvetica Neue"/>
              </a:defRPr>
            </a:pPr>
            <a:r>
              <a:t>Meta attributed actions and WhatsApp unique records may not be the same population</a:t>
            </a:r>
          </a:p>
        </p:txBody>
      </p:sp>
      <p:sp>
        <p:nvSpPr>
          <p:cNvPr id="14" name="shape-104">
            <a:extLst>
              <a:ext uri="{FF2B5EF4-FFF2-40B4-BE49-F238E27FC236}">
                <a16:creationId xmlns:a16="http://schemas.microsoft.com/office/drawing/2014/main" id="{9CD2FD2F-6E24-4956-81D8-53BA439B1C75}"/>
              </a:ext>
            </a:extLst>
          </p:cNvPr>
          <p:cNvSpPr>
            <a:spLocks noGrp="1"/>
          </p:cNvSpPr>
          <p:nvPr/>
        </p:nvSpPr>
        <p:spPr>
          <a:xfrm>
            <a:off x="390525" y="4953000"/>
            <a:ext cx="11410950" cy="971550"/>
          </a:xfrm>
          <a:prstGeom prst="rect">
            <a:avLst/>
          </a:prstGeom>
          <a:solidFill>
            <a:srgbClr val="F4C27A"/>
          </a:solidFill>
          <a:ln w="9525">
            <a:solidFill>
              <a:srgbClr val="F4C27A"/>
            </a:solidFill>
            <a:prstDash val="solid"/>
          </a:ln>
        </p:spPr>
        <p:txBody>
          <a:bodyPr/>
          <a:lstStyle/>
          <a:p>
            <a:endParaRPr lang="en-DE"/>
          </a:p>
        </p:txBody>
      </p:sp>
      <p:sp>
        <p:nvSpPr>
          <p:cNvPr id="15" name="text-105">
            <a:extLst>
              <a:ext uri="{FF2B5EF4-FFF2-40B4-BE49-F238E27FC236}">
                <a16:creationId xmlns:a16="http://schemas.microsoft.com/office/drawing/2014/main" id="{623A6265-7F21-427A-946B-95387172EAB1}"/>
              </a:ext>
            </a:extLst>
          </p:cNvPr>
          <p:cNvSpPr>
            <a:spLocks noGrp="1"/>
          </p:cNvSpPr>
          <p:nvPr/>
        </p:nvSpPr>
        <p:spPr>
          <a:xfrm>
            <a:off x="723900" y="5219700"/>
            <a:ext cx="10744200" cy="514350"/>
          </a:xfrm>
          <a:prstGeom prst="rect">
            <a:avLst/>
          </a:prstGeom>
        </p:spPr>
        <p:txBody>
          <a:bodyPr wrap="square" lIns="0" tIns="0" rIns="0" bIns="0" anchor="ctr">
            <a:normAutofit fontScale="90000"/>
          </a:bodyPr>
          <a:lstStyle/>
          <a:p>
            <a:pPr algn="ctr">
              <a:defRPr sz="1875" b="1">
                <a:solidFill>
                  <a:srgbClr val="000000"/>
                </a:solidFill>
                <a:latin typeface="Helvetica Neue"/>
                <a:ea typeface="Helvetica Neue"/>
                <a:cs typeface="Helvetica Neue"/>
              </a:defRPr>
            </a:pPr>
            <a:r>
              <a:t>Decision: media analysis remains available; outcome allocation is illustrative and non-operational until reconciliation.</a:t>
            </a:r>
          </a:p>
        </p:txBody>
      </p:sp>
    </p:spTree>
    <p:extLst>
      <p:ext uri="{BB962C8B-B14F-4D97-AF65-F5344CB8AC3E}">
        <p14:creationId xmlns:p14="http://schemas.microsoft.com/office/powerpoint/2010/main" val="1619751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7-title">
            <a:extLst>
              <a:ext uri="{FF2B5EF4-FFF2-40B4-BE49-F238E27FC236}">
                <a16:creationId xmlns:a16="http://schemas.microsoft.com/office/drawing/2014/main" id="{4B448C57-C2F1-4BEA-8E8A-9FFEB19A0FAD}"/>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150" b="1">
                <a:solidFill>
                  <a:srgbClr val="000000"/>
                </a:solidFill>
                <a:latin typeface="Helvetica Neue"/>
                <a:ea typeface="Helvetica Neue"/>
                <a:cs typeface="Helvetica Neue"/>
              </a:defRPr>
            </a:pPr>
            <a:r>
              <a:t>Meta and WhatsApp answer different questions</a:t>
            </a:r>
          </a:p>
        </p:txBody>
      </p:sp>
      <p:cxnSp>
        <p:nvCxnSpPr>
          <p:cNvPr id="8" name="line-112"/>
          <p:cNvCxnSpPr/>
          <p:nvPr/>
        </p:nvCxnSpPr>
        <p:spPr>
          <a:xfrm>
            <a:off x="495300" y="1057275"/>
            <a:ext cx="11296650" cy="9525"/>
          </a:xfrm>
          <a:prstGeom prst="straightConnector1">
            <a:avLst/>
          </a:prstGeom>
          <a:ln w="9525">
            <a:solidFill>
              <a:srgbClr val="B8BCC4"/>
            </a:solidFill>
            <a:prstDash val="solid"/>
          </a:ln>
        </p:spPr>
      </p:cxnSp>
      <p:sp>
        <p:nvSpPr>
          <p:cNvPr id="3" name="slide-7-source">
            <a:extLst>
              <a:ext uri="{FF2B5EF4-FFF2-40B4-BE49-F238E27FC236}">
                <a16:creationId xmlns:a16="http://schemas.microsoft.com/office/drawing/2014/main" id="{891B388A-2911-4B7D-91DE-4866F04B78AA}"/>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 KPI definitions; Sample 2 methodology</a:t>
            </a:r>
          </a:p>
        </p:txBody>
      </p:sp>
      <p:sp>
        <p:nvSpPr>
          <p:cNvPr id="4" name="slide-7-number">
            <a:extLst>
              <a:ext uri="{FF2B5EF4-FFF2-40B4-BE49-F238E27FC236}">
                <a16:creationId xmlns:a16="http://schemas.microsoft.com/office/drawing/2014/main" id="{C13DD481-5756-4C79-9411-0D4E165D09C4}"/>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07</a:t>
            </a:r>
          </a:p>
        </p:txBody>
      </p:sp>
      <p:sp>
        <p:nvSpPr>
          <p:cNvPr id="5" name="text-110">
            <a:extLst>
              <a:ext uri="{FF2B5EF4-FFF2-40B4-BE49-F238E27FC236}">
                <a16:creationId xmlns:a16="http://schemas.microsoft.com/office/drawing/2014/main" id="{8C105EA6-D0BD-4FCD-82D5-B3442BD6D2CD}"/>
              </a:ext>
            </a:extLst>
          </p:cNvPr>
          <p:cNvSpPr>
            <a:spLocks noGrp="1"/>
          </p:cNvSpPr>
          <p:nvPr/>
        </p:nvSpPr>
        <p:spPr>
          <a:xfrm>
            <a:off x="390525" y="1219200"/>
            <a:ext cx="11410950" cy="361950"/>
          </a:xfrm>
          <a:prstGeom prst="rect">
            <a:avLst/>
          </a:prstGeom>
        </p:spPr>
        <p:txBody>
          <a:bodyPr wrap="square" lIns="0" tIns="0" rIns="0" bIns="0" anchor="t">
            <a:normAutofit/>
          </a:bodyPr>
          <a:lstStyle/>
          <a:p>
            <a:pPr algn="l">
              <a:defRPr sz="1650" b="1">
                <a:solidFill>
                  <a:srgbClr val="3D8DFF"/>
                </a:solidFill>
                <a:latin typeface="Helvetica Neue"/>
                <a:ea typeface="Helvetica Neue"/>
                <a:cs typeface="Helvetica Neue"/>
              </a:defRPr>
            </a:pPr>
            <a:r>
              <a:t>Ratios are recomputed from totals; daily ratios are never averaged.</a:t>
            </a:r>
          </a:p>
        </p:txBody>
      </p:sp>
      <p:graphicFrame>
        <p:nvGraphicFramePr>
          <p:cNvPr id="12" name="Table 11"/>
          <p:cNvGraphicFramePr/>
          <p:nvPr/>
        </p:nvGraphicFramePr>
        <p:xfrm>
          <a:off x="390525" y="1790700"/>
          <a:ext cx="11410950" cy="4210050"/>
        </p:xfrm>
        <a:graphic>
          <a:graphicData uri="http://schemas.openxmlformats.org/drawingml/2006/table">
            <a:tbl>
              <a:tblPr firstRow="1" bandRow="1"/>
              <a:tblGrid>
                <a:gridCol w="18097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5695950">
                  <a:extLst>
                    <a:ext uri="{9D8B030D-6E8A-4147-A177-3AD203B41FA5}">
                      <a16:colId xmlns:a16="http://schemas.microsoft.com/office/drawing/2014/main" val="20003"/>
                    </a:ext>
                  </a:extLst>
                </a:gridCol>
              </a:tblGrid>
              <a:tr h="601436">
                <a:tc>
                  <a:txBody>
                    <a:bodyPr/>
                    <a:lstStyle/>
                    <a:p>
                      <a:r>
                        <a:rPr sz="1275" b="1">
                          <a:solidFill>
                            <a:srgbClr val="FFFFFF"/>
                          </a:solidFill>
                        </a:rPr>
                        <a:t>Metric</a:t>
                      </a:r>
                    </a:p>
                  </a:txBody>
                  <a:tcPr marL="66675" marR="66675" marT="47625" marB="47625">
                    <a:solidFill>
                      <a:srgbClr val="000000"/>
                    </a:solidFill>
                  </a:tcPr>
                </a:tc>
                <a:tc>
                  <a:txBody>
                    <a:bodyPr/>
                    <a:lstStyle/>
                    <a:p>
                      <a:r>
                        <a:rPr sz="1275" b="1">
                          <a:solidFill>
                            <a:srgbClr val="FFFFFF"/>
                          </a:solidFill>
                        </a:rPr>
                        <a:t>Formula</a:t>
                      </a:r>
                    </a:p>
                  </a:txBody>
                  <a:tcPr marL="66675" marR="66675" marT="47625" marB="47625">
                    <a:solidFill>
                      <a:srgbClr val="000000"/>
                    </a:solidFill>
                  </a:tcPr>
                </a:tc>
                <a:tc>
                  <a:txBody>
                    <a:bodyPr/>
                    <a:lstStyle/>
                    <a:p>
                      <a:r>
                        <a:rPr sz="1275" b="1">
                          <a:solidFill>
                            <a:srgbClr val="FFFFFF"/>
                          </a:solidFill>
                        </a:rPr>
                        <a:t>Data source</a:t>
                      </a:r>
                    </a:p>
                  </a:txBody>
                  <a:tcPr marL="66675" marR="66675" marT="47625" marB="47625">
                    <a:solidFill>
                      <a:srgbClr val="000000"/>
                    </a:solidFill>
                  </a:tcPr>
                </a:tc>
                <a:tc>
                  <a:txBody>
                    <a:bodyPr/>
                    <a:lstStyle/>
                    <a:p>
                      <a:r>
                        <a:rPr sz="1275" b="1">
                          <a:solidFill>
                            <a:srgbClr val="FFFFFF"/>
                          </a:solidFill>
                        </a:rPr>
                        <a:t>Question answered</a:t>
                      </a:r>
                    </a:p>
                  </a:txBody>
                  <a:tcPr marL="66675" marR="66675" marT="47625" marB="47625">
                    <a:solidFill>
                      <a:srgbClr val="000000"/>
                    </a:solidFill>
                  </a:tcPr>
                </a:tc>
                <a:extLst>
                  <a:ext uri="{0D108BD9-81ED-4DB2-BD59-A6C34878D82A}">
                    <a16:rowId xmlns:a16="http://schemas.microsoft.com/office/drawing/2014/main" val="10000"/>
                  </a:ext>
                </a:extLst>
              </a:tr>
              <a:tr h="601436">
                <a:tc>
                  <a:txBody>
                    <a:bodyPr/>
                    <a:lstStyle/>
                    <a:p>
                      <a:r>
                        <a:rPr sz="1275">
                          <a:solidFill>
                            <a:srgbClr val="000000"/>
                          </a:solidFill>
                        </a:rPr>
                        <a:t>Link CTR</a:t>
                      </a:r>
                    </a:p>
                  </a:txBody>
                  <a:tcPr marL="66675" marR="66675" marT="47625" marB="47625"/>
                </a:tc>
                <a:tc>
                  <a:txBody>
                    <a:bodyPr/>
                    <a:lstStyle/>
                    <a:p>
                      <a:r>
                        <a:rPr sz="1275">
                          <a:solidFill>
                            <a:srgbClr val="000000"/>
                          </a:solidFill>
                        </a:rPr>
                        <a:t>Link clicks / impressions</a:t>
                      </a:r>
                    </a:p>
                  </a:txBody>
                  <a:tcPr marL="66675" marR="66675" marT="47625" marB="47625"/>
                </a:tc>
                <a:tc>
                  <a:txBody>
                    <a:bodyPr/>
                    <a:lstStyle/>
                    <a:p>
                      <a:r>
                        <a:rPr sz="1275">
                          <a:solidFill>
                            <a:srgbClr val="000000"/>
                          </a:solidFill>
                        </a:rPr>
                        <a:t>Meta</a:t>
                      </a:r>
                    </a:p>
                  </a:txBody>
                  <a:tcPr marL="66675" marR="66675" marT="47625" marB="47625"/>
                </a:tc>
                <a:tc>
                  <a:txBody>
                    <a:bodyPr/>
                    <a:lstStyle/>
                    <a:p>
                      <a:r>
                        <a:rPr sz="1275">
                          <a:solidFill>
                            <a:srgbClr val="000000"/>
                          </a:solidFill>
                        </a:rPr>
                        <a:t>Did the ad attract clicks?</a:t>
                      </a:r>
                    </a:p>
                  </a:txBody>
                  <a:tcPr marL="66675" marR="66675" marT="47625" marB="47625"/>
                </a:tc>
                <a:extLst>
                  <a:ext uri="{0D108BD9-81ED-4DB2-BD59-A6C34878D82A}">
                    <a16:rowId xmlns:a16="http://schemas.microsoft.com/office/drawing/2014/main" val="10001"/>
                  </a:ext>
                </a:extLst>
              </a:tr>
              <a:tr h="601436">
                <a:tc>
                  <a:txBody>
                    <a:bodyPr/>
                    <a:lstStyle/>
                    <a:p>
                      <a:r>
                        <a:rPr sz="1275">
                          <a:solidFill>
                            <a:srgbClr val="000000"/>
                          </a:solidFill>
                        </a:rPr>
                        <a:t>CPM</a:t>
                      </a:r>
                    </a:p>
                  </a:txBody>
                  <a:tcPr marL="66675" marR="66675" marT="47625" marB="47625"/>
                </a:tc>
                <a:tc>
                  <a:txBody>
                    <a:bodyPr/>
                    <a:lstStyle/>
                    <a:p>
                      <a:r>
                        <a:rPr sz="1275">
                          <a:solidFill>
                            <a:srgbClr val="000000"/>
                          </a:solidFill>
                        </a:rPr>
                        <a:t>Spend / impressions x 1,000</a:t>
                      </a:r>
                    </a:p>
                  </a:txBody>
                  <a:tcPr marL="66675" marR="66675" marT="47625" marB="47625"/>
                </a:tc>
                <a:tc>
                  <a:txBody>
                    <a:bodyPr/>
                    <a:lstStyle/>
                    <a:p>
                      <a:r>
                        <a:rPr sz="1275">
                          <a:solidFill>
                            <a:srgbClr val="000000"/>
                          </a:solidFill>
                        </a:rPr>
                        <a:t>Meta</a:t>
                      </a:r>
                    </a:p>
                  </a:txBody>
                  <a:tcPr marL="66675" marR="66675" marT="47625" marB="47625"/>
                </a:tc>
                <a:tc>
                  <a:txBody>
                    <a:bodyPr/>
                    <a:lstStyle/>
                    <a:p>
                      <a:r>
                        <a:rPr sz="1275">
                          <a:solidFill>
                            <a:srgbClr val="000000"/>
                          </a:solidFill>
                        </a:rPr>
                        <a:t>What did visibility cost?</a:t>
                      </a:r>
                    </a:p>
                  </a:txBody>
                  <a:tcPr marL="66675" marR="66675" marT="47625" marB="47625"/>
                </a:tc>
                <a:extLst>
                  <a:ext uri="{0D108BD9-81ED-4DB2-BD59-A6C34878D82A}">
                    <a16:rowId xmlns:a16="http://schemas.microsoft.com/office/drawing/2014/main" val="10002"/>
                  </a:ext>
                </a:extLst>
              </a:tr>
              <a:tr h="601436">
                <a:tc>
                  <a:txBody>
                    <a:bodyPr/>
                    <a:lstStyle/>
                    <a:p>
                      <a:r>
                        <a:rPr sz="1275">
                          <a:solidFill>
                            <a:srgbClr val="000000"/>
                          </a:solidFill>
                        </a:rPr>
                        <a:t>Cost / Meta conversation</a:t>
                      </a:r>
                    </a:p>
                  </a:txBody>
                  <a:tcPr marL="66675" marR="66675" marT="47625" marB="47625"/>
                </a:tc>
                <a:tc>
                  <a:txBody>
                    <a:bodyPr/>
                    <a:lstStyle/>
                    <a:p>
                      <a:r>
                        <a:rPr sz="1275">
                          <a:solidFill>
                            <a:srgbClr val="000000"/>
                          </a:solidFill>
                        </a:rPr>
                        <a:t>Spend / Meta starts</a:t>
                      </a:r>
                    </a:p>
                  </a:txBody>
                  <a:tcPr marL="66675" marR="66675" marT="47625" marB="47625"/>
                </a:tc>
                <a:tc>
                  <a:txBody>
                    <a:bodyPr/>
                    <a:lstStyle/>
                    <a:p>
                      <a:r>
                        <a:rPr sz="1275">
                          <a:solidFill>
                            <a:srgbClr val="000000"/>
                          </a:solidFill>
                        </a:rPr>
                        <a:t>Meta</a:t>
                      </a:r>
                    </a:p>
                  </a:txBody>
                  <a:tcPr marL="66675" marR="66675" marT="47625" marB="47625"/>
                </a:tc>
                <a:tc>
                  <a:txBody>
                    <a:bodyPr/>
                    <a:lstStyle/>
                    <a:p>
                      <a:r>
                        <a:rPr sz="1275">
                          <a:solidFill>
                            <a:srgbClr val="000000"/>
                          </a:solidFill>
                        </a:rPr>
                        <a:t>What did attributed response cost?</a:t>
                      </a:r>
                    </a:p>
                  </a:txBody>
                  <a:tcPr marL="66675" marR="66675" marT="47625" marB="47625"/>
                </a:tc>
                <a:extLst>
                  <a:ext uri="{0D108BD9-81ED-4DB2-BD59-A6C34878D82A}">
                    <a16:rowId xmlns:a16="http://schemas.microsoft.com/office/drawing/2014/main" val="10003"/>
                  </a:ext>
                </a:extLst>
              </a:tr>
              <a:tr h="601436">
                <a:tc>
                  <a:txBody>
                    <a:bodyPr/>
                    <a:lstStyle/>
                    <a:p>
                      <a:r>
                        <a:rPr sz="1275">
                          <a:solidFill>
                            <a:srgbClr val="000000"/>
                          </a:solidFill>
                        </a:rPr>
                        <a:t>Delivered rate</a:t>
                      </a:r>
                    </a:p>
                  </a:txBody>
                  <a:tcPr marL="66675" marR="66675" marT="47625" marB="47625"/>
                </a:tc>
                <a:tc>
                  <a:txBody>
                    <a:bodyPr/>
                    <a:lstStyle/>
                    <a:p>
                      <a:r>
                        <a:rPr sz="1275">
                          <a:solidFill>
                            <a:srgbClr val="000000"/>
                          </a:solidFill>
                        </a:rPr>
                        <a:t>Delivered orders / observed conversations</a:t>
                      </a:r>
                    </a:p>
                  </a:txBody>
                  <a:tcPr marL="66675" marR="66675" marT="47625" marB="47625"/>
                </a:tc>
                <a:tc>
                  <a:txBody>
                    <a:bodyPr/>
                    <a:lstStyle/>
                    <a:p>
                      <a:r>
                        <a:rPr sz="1275">
                          <a:solidFill>
                            <a:srgbClr val="000000"/>
                          </a:solidFill>
                        </a:rPr>
                        <a:t>WhatsApp</a:t>
                      </a:r>
                    </a:p>
                  </a:txBody>
                  <a:tcPr marL="66675" marR="66675" marT="47625" marB="47625"/>
                </a:tc>
                <a:tc>
                  <a:txBody>
                    <a:bodyPr/>
                    <a:lstStyle/>
                    <a:p>
                      <a:r>
                        <a:rPr sz="1275">
                          <a:solidFill>
                            <a:srgbClr val="000000"/>
                          </a:solidFill>
                        </a:rPr>
                        <a:t>Did conversations become fulfilled orders?</a:t>
                      </a:r>
                    </a:p>
                  </a:txBody>
                  <a:tcPr marL="66675" marR="66675" marT="47625" marB="47625"/>
                </a:tc>
                <a:extLst>
                  <a:ext uri="{0D108BD9-81ED-4DB2-BD59-A6C34878D82A}">
                    <a16:rowId xmlns:a16="http://schemas.microsoft.com/office/drawing/2014/main" val="10004"/>
                  </a:ext>
                </a:extLst>
              </a:tr>
              <a:tr h="601436">
                <a:tc>
                  <a:txBody>
                    <a:bodyPr/>
                    <a:lstStyle/>
                    <a:p>
                      <a:r>
                        <a:rPr sz="1275">
                          <a:solidFill>
                            <a:srgbClr val="000000"/>
                          </a:solidFill>
                        </a:rPr>
                        <a:t>AOV</a:t>
                      </a:r>
                    </a:p>
                  </a:txBody>
                  <a:tcPr marL="66675" marR="66675" marT="47625" marB="47625"/>
                </a:tc>
                <a:tc>
                  <a:txBody>
                    <a:bodyPr/>
                    <a:lstStyle/>
                    <a:p>
                      <a:r>
                        <a:rPr sz="1275">
                          <a:solidFill>
                            <a:srgbClr val="000000"/>
                          </a:solidFill>
                        </a:rPr>
                        <a:t>Delivered revenue / delivered orders</a:t>
                      </a:r>
                    </a:p>
                  </a:txBody>
                  <a:tcPr marL="66675" marR="66675" marT="47625" marB="47625"/>
                </a:tc>
                <a:tc>
                  <a:txBody>
                    <a:bodyPr/>
                    <a:lstStyle/>
                    <a:p>
                      <a:r>
                        <a:rPr sz="1275">
                          <a:solidFill>
                            <a:srgbClr val="000000"/>
                          </a:solidFill>
                        </a:rPr>
                        <a:t>WhatsApp</a:t>
                      </a:r>
                    </a:p>
                  </a:txBody>
                  <a:tcPr marL="66675" marR="66675" marT="47625" marB="47625"/>
                </a:tc>
                <a:tc>
                  <a:txBody>
                    <a:bodyPr/>
                    <a:lstStyle/>
                    <a:p>
                      <a:r>
                        <a:rPr sz="1275">
                          <a:solidFill>
                            <a:srgbClr val="000000"/>
                          </a:solidFill>
                        </a:rPr>
                        <a:t>How valuable was an average delivered order?</a:t>
                      </a:r>
                    </a:p>
                  </a:txBody>
                  <a:tcPr marL="66675" marR="66675" marT="47625" marB="47625"/>
                </a:tc>
                <a:extLst>
                  <a:ext uri="{0D108BD9-81ED-4DB2-BD59-A6C34878D82A}">
                    <a16:rowId xmlns:a16="http://schemas.microsoft.com/office/drawing/2014/main" val="10005"/>
                  </a:ext>
                </a:extLst>
              </a:tr>
              <a:tr h="601436">
                <a:tc>
                  <a:txBody>
                    <a:bodyPr/>
                    <a:lstStyle/>
                    <a:p>
                      <a:r>
                        <a:rPr sz="1275">
                          <a:solidFill>
                            <a:srgbClr val="000000"/>
                          </a:solidFill>
                        </a:rPr>
                        <a:t>Net ROAS</a:t>
                      </a:r>
                    </a:p>
                  </a:txBody>
                  <a:tcPr marL="66675" marR="66675" marT="47625" marB="47625"/>
                </a:tc>
                <a:tc>
                  <a:txBody>
                    <a:bodyPr/>
                    <a:lstStyle/>
                    <a:p>
                      <a:r>
                        <a:rPr sz="1275">
                          <a:solidFill>
                            <a:srgbClr val="000000"/>
                          </a:solidFill>
                        </a:rPr>
                        <a:t>Observed net revenue / spend</a:t>
                      </a:r>
                    </a:p>
                  </a:txBody>
                  <a:tcPr marL="66675" marR="66675" marT="47625" marB="47625"/>
                </a:tc>
                <a:tc>
                  <a:txBody>
                    <a:bodyPr/>
                    <a:lstStyle/>
                    <a:p>
                      <a:r>
                        <a:rPr sz="1275">
                          <a:solidFill>
                            <a:srgbClr val="000000"/>
                          </a:solidFill>
                        </a:rPr>
                        <a:t>Both</a:t>
                      </a:r>
                    </a:p>
                  </a:txBody>
                  <a:tcPr marL="66675" marR="66675" marT="47625" marB="47625"/>
                </a:tc>
                <a:tc>
                  <a:txBody>
                    <a:bodyPr/>
                    <a:lstStyle/>
                    <a:p>
                      <a:r>
                        <a:rPr sz="1275">
                          <a:solidFill>
                            <a:srgbClr val="000000"/>
                          </a:solidFill>
                        </a:rPr>
                        <a:t>How much observed revenue returned per ad-spend unit?</a:t>
                      </a:r>
                    </a:p>
                  </a:txBody>
                  <a:tcPr marL="66675" marR="66675" marT="47625" marB="47625"/>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2552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lide-8-title">
            <a:extLst>
              <a:ext uri="{FF2B5EF4-FFF2-40B4-BE49-F238E27FC236}">
                <a16:creationId xmlns:a16="http://schemas.microsoft.com/office/drawing/2014/main" id="{61027531-1B4D-4157-AB1B-E3C4B6B4E61C}"/>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Six terms unlock the scorecard</a:t>
            </a:r>
          </a:p>
        </p:txBody>
      </p:sp>
      <p:cxnSp>
        <p:nvCxnSpPr>
          <p:cNvPr id="24" name="line-134"/>
          <p:cNvCxnSpPr/>
          <p:nvPr/>
        </p:nvCxnSpPr>
        <p:spPr>
          <a:xfrm>
            <a:off x="495300" y="1057275"/>
            <a:ext cx="11296650" cy="9525"/>
          </a:xfrm>
          <a:prstGeom prst="straightConnector1">
            <a:avLst/>
          </a:prstGeom>
          <a:ln w="9525">
            <a:solidFill>
              <a:srgbClr val="B8BCC4"/>
            </a:solidFill>
            <a:prstDash val="solid"/>
          </a:ln>
        </p:spPr>
      </p:cxnSp>
      <p:sp>
        <p:nvSpPr>
          <p:cNvPr id="3" name="slide-8-source">
            <a:extLst>
              <a:ext uri="{FF2B5EF4-FFF2-40B4-BE49-F238E27FC236}">
                <a16:creationId xmlns:a16="http://schemas.microsoft.com/office/drawing/2014/main" id="{9711E96D-6096-4422-BA18-9C2968335890}"/>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 business glossary</a:t>
            </a:r>
          </a:p>
        </p:txBody>
      </p:sp>
      <p:sp>
        <p:nvSpPr>
          <p:cNvPr id="4" name="slide-8-number">
            <a:extLst>
              <a:ext uri="{FF2B5EF4-FFF2-40B4-BE49-F238E27FC236}">
                <a16:creationId xmlns:a16="http://schemas.microsoft.com/office/drawing/2014/main" id="{4952B9CE-C7B7-43BD-BF8A-0132794CD3CC}"/>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08</a:t>
            </a:r>
          </a:p>
        </p:txBody>
      </p:sp>
      <p:sp>
        <p:nvSpPr>
          <p:cNvPr id="5" name="shape-115">
            <a:extLst>
              <a:ext uri="{FF2B5EF4-FFF2-40B4-BE49-F238E27FC236}">
                <a16:creationId xmlns:a16="http://schemas.microsoft.com/office/drawing/2014/main" id="{32CE78BC-BA52-4619-AE94-8728CB41E192}"/>
              </a:ext>
            </a:extLst>
          </p:cNvPr>
          <p:cNvSpPr>
            <a:spLocks noGrp="1"/>
          </p:cNvSpPr>
          <p:nvPr/>
        </p:nvSpPr>
        <p:spPr>
          <a:xfrm>
            <a:off x="390525" y="1619250"/>
            <a:ext cx="3562350" cy="1809750"/>
          </a:xfrm>
          <a:prstGeom prst="rect">
            <a:avLst/>
          </a:prstGeom>
          <a:solidFill>
            <a:srgbClr val="F7F7F7"/>
          </a:solidFill>
          <a:ln w="9525">
            <a:solidFill>
              <a:srgbClr val="B8BCC4"/>
            </a:solidFill>
            <a:prstDash val="solid"/>
          </a:ln>
        </p:spPr>
        <p:txBody>
          <a:bodyPr/>
          <a:lstStyle/>
          <a:p>
            <a:endParaRPr lang="en-DE"/>
          </a:p>
        </p:txBody>
      </p:sp>
      <p:sp>
        <p:nvSpPr>
          <p:cNvPr id="6" name="text-116">
            <a:extLst>
              <a:ext uri="{FF2B5EF4-FFF2-40B4-BE49-F238E27FC236}">
                <a16:creationId xmlns:a16="http://schemas.microsoft.com/office/drawing/2014/main" id="{CE8A7638-EAB3-45A1-8117-AD06A85FBB86}"/>
              </a:ext>
            </a:extLst>
          </p:cNvPr>
          <p:cNvSpPr>
            <a:spLocks noGrp="1"/>
          </p:cNvSpPr>
          <p:nvPr/>
        </p:nvSpPr>
        <p:spPr>
          <a:xfrm>
            <a:off x="657225" y="1866900"/>
            <a:ext cx="3028950" cy="400050"/>
          </a:xfrm>
          <a:prstGeom prst="rect">
            <a:avLst/>
          </a:prstGeom>
        </p:spPr>
        <p:txBody>
          <a:bodyPr wrap="square" lIns="0" tIns="0" rIns="0" bIns="0" anchor="t">
            <a:normAutofit/>
          </a:bodyPr>
          <a:lstStyle/>
          <a:p>
            <a:pPr algn="l">
              <a:defRPr sz="2175" b="1">
                <a:solidFill>
                  <a:srgbClr val="3D8DFF"/>
                </a:solidFill>
                <a:latin typeface="Helvetica Neue"/>
                <a:ea typeface="Helvetica Neue"/>
                <a:cs typeface="Helvetica Neue"/>
              </a:defRPr>
            </a:pPr>
            <a:r>
              <a:t>CTR</a:t>
            </a:r>
          </a:p>
        </p:txBody>
      </p:sp>
      <p:sp>
        <p:nvSpPr>
          <p:cNvPr id="7" name="text-117">
            <a:extLst>
              <a:ext uri="{FF2B5EF4-FFF2-40B4-BE49-F238E27FC236}">
                <a16:creationId xmlns:a16="http://schemas.microsoft.com/office/drawing/2014/main" id="{CA4F3D32-1C54-43F7-B97C-CDBC2271AE2E}"/>
              </a:ext>
            </a:extLst>
          </p:cNvPr>
          <p:cNvSpPr>
            <a:spLocks noGrp="1"/>
          </p:cNvSpPr>
          <p:nvPr/>
        </p:nvSpPr>
        <p:spPr>
          <a:xfrm>
            <a:off x="657225" y="2400300"/>
            <a:ext cx="3028950" cy="800100"/>
          </a:xfrm>
          <a:prstGeom prst="rect">
            <a:avLst/>
          </a:prstGeom>
        </p:spPr>
        <p:txBody>
          <a:bodyPr wrap="square" lIns="0" tIns="0" rIns="0" bIns="0" anchor="t">
            <a:normAutofit/>
          </a:bodyPr>
          <a:lstStyle/>
          <a:p>
            <a:pPr algn="l">
              <a:defRPr sz="1425" b="0">
                <a:solidFill>
                  <a:srgbClr val="5F6368"/>
                </a:solidFill>
                <a:latin typeface="Helvetica Neue"/>
                <a:ea typeface="Helvetica Neue"/>
                <a:cs typeface="Helvetica Neue"/>
              </a:defRPr>
            </a:pPr>
            <a:r>
              <a:t>Click-through rate. The share of impressions that produced a link click.</a:t>
            </a:r>
          </a:p>
        </p:txBody>
      </p:sp>
      <p:sp>
        <p:nvSpPr>
          <p:cNvPr id="8" name="shape-118">
            <a:extLst>
              <a:ext uri="{FF2B5EF4-FFF2-40B4-BE49-F238E27FC236}">
                <a16:creationId xmlns:a16="http://schemas.microsoft.com/office/drawing/2014/main" id="{DE417C53-E1B3-4D75-9B9C-931F69ECC0BC}"/>
              </a:ext>
            </a:extLst>
          </p:cNvPr>
          <p:cNvSpPr>
            <a:spLocks noGrp="1"/>
          </p:cNvSpPr>
          <p:nvPr/>
        </p:nvSpPr>
        <p:spPr>
          <a:xfrm>
            <a:off x="4314825" y="1619250"/>
            <a:ext cx="3562350" cy="1809750"/>
          </a:xfrm>
          <a:prstGeom prst="rect">
            <a:avLst/>
          </a:prstGeom>
          <a:solidFill>
            <a:srgbClr val="F7F7F7"/>
          </a:solidFill>
          <a:ln w="9525">
            <a:solidFill>
              <a:srgbClr val="B8BCC4"/>
            </a:solidFill>
            <a:prstDash val="solid"/>
          </a:ln>
        </p:spPr>
        <p:txBody>
          <a:bodyPr/>
          <a:lstStyle/>
          <a:p>
            <a:endParaRPr lang="en-DE"/>
          </a:p>
        </p:txBody>
      </p:sp>
      <p:sp>
        <p:nvSpPr>
          <p:cNvPr id="9" name="text-119">
            <a:extLst>
              <a:ext uri="{FF2B5EF4-FFF2-40B4-BE49-F238E27FC236}">
                <a16:creationId xmlns:a16="http://schemas.microsoft.com/office/drawing/2014/main" id="{AE3BBAFD-D26D-4F97-89A5-C39325259452}"/>
              </a:ext>
            </a:extLst>
          </p:cNvPr>
          <p:cNvSpPr>
            <a:spLocks noGrp="1"/>
          </p:cNvSpPr>
          <p:nvPr/>
        </p:nvSpPr>
        <p:spPr>
          <a:xfrm>
            <a:off x="4581525" y="1866900"/>
            <a:ext cx="3028950" cy="400050"/>
          </a:xfrm>
          <a:prstGeom prst="rect">
            <a:avLst/>
          </a:prstGeom>
        </p:spPr>
        <p:txBody>
          <a:bodyPr wrap="square" lIns="0" tIns="0" rIns="0" bIns="0" anchor="t">
            <a:normAutofit/>
          </a:bodyPr>
          <a:lstStyle/>
          <a:p>
            <a:pPr algn="l">
              <a:defRPr sz="2175" b="1">
                <a:solidFill>
                  <a:srgbClr val="3D8DFF"/>
                </a:solidFill>
                <a:latin typeface="Helvetica Neue"/>
                <a:ea typeface="Helvetica Neue"/>
                <a:cs typeface="Helvetica Neue"/>
              </a:defRPr>
            </a:pPr>
            <a:r>
              <a:t>CPM</a:t>
            </a:r>
          </a:p>
        </p:txBody>
      </p:sp>
      <p:sp>
        <p:nvSpPr>
          <p:cNvPr id="10" name="text-120">
            <a:extLst>
              <a:ext uri="{FF2B5EF4-FFF2-40B4-BE49-F238E27FC236}">
                <a16:creationId xmlns:a16="http://schemas.microsoft.com/office/drawing/2014/main" id="{BD1CB4DF-8482-405B-B45D-3F71A90984A9}"/>
              </a:ext>
            </a:extLst>
          </p:cNvPr>
          <p:cNvSpPr>
            <a:spLocks noGrp="1"/>
          </p:cNvSpPr>
          <p:nvPr/>
        </p:nvSpPr>
        <p:spPr>
          <a:xfrm>
            <a:off x="4581525" y="2400300"/>
            <a:ext cx="3028950" cy="800100"/>
          </a:xfrm>
          <a:prstGeom prst="rect">
            <a:avLst/>
          </a:prstGeom>
        </p:spPr>
        <p:txBody>
          <a:bodyPr wrap="square" lIns="0" tIns="0" rIns="0" bIns="0" anchor="t">
            <a:normAutofit/>
          </a:bodyPr>
          <a:lstStyle/>
          <a:p>
            <a:pPr algn="l">
              <a:defRPr sz="1425" b="0">
                <a:solidFill>
                  <a:srgbClr val="5F6368"/>
                </a:solidFill>
                <a:latin typeface="Helvetica Neue"/>
                <a:ea typeface="Helvetica Neue"/>
                <a:cs typeface="Helvetica Neue"/>
              </a:defRPr>
            </a:pPr>
            <a:r>
              <a:t>Cost per 1,000 impressions. A standard measure of media delivery cost.</a:t>
            </a:r>
          </a:p>
        </p:txBody>
      </p:sp>
      <p:sp>
        <p:nvSpPr>
          <p:cNvPr id="11" name="shape-121">
            <a:extLst>
              <a:ext uri="{FF2B5EF4-FFF2-40B4-BE49-F238E27FC236}">
                <a16:creationId xmlns:a16="http://schemas.microsoft.com/office/drawing/2014/main" id="{2226872E-BE07-4FDD-BED3-3E44BA51348C}"/>
              </a:ext>
            </a:extLst>
          </p:cNvPr>
          <p:cNvSpPr>
            <a:spLocks noGrp="1"/>
          </p:cNvSpPr>
          <p:nvPr/>
        </p:nvSpPr>
        <p:spPr>
          <a:xfrm>
            <a:off x="8239125" y="1619250"/>
            <a:ext cx="3562350" cy="1809750"/>
          </a:xfrm>
          <a:prstGeom prst="rect">
            <a:avLst/>
          </a:prstGeom>
          <a:solidFill>
            <a:srgbClr val="F7F7F7"/>
          </a:solidFill>
          <a:ln w="9525">
            <a:solidFill>
              <a:srgbClr val="B8BCC4"/>
            </a:solidFill>
            <a:prstDash val="solid"/>
          </a:ln>
        </p:spPr>
        <p:txBody>
          <a:bodyPr/>
          <a:lstStyle/>
          <a:p>
            <a:endParaRPr lang="en-DE"/>
          </a:p>
        </p:txBody>
      </p:sp>
      <p:sp>
        <p:nvSpPr>
          <p:cNvPr id="12" name="text-122">
            <a:extLst>
              <a:ext uri="{FF2B5EF4-FFF2-40B4-BE49-F238E27FC236}">
                <a16:creationId xmlns:a16="http://schemas.microsoft.com/office/drawing/2014/main" id="{6A27890E-147E-4C25-AAB4-4AE68C067810}"/>
              </a:ext>
            </a:extLst>
          </p:cNvPr>
          <p:cNvSpPr>
            <a:spLocks noGrp="1"/>
          </p:cNvSpPr>
          <p:nvPr/>
        </p:nvSpPr>
        <p:spPr>
          <a:xfrm>
            <a:off x="8505825" y="1866900"/>
            <a:ext cx="3028950" cy="400050"/>
          </a:xfrm>
          <a:prstGeom prst="rect">
            <a:avLst/>
          </a:prstGeom>
        </p:spPr>
        <p:txBody>
          <a:bodyPr wrap="square" lIns="0" tIns="0" rIns="0" bIns="0" anchor="t">
            <a:normAutofit/>
          </a:bodyPr>
          <a:lstStyle/>
          <a:p>
            <a:pPr algn="l">
              <a:defRPr sz="2175" b="1">
                <a:solidFill>
                  <a:srgbClr val="3D8DFF"/>
                </a:solidFill>
                <a:latin typeface="Helvetica Neue"/>
                <a:ea typeface="Helvetica Neue"/>
                <a:cs typeface="Helvetica Neue"/>
              </a:defRPr>
            </a:pPr>
            <a:r>
              <a:t>Conversion</a:t>
            </a:r>
          </a:p>
        </p:txBody>
      </p:sp>
      <p:sp>
        <p:nvSpPr>
          <p:cNvPr id="13" name="text-123">
            <a:extLst>
              <a:ext uri="{FF2B5EF4-FFF2-40B4-BE49-F238E27FC236}">
                <a16:creationId xmlns:a16="http://schemas.microsoft.com/office/drawing/2014/main" id="{D1839F0A-709F-459C-BDB1-E4606338A8A8}"/>
              </a:ext>
            </a:extLst>
          </p:cNvPr>
          <p:cNvSpPr>
            <a:spLocks noGrp="1"/>
          </p:cNvSpPr>
          <p:nvPr/>
        </p:nvSpPr>
        <p:spPr>
          <a:xfrm>
            <a:off x="8505825" y="2400300"/>
            <a:ext cx="3028950" cy="800100"/>
          </a:xfrm>
          <a:prstGeom prst="rect">
            <a:avLst/>
          </a:prstGeom>
        </p:spPr>
        <p:txBody>
          <a:bodyPr wrap="square" lIns="0" tIns="0" rIns="0" bIns="0" anchor="t">
            <a:normAutofit/>
          </a:bodyPr>
          <a:lstStyle/>
          <a:p>
            <a:pPr algn="l">
              <a:defRPr sz="1425" b="0">
                <a:solidFill>
                  <a:srgbClr val="5F6368"/>
                </a:solidFill>
                <a:latin typeface="Helvetica Neue"/>
                <a:ea typeface="Helvetica Neue"/>
                <a:cs typeface="Helvetica Neue"/>
              </a:defRPr>
            </a:pPr>
            <a:r>
              <a:t>A movement to the next desired step: click, conversation, order, or delivery.</a:t>
            </a:r>
          </a:p>
        </p:txBody>
      </p:sp>
      <p:sp>
        <p:nvSpPr>
          <p:cNvPr id="14" name="shape-124">
            <a:extLst>
              <a:ext uri="{FF2B5EF4-FFF2-40B4-BE49-F238E27FC236}">
                <a16:creationId xmlns:a16="http://schemas.microsoft.com/office/drawing/2014/main" id="{C580C7D2-CFD8-4408-B4D7-9F35A111108A}"/>
              </a:ext>
            </a:extLst>
          </p:cNvPr>
          <p:cNvSpPr>
            <a:spLocks noGrp="1"/>
          </p:cNvSpPr>
          <p:nvPr/>
        </p:nvSpPr>
        <p:spPr>
          <a:xfrm>
            <a:off x="390525" y="3943350"/>
            <a:ext cx="3562350" cy="1809750"/>
          </a:xfrm>
          <a:prstGeom prst="rect">
            <a:avLst/>
          </a:prstGeom>
          <a:solidFill>
            <a:srgbClr val="F7F7F7"/>
          </a:solidFill>
          <a:ln w="9525">
            <a:solidFill>
              <a:srgbClr val="B8BCC4"/>
            </a:solidFill>
            <a:prstDash val="solid"/>
          </a:ln>
        </p:spPr>
        <p:txBody>
          <a:bodyPr/>
          <a:lstStyle/>
          <a:p>
            <a:endParaRPr lang="en-DE"/>
          </a:p>
        </p:txBody>
      </p:sp>
      <p:sp>
        <p:nvSpPr>
          <p:cNvPr id="15" name="text-125">
            <a:extLst>
              <a:ext uri="{FF2B5EF4-FFF2-40B4-BE49-F238E27FC236}">
                <a16:creationId xmlns:a16="http://schemas.microsoft.com/office/drawing/2014/main" id="{37659A02-E5BF-424F-A8C0-AC3CDA98E784}"/>
              </a:ext>
            </a:extLst>
          </p:cNvPr>
          <p:cNvSpPr>
            <a:spLocks noGrp="1"/>
          </p:cNvSpPr>
          <p:nvPr/>
        </p:nvSpPr>
        <p:spPr>
          <a:xfrm>
            <a:off x="657225" y="4191000"/>
            <a:ext cx="3028950" cy="400050"/>
          </a:xfrm>
          <a:prstGeom prst="rect">
            <a:avLst/>
          </a:prstGeom>
        </p:spPr>
        <p:txBody>
          <a:bodyPr wrap="square" lIns="0" tIns="0" rIns="0" bIns="0" anchor="t">
            <a:normAutofit/>
          </a:bodyPr>
          <a:lstStyle/>
          <a:p>
            <a:pPr algn="l">
              <a:defRPr sz="2175" b="1">
                <a:solidFill>
                  <a:srgbClr val="3D8DFF"/>
                </a:solidFill>
                <a:latin typeface="Helvetica Neue"/>
                <a:ea typeface="Helvetica Neue"/>
                <a:cs typeface="Helvetica Neue"/>
              </a:defRPr>
            </a:pPr>
            <a:r>
              <a:t>AOV</a:t>
            </a:r>
          </a:p>
        </p:txBody>
      </p:sp>
      <p:sp>
        <p:nvSpPr>
          <p:cNvPr id="16" name="text-126">
            <a:extLst>
              <a:ext uri="{FF2B5EF4-FFF2-40B4-BE49-F238E27FC236}">
                <a16:creationId xmlns:a16="http://schemas.microsoft.com/office/drawing/2014/main" id="{200CA1CF-8F69-4610-9D44-3908CD7CE59B}"/>
              </a:ext>
            </a:extLst>
          </p:cNvPr>
          <p:cNvSpPr>
            <a:spLocks noGrp="1"/>
          </p:cNvSpPr>
          <p:nvPr/>
        </p:nvSpPr>
        <p:spPr>
          <a:xfrm>
            <a:off x="657225" y="4724400"/>
            <a:ext cx="3028950" cy="800100"/>
          </a:xfrm>
          <a:prstGeom prst="rect">
            <a:avLst/>
          </a:prstGeom>
        </p:spPr>
        <p:txBody>
          <a:bodyPr wrap="square" lIns="0" tIns="0" rIns="0" bIns="0" anchor="t">
            <a:normAutofit/>
          </a:bodyPr>
          <a:lstStyle/>
          <a:p>
            <a:pPr algn="l">
              <a:defRPr sz="1425" b="0">
                <a:solidFill>
                  <a:srgbClr val="5F6368"/>
                </a:solidFill>
                <a:latin typeface="Helvetica Neue"/>
                <a:ea typeface="Helvetica Neue"/>
                <a:cs typeface="Helvetica Neue"/>
              </a:defRPr>
            </a:pPr>
            <a:r>
              <a:t>Average order value. Delivered revenue divided by delivered orders.</a:t>
            </a:r>
          </a:p>
        </p:txBody>
      </p:sp>
      <p:sp>
        <p:nvSpPr>
          <p:cNvPr id="17" name="shape-127">
            <a:extLst>
              <a:ext uri="{FF2B5EF4-FFF2-40B4-BE49-F238E27FC236}">
                <a16:creationId xmlns:a16="http://schemas.microsoft.com/office/drawing/2014/main" id="{F1026F21-4847-48CC-990E-E6206F6E5E9E}"/>
              </a:ext>
            </a:extLst>
          </p:cNvPr>
          <p:cNvSpPr>
            <a:spLocks noGrp="1"/>
          </p:cNvSpPr>
          <p:nvPr/>
        </p:nvSpPr>
        <p:spPr>
          <a:xfrm>
            <a:off x="4314825" y="3943350"/>
            <a:ext cx="3562350" cy="1809750"/>
          </a:xfrm>
          <a:prstGeom prst="rect">
            <a:avLst/>
          </a:prstGeom>
          <a:solidFill>
            <a:srgbClr val="F7F7F7"/>
          </a:solidFill>
          <a:ln w="9525">
            <a:solidFill>
              <a:srgbClr val="B8BCC4"/>
            </a:solidFill>
            <a:prstDash val="solid"/>
          </a:ln>
        </p:spPr>
        <p:txBody>
          <a:bodyPr/>
          <a:lstStyle/>
          <a:p>
            <a:endParaRPr lang="en-DE"/>
          </a:p>
        </p:txBody>
      </p:sp>
      <p:sp>
        <p:nvSpPr>
          <p:cNvPr id="18" name="text-128">
            <a:extLst>
              <a:ext uri="{FF2B5EF4-FFF2-40B4-BE49-F238E27FC236}">
                <a16:creationId xmlns:a16="http://schemas.microsoft.com/office/drawing/2014/main" id="{D0302CA2-69C7-4EF3-A5AE-F16AFECD0237}"/>
              </a:ext>
            </a:extLst>
          </p:cNvPr>
          <p:cNvSpPr>
            <a:spLocks noGrp="1"/>
          </p:cNvSpPr>
          <p:nvPr/>
        </p:nvSpPr>
        <p:spPr>
          <a:xfrm>
            <a:off x="4581525" y="4191000"/>
            <a:ext cx="3028950" cy="400050"/>
          </a:xfrm>
          <a:prstGeom prst="rect">
            <a:avLst/>
          </a:prstGeom>
        </p:spPr>
        <p:txBody>
          <a:bodyPr wrap="square" lIns="0" tIns="0" rIns="0" bIns="0" anchor="t">
            <a:normAutofit/>
          </a:bodyPr>
          <a:lstStyle/>
          <a:p>
            <a:pPr algn="l">
              <a:defRPr sz="2175" b="1">
                <a:solidFill>
                  <a:srgbClr val="3D8DFF"/>
                </a:solidFill>
                <a:latin typeface="Helvetica Neue"/>
                <a:ea typeface="Helvetica Neue"/>
                <a:cs typeface="Helvetica Neue"/>
              </a:defRPr>
            </a:pPr>
            <a:r>
              <a:t>ROAS</a:t>
            </a:r>
          </a:p>
        </p:txBody>
      </p:sp>
      <p:sp>
        <p:nvSpPr>
          <p:cNvPr id="19" name="text-129">
            <a:extLst>
              <a:ext uri="{FF2B5EF4-FFF2-40B4-BE49-F238E27FC236}">
                <a16:creationId xmlns:a16="http://schemas.microsoft.com/office/drawing/2014/main" id="{A729CFE3-8657-4DFB-8E0E-A528FADF812F}"/>
              </a:ext>
            </a:extLst>
          </p:cNvPr>
          <p:cNvSpPr>
            <a:spLocks noGrp="1"/>
          </p:cNvSpPr>
          <p:nvPr/>
        </p:nvSpPr>
        <p:spPr>
          <a:xfrm>
            <a:off x="4581525" y="4724400"/>
            <a:ext cx="3028950" cy="800100"/>
          </a:xfrm>
          <a:prstGeom prst="rect">
            <a:avLst/>
          </a:prstGeom>
        </p:spPr>
        <p:txBody>
          <a:bodyPr wrap="square" lIns="0" tIns="0" rIns="0" bIns="0" anchor="t">
            <a:normAutofit/>
          </a:bodyPr>
          <a:lstStyle/>
          <a:p>
            <a:pPr algn="l">
              <a:defRPr sz="1425" b="0">
                <a:solidFill>
                  <a:srgbClr val="5F6368"/>
                </a:solidFill>
                <a:latin typeface="Helvetica Neue"/>
                <a:ea typeface="Helvetica Neue"/>
                <a:cs typeface="Helvetica Neue"/>
              </a:defRPr>
            </a:pPr>
            <a:r>
              <a:t>Return on ad spend. Observed net revenue divided by advertising spend.</a:t>
            </a:r>
          </a:p>
        </p:txBody>
      </p:sp>
      <p:sp>
        <p:nvSpPr>
          <p:cNvPr id="20" name="shape-130">
            <a:extLst>
              <a:ext uri="{FF2B5EF4-FFF2-40B4-BE49-F238E27FC236}">
                <a16:creationId xmlns:a16="http://schemas.microsoft.com/office/drawing/2014/main" id="{4FCC0FE5-D3BD-4C35-B9C1-E5C76F902B12}"/>
              </a:ext>
            </a:extLst>
          </p:cNvPr>
          <p:cNvSpPr>
            <a:spLocks noGrp="1"/>
          </p:cNvSpPr>
          <p:nvPr/>
        </p:nvSpPr>
        <p:spPr>
          <a:xfrm>
            <a:off x="8239125" y="3943350"/>
            <a:ext cx="3562350" cy="1809750"/>
          </a:xfrm>
          <a:prstGeom prst="rect">
            <a:avLst/>
          </a:prstGeom>
          <a:solidFill>
            <a:srgbClr val="F7F7F7"/>
          </a:solidFill>
          <a:ln w="9525">
            <a:solidFill>
              <a:srgbClr val="B8BCC4"/>
            </a:solidFill>
            <a:prstDash val="solid"/>
          </a:ln>
        </p:spPr>
        <p:txBody>
          <a:bodyPr/>
          <a:lstStyle/>
          <a:p>
            <a:endParaRPr lang="en-DE"/>
          </a:p>
        </p:txBody>
      </p:sp>
      <p:sp>
        <p:nvSpPr>
          <p:cNvPr id="21" name="text-131">
            <a:extLst>
              <a:ext uri="{FF2B5EF4-FFF2-40B4-BE49-F238E27FC236}">
                <a16:creationId xmlns:a16="http://schemas.microsoft.com/office/drawing/2014/main" id="{D7731689-BD66-452F-891F-0761559B3B0A}"/>
              </a:ext>
            </a:extLst>
          </p:cNvPr>
          <p:cNvSpPr>
            <a:spLocks noGrp="1"/>
          </p:cNvSpPr>
          <p:nvPr/>
        </p:nvSpPr>
        <p:spPr>
          <a:xfrm>
            <a:off x="8505825" y="4191000"/>
            <a:ext cx="3028950" cy="400050"/>
          </a:xfrm>
          <a:prstGeom prst="rect">
            <a:avLst/>
          </a:prstGeom>
        </p:spPr>
        <p:txBody>
          <a:bodyPr wrap="square" lIns="0" tIns="0" rIns="0" bIns="0" anchor="t">
            <a:normAutofit/>
          </a:bodyPr>
          <a:lstStyle/>
          <a:p>
            <a:pPr algn="l">
              <a:defRPr sz="2175" b="1">
                <a:solidFill>
                  <a:srgbClr val="3D8DFF"/>
                </a:solidFill>
                <a:latin typeface="Helvetica Neue"/>
                <a:ea typeface="Helvetica Neue"/>
                <a:cs typeface="Helvetica Neue"/>
              </a:defRPr>
            </a:pPr>
            <a:r>
              <a:t>Negative outcome</a:t>
            </a:r>
          </a:p>
        </p:txBody>
      </p:sp>
      <p:sp>
        <p:nvSpPr>
          <p:cNvPr id="22" name="text-132">
            <a:extLst>
              <a:ext uri="{FF2B5EF4-FFF2-40B4-BE49-F238E27FC236}">
                <a16:creationId xmlns:a16="http://schemas.microsoft.com/office/drawing/2014/main" id="{432C1889-A357-465C-AC75-23EDED8E8127}"/>
              </a:ext>
            </a:extLst>
          </p:cNvPr>
          <p:cNvSpPr>
            <a:spLocks noGrp="1"/>
          </p:cNvSpPr>
          <p:nvPr/>
        </p:nvSpPr>
        <p:spPr>
          <a:xfrm>
            <a:off x="8505825" y="4724400"/>
            <a:ext cx="3028950" cy="800100"/>
          </a:xfrm>
          <a:prstGeom prst="rect">
            <a:avLst/>
          </a:prstGeom>
        </p:spPr>
        <p:txBody>
          <a:bodyPr wrap="square" lIns="0" tIns="0" rIns="0" bIns="0" anchor="t">
            <a:normAutofit/>
          </a:bodyPr>
          <a:lstStyle/>
          <a:p>
            <a:pPr algn="l">
              <a:defRPr sz="1425" b="0">
                <a:solidFill>
                  <a:srgbClr val="5F6368"/>
                </a:solidFill>
                <a:latin typeface="Helvetica Neue"/>
                <a:ea typeface="Helvetica Neue"/>
                <a:cs typeface="Helvetica Neue"/>
              </a:defRPr>
            </a:pPr>
            <a:r>
              <a:t>Ghosted, cancelled, refunded, or adversarial conversation outcome.</a:t>
            </a:r>
          </a:p>
        </p:txBody>
      </p:sp>
    </p:spTree>
    <p:extLst>
      <p:ext uri="{BB962C8B-B14F-4D97-AF65-F5344CB8AC3E}">
        <p14:creationId xmlns:p14="http://schemas.microsoft.com/office/powerpoint/2010/main" val="606122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9-title">
            <a:extLst>
              <a:ext uri="{FF2B5EF4-FFF2-40B4-BE49-F238E27FC236}">
                <a16:creationId xmlns:a16="http://schemas.microsoft.com/office/drawing/2014/main" id="{61F9BE90-C929-41E2-B8CA-8E2801754D72}"/>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Campaign type defines success</a:t>
            </a:r>
          </a:p>
        </p:txBody>
      </p:sp>
      <p:cxnSp>
        <p:nvCxnSpPr>
          <p:cNvPr id="8" name="line-139"/>
          <p:cNvCxnSpPr/>
          <p:nvPr/>
        </p:nvCxnSpPr>
        <p:spPr>
          <a:xfrm>
            <a:off x="495300" y="1057275"/>
            <a:ext cx="11296650" cy="9525"/>
          </a:xfrm>
          <a:prstGeom prst="straightConnector1">
            <a:avLst/>
          </a:prstGeom>
          <a:ln w="9525">
            <a:solidFill>
              <a:srgbClr val="B8BCC4"/>
            </a:solidFill>
            <a:prstDash val="solid"/>
          </a:ln>
        </p:spPr>
      </p:cxnSp>
      <p:sp>
        <p:nvSpPr>
          <p:cNvPr id="3" name="slide-9-source">
            <a:extLst>
              <a:ext uri="{FF2B5EF4-FFF2-40B4-BE49-F238E27FC236}">
                <a16:creationId xmlns:a16="http://schemas.microsoft.com/office/drawing/2014/main" id="{EF976D7F-F4D0-4B57-8BAA-2FDAB422125F}"/>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src_2/config/campaign_types.yaml</a:t>
            </a:r>
          </a:p>
        </p:txBody>
      </p:sp>
      <p:sp>
        <p:nvSpPr>
          <p:cNvPr id="4" name="slide-9-number">
            <a:extLst>
              <a:ext uri="{FF2B5EF4-FFF2-40B4-BE49-F238E27FC236}">
                <a16:creationId xmlns:a16="http://schemas.microsoft.com/office/drawing/2014/main" id="{78A1BDB5-D46B-463E-8F4E-1995AB675265}"/>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09</a:t>
            </a:r>
          </a:p>
        </p:txBody>
      </p:sp>
      <p:sp>
        <p:nvSpPr>
          <p:cNvPr id="5" name="text-137">
            <a:extLst>
              <a:ext uri="{FF2B5EF4-FFF2-40B4-BE49-F238E27FC236}">
                <a16:creationId xmlns:a16="http://schemas.microsoft.com/office/drawing/2014/main" id="{4DA976C3-49C4-440A-A07B-DAECA5CC84B0}"/>
              </a:ext>
            </a:extLst>
          </p:cNvPr>
          <p:cNvSpPr>
            <a:spLocks noGrp="1"/>
          </p:cNvSpPr>
          <p:nvPr/>
        </p:nvSpPr>
        <p:spPr>
          <a:xfrm>
            <a:off x="390525" y="1219200"/>
            <a:ext cx="11410950" cy="400050"/>
          </a:xfrm>
          <a:prstGeom prst="rect">
            <a:avLst/>
          </a:prstGeom>
        </p:spPr>
        <p:txBody>
          <a:bodyPr wrap="square" lIns="0" tIns="0" rIns="0" bIns="0" anchor="t">
            <a:normAutofit/>
          </a:bodyPr>
          <a:lstStyle/>
          <a:p>
            <a:pPr algn="l">
              <a:defRPr sz="1575" b="1">
                <a:solidFill>
                  <a:srgbClr val="3D8DFF"/>
                </a:solidFill>
                <a:latin typeface="Helvetica Neue"/>
                <a:ea typeface="Helvetica Neue"/>
                <a:cs typeface="Helvetica Neue"/>
              </a:defRPr>
            </a:pPr>
            <a:r>
              <a:t>The lookup focuses analysis on the campaign's job; the LLM does not infer purpose from the name.</a:t>
            </a:r>
          </a:p>
        </p:txBody>
      </p:sp>
      <p:graphicFrame>
        <p:nvGraphicFramePr>
          <p:cNvPr id="12" name="Table 11"/>
          <p:cNvGraphicFramePr/>
          <p:nvPr/>
        </p:nvGraphicFramePr>
        <p:xfrm>
          <a:off x="390525" y="1828800"/>
          <a:ext cx="11410950" cy="4191000"/>
        </p:xfrm>
        <a:graphic>
          <a:graphicData uri="http://schemas.openxmlformats.org/drawingml/2006/table">
            <a:tbl>
              <a:tblPr firstRow="1" bandRow="1"/>
              <a:tblGrid>
                <a:gridCol w="209550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3028950">
                  <a:extLst>
                    <a:ext uri="{9D8B030D-6E8A-4147-A177-3AD203B41FA5}">
                      <a16:colId xmlns:a16="http://schemas.microsoft.com/office/drawing/2014/main" val="20002"/>
                    </a:ext>
                  </a:extLst>
                </a:gridCol>
              </a:tblGrid>
              <a:tr h="465667">
                <a:tc>
                  <a:txBody>
                    <a:bodyPr/>
                    <a:lstStyle/>
                    <a:p>
                      <a:r>
                        <a:rPr sz="1275" b="1">
                          <a:solidFill>
                            <a:srgbClr val="FFFFFF"/>
                          </a:solidFill>
                        </a:rPr>
                        <a:t>Campaign type</a:t>
                      </a:r>
                    </a:p>
                  </a:txBody>
                  <a:tcPr marL="66675" marR="66675" marT="47625" marB="47625">
                    <a:solidFill>
                      <a:srgbClr val="000000"/>
                    </a:solidFill>
                  </a:tcPr>
                </a:tc>
                <a:tc>
                  <a:txBody>
                    <a:bodyPr/>
                    <a:lstStyle/>
                    <a:p>
                      <a:r>
                        <a:rPr sz="1275" b="1">
                          <a:solidFill>
                            <a:srgbClr val="FFFFFF"/>
                          </a:solidFill>
                        </a:rPr>
                        <a:t>Business job</a:t>
                      </a:r>
                    </a:p>
                  </a:txBody>
                  <a:tcPr marL="66675" marR="66675" marT="47625" marB="47625">
                    <a:solidFill>
                      <a:srgbClr val="000000"/>
                    </a:solidFill>
                  </a:tcPr>
                </a:tc>
                <a:tc>
                  <a:txBody>
                    <a:bodyPr/>
                    <a:lstStyle/>
                    <a:p>
                      <a:r>
                        <a:rPr sz="1275" b="1">
                          <a:solidFill>
                            <a:srgbClr val="FFFFFF"/>
                          </a:solidFill>
                        </a:rPr>
                        <a:t>Primary KPI</a:t>
                      </a:r>
                    </a:p>
                  </a:txBody>
                  <a:tcPr marL="66675" marR="66675" marT="47625" marB="47625">
                    <a:solidFill>
                      <a:srgbClr val="000000"/>
                    </a:solidFill>
                  </a:tcPr>
                </a:tc>
                <a:extLst>
                  <a:ext uri="{0D108BD9-81ED-4DB2-BD59-A6C34878D82A}">
                    <a16:rowId xmlns:a16="http://schemas.microsoft.com/office/drawing/2014/main" val="10000"/>
                  </a:ext>
                </a:extLst>
              </a:tr>
              <a:tr h="465667">
                <a:tc>
                  <a:txBody>
                    <a:bodyPr/>
                    <a:lstStyle/>
                    <a:p>
                      <a:r>
                        <a:rPr sz="1275">
                          <a:solidFill>
                            <a:srgbClr val="000000"/>
                          </a:solidFill>
                        </a:rPr>
                        <a:t>Awareness</a:t>
                      </a:r>
                    </a:p>
                  </a:txBody>
                  <a:tcPr marL="66675" marR="66675" marT="47625" marB="47625"/>
                </a:tc>
                <a:tc>
                  <a:txBody>
                    <a:bodyPr/>
                    <a:lstStyle/>
                    <a:p>
                      <a:r>
                        <a:rPr sz="1275">
                          <a:solidFill>
                            <a:srgbClr val="000000"/>
                          </a:solidFill>
                        </a:rPr>
                        <a:t>Create efficient qualified visibility</a:t>
                      </a:r>
                    </a:p>
                  </a:txBody>
                  <a:tcPr marL="66675" marR="66675" marT="47625" marB="47625"/>
                </a:tc>
                <a:tc>
                  <a:txBody>
                    <a:bodyPr/>
                    <a:lstStyle/>
                    <a:p>
                      <a:r>
                        <a:rPr sz="1275">
                          <a:solidFill>
                            <a:srgbClr val="000000"/>
                          </a:solidFill>
                        </a:rPr>
                        <a:t>Reach</a:t>
                      </a:r>
                    </a:p>
                  </a:txBody>
                  <a:tcPr marL="66675" marR="66675" marT="47625" marB="47625"/>
                </a:tc>
                <a:extLst>
                  <a:ext uri="{0D108BD9-81ED-4DB2-BD59-A6C34878D82A}">
                    <a16:rowId xmlns:a16="http://schemas.microsoft.com/office/drawing/2014/main" val="10001"/>
                  </a:ext>
                </a:extLst>
              </a:tr>
              <a:tr h="465667">
                <a:tc>
                  <a:txBody>
                    <a:bodyPr/>
                    <a:lstStyle/>
                    <a:p>
                      <a:r>
                        <a:rPr sz="1275">
                          <a:solidFill>
                            <a:srgbClr val="000000"/>
                          </a:solidFill>
                        </a:rPr>
                        <a:t>Always-on</a:t>
                      </a:r>
                    </a:p>
                  </a:txBody>
                  <a:tcPr marL="66675" marR="66675" marT="47625" marB="47625"/>
                </a:tc>
                <a:tc>
                  <a:txBody>
                    <a:bodyPr/>
                    <a:lstStyle/>
                    <a:p>
                      <a:r>
                        <a:rPr sz="1275">
                          <a:solidFill>
                            <a:srgbClr val="000000"/>
                          </a:solidFill>
                        </a:rPr>
                        <a:t>Acquire steady sales with stable economics</a:t>
                      </a:r>
                    </a:p>
                  </a:txBody>
                  <a:tcPr marL="66675" marR="66675" marT="47625" marB="47625"/>
                </a:tc>
                <a:tc>
                  <a:txBody>
                    <a:bodyPr/>
                    <a:lstStyle/>
                    <a:p>
                      <a:r>
                        <a:rPr sz="1275">
                          <a:solidFill>
                            <a:srgbClr val="000000"/>
                          </a:solidFill>
                        </a:rPr>
                        <a:t>Net ROAS</a:t>
                      </a:r>
                    </a:p>
                  </a:txBody>
                  <a:tcPr marL="66675" marR="66675" marT="47625" marB="47625"/>
                </a:tc>
                <a:extLst>
                  <a:ext uri="{0D108BD9-81ED-4DB2-BD59-A6C34878D82A}">
                    <a16:rowId xmlns:a16="http://schemas.microsoft.com/office/drawing/2014/main" val="10002"/>
                  </a:ext>
                </a:extLst>
              </a:tr>
              <a:tr h="465667">
                <a:tc>
                  <a:txBody>
                    <a:bodyPr/>
                    <a:lstStyle/>
                    <a:p>
                      <a:r>
                        <a:rPr sz="1275">
                          <a:solidFill>
                            <a:srgbClr val="000000"/>
                          </a:solidFill>
                        </a:rPr>
                        <a:t>Promotional</a:t>
                      </a:r>
                    </a:p>
                  </a:txBody>
                  <a:tcPr marL="66675" marR="66675" marT="47625" marB="47625"/>
                </a:tc>
                <a:tc>
                  <a:txBody>
                    <a:bodyPr/>
                    <a:lstStyle/>
                    <a:p>
                      <a:r>
                        <a:rPr sz="1275">
                          <a:solidFill>
                            <a:srgbClr val="000000"/>
                          </a:solidFill>
                        </a:rPr>
                        <a:t>Convert offer-driven demand</a:t>
                      </a:r>
                    </a:p>
                  </a:txBody>
                  <a:tcPr marL="66675" marR="66675" marT="47625" marB="47625"/>
                </a:tc>
                <a:tc>
                  <a:txBody>
                    <a:bodyPr/>
                    <a:lstStyle/>
                    <a:p>
                      <a:r>
                        <a:rPr sz="1275">
                          <a:solidFill>
                            <a:srgbClr val="000000"/>
                          </a:solidFill>
                        </a:rPr>
                        <a:t>Net ROAS</a:t>
                      </a:r>
                    </a:p>
                  </a:txBody>
                  <a:tcPr marL="66675" marR="66675" marT="47625" marB="47625"/>
                </a:tc>
                <a:extLst>
                  <a:ext uri="{0D108BD9-81ED-4DB2-BD59-A6C34878D82A}">
                    <a16:rowId xmlns:a16="http://schemas.microsoft.com/office/drawing/2014/main" val="10003"/>
                  </a:ext>
                </a:extLst>
              </a:tr>
              <a:tr h="465667">
                <a:tc>
                  <a:txBody>
                    <a:bodyPr/>
                    <a:lstStyle/>
                    <a:p>
                      <a:r>
                        <a:rPr sz="1275">
                          <a:solidFill>
                            <a:srgbClr val="000000"/>
                          </a:solidFill>
                        </a:rPr>
                        <a:t>Seasonal</a:t>
                      </a:r>
                    </a:p>
                  </a:txBody>
                  <a:tcPr marL="66675" marR="66675" marT="47625" marB="47625"/>
                </a:tc>
                <a:tc>
                  <a:txBody>
                    <a:bodyPr/>
                    <a:lstStyle/>
                    <a:p>
                      <a:r>
                        <a:rPr sz="1275">
                          <a:solidFill>
                            <a:srgbClr val="000000"/>
                          </a:solidFill>
                        </a:rPr>
                        <a:t>Capture demand in a limited window</a:t>
                      </a:r>
                    </a:p>
                  </a:txBody>
                  <a:tcPr marL="66675" marR="66675" marT="47625" marB="47625"/>
                </a:tc>
                <a:tc>
                  <a:txBody>
                    <a:bodyPr/>
                    <a:lstStyle/>
                    <a:p>
                      <a:r>
                        <a:rPr sz="1275">
                          <a:solidFill>
                            <a:srgbClr val="000000"/>
                          </a:solidFill>
                        </a:rPr>
                        <a:t>Net revenue / day</a:t>
                      </a:r>
                    </a:p>
                  </a:txBody>
                  <a:tcPr marL="66675" marR="66675" marT="47625" marB="47625"/>
                </a:tc>
                <a:extLst>
                  <a:ext uri="{0D108BD9-81ED-4DB2-BD59-A6C34878D82A}">
                    <a16:rowId xmlns:a16="http://schemas.microsoft.com/office/drawing/2014/main" val="10004"/>
                  </a:ext>
                </a:extLst>
              </a:tr>
              <a:tr h="465667">
                <a:tc>
                  <a:txBody>
                    <a:bodyPr/>
                    <a:lstStyle/>
                    <a:p>
                      <a:r>
                        <a:rPr sz="1275">
                          <a:solidFill>
                            <a:srgbClr val="000000"/>
                          </a:solidFill>
                        </a:rPr>
                        <a:t>Experimental</a:t>
                      </a:r>
                    </a:p>
                  </a:txBody>
                  <a:tcPr marL="66675" marR="66675" marT="47625" marB="47625">
                    <a:solidFill>
                      <a:srgbClr val="D0EDFA"/>
                    </a:solidFill>
                  </a:tcPr>
                </a:tc>
                <a:tc>
                  <a:txBody>
                    <a:bodyPr/>
                    <a:lstStyle/>
                    <a:p>
                      <a:r>
                        <a:rPr sz="1275">
                          <a:solidFill>
                            <a:srgbClr val="000000"/>
                          </a:solidFill>
                        </a:rPr>
                        <a:t>Generate comparable evidence</a:t>
                      </a:r>
                    </a:p>
                  </a:txBody>
                  <a:tcPr marL="66675" marR="66675" marT="47625" marB="47625">
                    <a:solidFill>
                      <a:srgbClr val="D0EDFA"/>
                    </a:solidFill>
                  </a:tcPr>
                </a:tc>
                <a:tc>
                  <a:txBody>
                    <a:bodyPr/>
                    <a:lstStyle/>
                    <a:p>
                      <a:r>
                        <a:rPr sz="1275">
                          <a:solidFill>
                            <a:srgbClr val="000000"/>
                          </a:solidFill>
                        </a:rPr>
                        <a:t>Observed conversations</a:t>
                      </a:r>
                    </a:p>
                  </a:txBody>
                  <a:tcPr marL="66675" marR="66675" marT="47625" marB="47625">
                    <a:solidFill>
                      <a:srgbClr val="D0EDFA"/>
                    </a:solidFill>
                  </a:tcPr>
                </a:tc>
                <a:extLst>
                  <a:ext uri="{0D108BD9-81ED-4DB2-BD59-A6C34878D82A}">
                    <a16:rowId xmlns:a16="http://schemas.microsoft.com/office/drawing/2014/main" val="10005"/>
                  </a:ext>
                </a:extLst>
              </a:tr>
              <a:tr h="465667">
                <a:tc>
                  <a:txBody>
                    <a:bodyPr/>
                    <a:lstStyle/>
                    <a:p>
                      <a:r>
                        <a:rPr sz="1275">
                          <a:solidFill>
                            <a:srgbClr val="000000"/>
                          </a:solidFill>
                        </a:rPr>
                        <a:t>Launch</a:t>
                      </a:r>
                    </a:p>
                  </a:txBody>
                  <a:tcPr marL="66675" marR="66675" marT="47625" marB="47625"/>
                </a:tc>
                <a:tc>
                  <a:txBody>
                    <a:bodyPr/>
                    <a:lstStyle/>
                    <a:p>
                      <a:r>
                        <a:rPr sz="1275">
                          <a:solidFill>
                            <a:srgbClr val="000000"/>
                          </a:solidFill>
                        </a:rPr>
                        <a:t>Validate demand and product adoption</a:t>
                      </a:r>
                    </a:p>
                  </a:txBody>
                  <a:tcPr marL="66675" marR="66675" marT="47625" marB="47625"/>
                </a:tc>
                <a:tc>
                  <a:txBody>
                    <a:bodyPr/>
                    <a:lstStyle/>
                    <a:p>
                      <a:r>
                        <a:rPr sz="1275">
                          <a:solidFill>
                            <a:srgbClr val="000000"/>
                          </a:solidFill>
                        </a:rPr>
                        <a:t>Net revenue</a:t>
                      </a:r>
                    </a:p>
                  </a:txBody>
                  <a:tcPr marL="66675" marR="66675" marT="47625" marB="47625"/>
                </a:tc>
                <a:extLst>
                  <a:ext uri="{0D108BD9-81ED-4DB2-BD59-A6C34878D82A}">
                    <a16:rowId xmlns:a16="http://schemas.microsoft.com/office/drawing/2014/main" val="10006"/>
                  </a:ext>
                </a:extLst>
              </a:tr>
              <a:tr h="465667">
                <a:tc>
                  <a:txBody>
                    <a:bodyPr/>
                    <a:lstStyle/>
                    <a:p>
                      <a:r>
                        <a:rPr sz="1275">
                          <a:solidFill>
                            <a:srgbClr val="000000"/>
                          </a:solidFill>
                        </a:rPr>
                        <a:t>Scale</a:t>
                      </a:r>
                    </a:p>
                  </a:txBody>
                  <a:tcPr marL="66675" marR="66675" marT="47625" marB="47625"/>
                </a:tc>
                <a:tc>
                  <a:txBody>
                    <a:bodyPr/>
                    <a:lstStyle/>
                    <a:p>
                      <a:r>
                        <a:rPr sz="1275">
                          <a:solidFill>
                            <a:srgbClr val="000000"/>
                          </a:solidFill>
                        </a:rPr>
                        <a:t>Grow volume while protecting quality</a:t>
                      </a:r>
                    </a:p>
                  </a:txBody>
                  <a:tcPr marL="66675" marR="66675" marT="47625" marB="47625"/>
                </a:tc>
                <a:tc>
                  <a:txBody>
                    <a:bodyPr/>
                    <a:lstStyle/>
                    <a:p>
                      <a:r>
                        <a:rPr sz="1275">
                          <a:solidFill>
                            <a:srgbClr val="000000"/>
                          </a:solidFill>
                        </a:rPr>
                        <a:t>Observed conversations</a:t>
                      </a:r>
                    </a:p>
                  </a:txBody>
                  <a:tcPr marL="66675" marR="66675" marT="47625" marB="47625"/>
                </a:tc>
                <a:extLst>
                  <a:ext uri="{0D108BD9-81ED-4DB2-BD59-A6C34878D82A}">
                    <a16:rowId xmlns:a16="http://schemas.microsoft.com/office/drawing/2014/main" val="10007"/>
                  </a:ext>
                </a:extLst>
              </a:tr>
              <a:tr h="465667">
                <a:tc>
                  <a:txBody>
                    <a:bodyPr/>
                    <a:lstStyle/>
                    <a:p>
                      <a:r>
                        <a:rPr sz="1275">
                          <a:solidFill>
                            <a:srgbClr val="000000"/>
                          </a:solidFill>
                        </a:rPr>
                        <a:t>Retention</a:t>
                      </a:r>
                    </a:p>
                  </a:txBody>
                  <a:tcPr marL="66675" marR="66675" marT="47625" marB="47625"/>
                </a:tc>
                <a:tc>
                  <a:txBody>
                    <a:bodyPr/>
                    <a:lstStyle/>
                    <a:p>
                      <a:r>
                        <a:rPr sz="1275">
                          <a:solidFill>
                            <a:srgbClr val="000000"/>
                          </a:solidFill>
                        </a:rPr>
                        <a:t>Create profitable repeat orders</a:t>
                      </a:r>
                    </a:p>
                  </a:txBody>
                  <a:tcPr marL="66675" marR="66675" marT="47625" marB="47625"/>
                </a:tc>
                <a:tc>
                  <a:txBody>
                    <a:bodyPr/>
                    <a:lstStyle/>
                    <a:p>
                      <a:r>
                        <a:rPr sz="1275">
                          <a:solidFill>
                            <a:srgbClr val="000000"/>
                          </a:solidFill>
                        </a:rPr>
                        <a:t>Repeat delivered orders</a:t>
                      </a:r>
                    </a:p>
                  </a:txBody>
                  <a:tcPr marL="66675" marR="66675" marT="47625" marB="47625"/>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35810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lide-10-title">
            <a:extLst>
              <a:ext uri="{FF2B5EF4-FFF2-40B4-BE49-F238E27FC236}">
                <a16:creationId xmlns:a16="http://schemas.microsoft.com/office/drawing/2014/main" id="{D747FCFD-D8CC-42A9-8E80-34BE20BE9313}"/>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v2 removes arbitrary KPI weighting</a:t>
            </a:r>
          </a:p>
        </p:txBody>
      </p:sp>
      <p:cxnSp>
        <p:nvCxnSpPr>
          <p:cNvPr id="16" name="line-153"/>
          <p:cNvCxnSpPr/>
          <p:nvPr/>
        </p:nvCxnSpPr>
        <p:spPr>
          <a:xfrm>
            <a:off x="495300" y="1057275"/>
            <a:ext cx="11296650" cy="9525"/>
          </a:xfrm>
          <a:prstGeom prst="straightConnector1">
            <a:avLst/>
          </a:prstGeom>
          <a:ln w="9525">
            <a:solidFill>
              <a:srgbClr val="B8BCC4"/>
            </a:solidFill>
            <a:prstDash val="solid"/>
          </a:ln>
        </p:spPr>
      </p:cxnSp>
      <p:sp>
        <p:nvSpPr>
          <p:cNvPr id="3" name="slide-10-source">
            <a:extLst>
              <a:ext uri="{FF2B5EF4-FFF2-40B4-BE49-F238E27FC236}">
                <a16:creationId xmlns:a16="http://schemas.microsoft.com/office/drawing/2014/main" id="{4650EB3C-FB3E-4BFF-983B-08A669E0EF43}"/>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existing src campaign_targets.py; src_2 campaign_types.yaml</a:t>
            </a:r>
          </a:p>
        </p:txBody>
      </p:sp>
      <p:sp>
        <p:nvSpPr>
          <p:cNvPr id="4" name="slide-10-number">
            <a:extLst>
              <a:ext uri="{FF2B5EF4-FFF2-40B4-BE49-F238E27FC236}">
                <a16:creationId xmlns:a16="http://schemas.microsoft.com/office/drawing/2014/main" id="{D5C53451-C354-4B83-A6C1-9B9CA2045103}"/>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10</a:t>
            </a:r>
          </a:p>
        </p:txBody>
      </p:sp>
      <p:sp>
        <p:nvSpPr>
          <p:cNvPr id="5" name="shape-142">
            <a:extLst>
              <a:ext uri="{FF2B5EF4-FFF2-40B4-BE49-F238E27FC236}">
                <a16:creationId xmlns:a16="http://schemas.microsoft.com/office/drawing/2014/main" id="{48DED642-0943-4FEC-BDBD-FA260A9E2559}"/>
              </a:ext>
            </a:extLst>
          </p:cNvPr>
          <p:cNvSpPr>
            <a:spLocks noGrp="1"/>
          </p:cNvSpPr>
          <p:nvPr/>
        </p:nvSpPr>
        <p:spPr>
          <a:xfrm>
            <a:off x="390525" y="1619250"/>
            <a:ext cx="5095875" cy="3943350"/>
          </a:xfrm>
          <a:prstGeom prst="rect">
            <a:avLst/>
          </a:prstGeom>
          <a:solidFill>
            <a:srgbClr val="F7F7F7"/>
          </a:solidFill>
          <a:ln w="9525">
            <a:solidFill>
              <a:srgbClr val="B8BCC4"/>
            </a:solidFill>
            <a:prstDash val="solid"/>
          </a:ln>
        </p:spPr>
        <p:txBody>
          <a:bodyPr/>
          <a:lstStyle/>
          <a:p>
            <a:endParaRPr lang="en-DE"/>
          </a:p>
        </p:txBody>
      </p:sp>
      <p:sp>
        <p:nvSpPr>
          <p:cNvPr id="6" name="shape-143">
            <a:extLst>
              <a:ext uri="{FF2B5EF4-FFF2-40B4-BE49-F238E27FC236}">
                <a16:creationId xmlns:a16="http://schemas.microsoft.com/office/drawing/2014/main" id="{C0C4B8E4-0353-4E79-9F40-BDD7197B4B1B}"/>
              </a:ext>
            </a:extLst>
          </p:cNvPr>
          <p:cNvSpPr>
            <a:spLocks noGrp="1"/>
          </p:cNvSpPr>
          <p:nvPr/>
        </p:nvSpPr>
        <p:spPr>
          <a:xfrm>
            <a:off x="6705600" y="1619250"/>
            <a:ext cx="5095875" cy="3943350"/>
          </a:xfrm>
          <a:prstGeom prst="rect">
            <a:avLst/>
          </a:prstGeom>
          <a:solidFill>
            <a:srgbClr val="D0EDFA"/>
          </a:solidFill>
          <a:ln w="9525">
            <a:solidFill>
              <a:srgbClr val="B8BCC4"/>
            </a:solidFill>
            <a:prstDash val="solid"/>
          </a:ln>
        </p:spPr>
        <p:txBody>
          <a:bodyPr/>
          <a:lstStyle/>
          <a:p>
            <a:endParaRPr lang="en-DE"/>
          </a:p>
        </p:txBody>
      </p:sp>
      <p:cxnSp>
        <p:nvCxnSpPr>
          <p:cNvPr id="21" name="line-144"/>
          <p:cNvCxnSpPr/>
          <p:nvPr/>
        </p:nvCxnSpPr>
        <p:spPr>
          <a:xfrm>
            <a:off x="5657850" y="3590925"/>
            <a:ext cx="876300" cy="9525"/>
          </a:xfrm>
          <a:prstGeom prst="straightConnector1">
            <a:avLst/>
          </a:prstGeom>
          <a:ln w="38100">
            <a:solidFill>
              <a:srgbClr val="3D8DFF"/>
            </a:solidFill>
            <a:prstDash val="solid"/>
          </a:ln>
        </p:spPr>
      </p:cxnSp>
      <p:sp>
        <p:nvSpPr>
          <p:cNvPr id="8" name="text-145">
            <a:extLst>
              <a:ext uri="{FF2B5EF4-FFF2-40B4-BE49-F238E27FC236}">
                <a16:creationId xmlns:a16="http://schemas.microsoft.com/office/drawing/2014/main" id="{D2634B01-FC83-4E51-832B-D93D04A74C88}"/>
              </a:ext>
            </a:extLst>
          </p:cNvPr>
          <p:cNvSpPr>
            <a:spLocks noGrp="1"/>
          </p:cNvSpPr>
          <p:nvPr/>
        </p:nvSpPr>
        <p:spPr>
          <a:xfrm>
            <a:off x="723900" y="1924050"/>
            <a:ext cx="4429125" cy="342900"/>
          </a:xfrm>
          <a:prstGeom prst="rect">
            <a:avLst/>
          </a:prstGeom>
        </p:spPr>
        <p:txBody>
          <a:bodyPr wrap="square" lIns="0" tIns="0" rIns="0" bIns="0" anchor="t">
            <a:normAutofit/>
          </a:bodyPr>
          <a:lstStyle/>
          <a:p>
            <a:pPr algn="l">
              <a:defRPr sz="1650" b="1">
                <a:solidFill>
                  <a:srgbClr val="5F6368"/>
                </a:solidFill>
                <a:latin typeface="Helvetica Neue"/>
                <a:ea typeface="Helvetica Neue"/>
                <a:cs typeface="Helvetica Neue"/>
              </a:defRPr>
            </a:pPr>
            <a:r>
              <a:t>EXISTING src BASELINE</a:t>
            </a:r>
          </a:p>
        </p:txBody>
      </p:sp>
      <p:sp>
        <p:nvSpPr>
          <p:cNvPr id="9" name="text-146">
            <a:extLst>
              <a:ext uri="{FF2B5EF4-FFF2-40B4-BE49-F238E27FC236}">
                <a16:creationId xmlns:a16="http://schemas.microsoft.com/office/drawing/2014/main" id="{38EB85EA-99B1-4E2B-9BB0-B09D3774475F}"/>
              </a:ext>
            </a:extLst>
          </p:cNvPr>
          <p:cNvSpPr>
            <a:spLocks noGrp="1"/>
          </p:cNvSpPr>
          <p:nvPr/>
        </p:nvSpPr>
        <p:spPr>
          <a:xfrm>
            <a:off x="723900" y="2476500"/>
            <a:ext cx="4429125" cy="514350"/>
          </a:xfrm>
          <a:prstGeom prst="rect">
            <a:avLst/>
          </a:prstGeom>
        </p:spPr>
        <p:txBody>
          <a:bodyPr wrap="square" lIns="0" tIns="0" rIns="0" bIns="0" anchor="t">
            <a:normAutofit/>
          </a:bodyPr>
          <a:lstStyle/>
          <a:p>
            <a:pPr algn="l">
              <a:defRPr sz="2550" b="1">
                <a:solidFill>
                  <a:srgbClr val="000000"/>
                </a:solidFill>
                <a:latin typeface="Helvetica Neue"/>
                <a:ea typeface="Helvetica Neue"/>
                <a:cs typeface="Helvetica Neue"/>
              </a:defRPr>
            </a:pPr>
            <a:r>
              <a:t>Weighted composite</a:t>
            </a:r>
          </a:p>
        </p:txBody>
      </p:sp>
      <p:sp>
        <p:nvSpPr>
          <p:cNvPr id="10" name="text-147">
            <a:extLst>
              <a:ext uri="{FF2B5EF4-FFF2-40B4-BE49-F238E27FC236}">
                <a16:creationId xmlns:a16="http://schemas.microsoft.com/office/drawing/2014/main" id="{0E35970C-3EF9-44EA-9680-A71673CB0BFF}"/>
              </a:ext>
            </a:extLst>
          </p:cNvPr>
          <p:cNvSpPr>
            <a:spLocks noGrp="1"/>
          </p:cNvSpPr>
          <p:nvPr/>
        </p:nvSpPr>
        <p:spPr>
          <a:xfrm>
            <a:off x="723900" y="3219450"/>
            <a:ext cx="4429125" cy="1981200"/>
          </a:xfrm>
          <a:prstGeom prst="rect">
            <a:avLst/>
          </a:prstGeom>
        </p:spPr>
        <p:txBody>
          <a:bodyPr wrap="square" lIns="0" tIns="0" rIns="0" bIns="0" anchor="t">
            <a:normAutofit/>
          </a:bodyPr>
          <a:lstStyle/>
          <a:p>
            <a:pPr algn="l">
              <a:defRPr sz="1575" b="0">
                <a:solidFill>
                  <a:srgbClr val="5F6368"/>
                </a:solidFill>
                <a:latin typeface="Helvetica Neue"/>
                <a:ea typeface="Helvetica Neue"/>
                <a:cs typeface="Helvetica Neue"/>
              </a:defRPr>
            </a:pPr>
            <a:r>
              <a:t>Seasonal example
30% revenue/day
25% delivered orders
25% ROAS
10% delivery cost
10% negative rate</a:t>
            </a:r>
          </a:p>
        </p:txBody>
      </p:sp>
      <p:sp>
        <p:nvSpPr>
          <p:cNvPr id="11" name="text-148">
            <a:extLst>
              <a:ext uri="{FF2B5EF4-FFF2-40B4-BE49-F238E27FC236}">
                <a16:creationId xmlns:a16="http://schemas.microsoft.com/office/drawing/2014/main" id="{5F80FD80-1DBC-48AE-9673-9227E763843F}"/>
              </a:ext>
            </a:extLst>
          </p:cNvPr>
          <p:cNvSpPr>
            <a:spLocks noGrp="1"/>
          </p:cNvSpPr>
          <p:nvPr/>
        </p:nvSpPr>
        <p:spPr>
          <a:xfrm>
            <a:off x="7038975" y="1924050"/>
            <a:ext cx="4429125" cy="342900"/>
          </a:xfrm>
          <a:prstGeom prst="rect">
            <a:avLst/>
          </a:prstGeom>
        </p:spPr>
        <p:txBody>
          <a:bodyPr wrap="square" lIns="0" tIns="0" rIns="0" bIns="0" anchor="t">
            <a:normAutofit/>
          </a:bodyPr>
          <a:lstStyle/>
          <a:p>
            <a:pPr algn="l">
              <a:defRPr sz="1650" b="1">
                <a:solidFill>
                  <a:srgbClr val="3D8DFF"/>
                </a:solidFill>
                <a:latin typeface="Helvetica Neue"/>
                <a:ea typeface="Helvetica Neue"/>
                <a:cs typeface="Helvetica Neue"/>
              </a:defRPr>
            </a:pPr>
            <a:r>
              <a:t>src_2 POLICY</a:t>
            </a:r>
          </a:p>
        </p:txBody>
      </p:sp>
      <p:sp>
        <p:nvSpPr>
          <p:cNvPr id="12" name="text-149">
            <a:extLst>
              <a:ext uri="{FF2B5EF4-FFF2-40B4-BE49-F238E27FC236}">
                <a16:creationId xmlns:a16="http://schemas.microsoft.com/office/drawing/2014/main" id="{9F97F3E8-5A3E-4890-A700-0DA0F87B0C47}"/>
              </a:ext>
            </a:extLst>
          </p:cNvPr>
          <p:cNvSpPr>
            <a:spLocks noGrp="1"/>
          </p:cNvSpPr>
          <p:nvPr/>
        </p:nvSpPr>
        <p:spPr>
          <a:xfrm>
            <a:off x="7038975" y="2476500"/>
            <a:ext cx="4429125" cy="514350"/>
          </a:xfrm>
          <a:prstGeom prst="rect">
            <a:avLst/>
          </a:prstGeom>
        </p:spPr>
        <p:txBody>
          <a:bodyPr wrap="square" lIns="0" tIns="0" rIns="0" bIns="0" anchor="t">
            <a:normAutofit/>
          </a:bodyPr>
          <a:lstStyle/>
          <a:p>
            <a:pPr algn="l">
              <a:defRPr sz="2475" b="1">
                <a:solidFill>
                  <a:srgbClr val="000000"/>
                </a:solidFill>
                <a:latin typeface="Helvetica Neue"/>
                <a:ea typeface="Helvetica Neue"/>
                <a:cs typeface="Helvetica Neue"/>
              </a:defRPr>
            </a:pPr>
            <a:r>
              <a:t>Primary + support + guards</a:t>
            </a:r>
          </a:p>
        </p:txBody>
      </p:sp>
      <p:sp>
        <p:nvSpPr>
          <p:cNvPr id="13" name="text-150">
            <a:extLst>
              <a:ext uri="{FF2B5EF4-FFF2-40B4-BE49-F238E27FC236}">
                <a16:creationId xmlns:a16="http://schemas.microsoft.com/office/drawing/2014/main" id="{1427806A-7CEE-46C6-B789-47A8B73C5768}"/>
              </a:ext>
            </a:extLst>
          </p:cNvPr>
          <p:cNvSpPr>
            <a:spLocks noGrp="1"/>
          </p:cNvSpPr>
          <p:nvPr/>
        </p:nvSpPr>
        <p:spPr>
          <a:xfrm>
            <a:off x="7038975" y="3219450"/>
            <a:ext cx="4429125" cy="1981200"/>
          </a:xfrm>
          <a:prstGeom prst="rect">
            <a:avLst/>
          </a:prstGeom>
        </p:spPr>
        <p:txBody>
          <a:bodyPr wrap="square" lIns="0" tIns="0" rIns="0" bIns="0" anchor="t">
            <a:normAutofit/>
          </a:bodyPr>
          <a:lstStyle/>
          <a:p>
            <a:pPr algn="l">
              <a:defRPr sz="1575" b="0">
                <a:solidFill>
                  <a:srgbClr val="5F6368"/>
                </a:solidFill>
                <a:latin typeface="Helvetica Neue"/>
                <a:ea typeface="Helvetica Neue"/>
                <a:cs typeface="Helvetica Neue"/>
              </a:defRPr>
            </a:pPr>
            <a:r>
              <a:t>Primary: net revenue/day
Support: orders, ROAS, cost, AOV
Guards: evidence, delivery, outcome quality
No hidden weighted average</a:t>
            </a:r>
          </a:p>
        </p:txBody>
      </p:sp>
      <p:sp>
        <p:nvSpPr>
          <p:cNvPr id="14" name="text-151">
            <a:extLst>
              <a:ext uri="{FF2B5EF4-FFF2-40B4-BE49-F238E27FC236}">
                <a16:creationId xmlns:a16="http://schemas.microsoft.com/office/drawing/2014/main" id="{AA9CF7EF-FC03-468B-80A4-0D0EC88374A6}"/>
              </a:ext>
            </a:extLst>
          </p:cNvPr>
          <p:cNvSpPr>
            <a:spLocks noGrp="1"/>
          </p:cNvSpPr>
          <p:nvPr/>
        </p:nvSpPr>
        <p:spPr>
          <a:xfrm>
            <a:off x="1428750" y="5867400"/>
            <a:ext cx="9334500" cy="342900"/>
          </a:xfrm>
          <a:prstGeom prst="rect">
            <a:avLst/>
          </a:prstGeom>
        </p:spPr>
        <p:txBody>
          <a:bodyPr wrap="square" lIns="0" tIns="0" rIns="0" bIns="0" anchor="t">
            <a:normAutofit fontScale="99133"/>
          </a:bodyPr>
          <a:lstStyle/>
          <a:p>
            <a:pPr algn="ctr">
              <a:defRPr sz="1725" b="1">
                <a:solidFill>
                  <a:srgbClr val="3D8DFF"/>
                </a:solidFill>
                <a:latin typeface="Helvetica Neue"/>
                <a:ea typeface="Helvetica Neue"/>
                <a:cs typeface="Helvetica Neue"/>
              </a:defRPr>
            </a:pPr>
            <a:r>
              <a:t>Transparent business rules replace a score whose result depends on unapproved weights.</a:t>
            </a:r>
          </a:p>
        </p:txBody>
      </p:sp>
    </p:spTree>
    <p:extLst>
      <p:ext uri="{BB962C8B-B14F-4D97-AF65-F5344CB8AC3E}">
        <p14:creationId xmlns:p14="http://schemas.microsoft.com/office/powerpoint/2010/main" val="1252145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11-title">
            <a:extLst>
              <a:ext uri="{FF2B5EF4-FFF2-40B4-BE49-F238E27FC236}">
                <a16:creationId xmlns:a16="http://schemas.microsoft.com/office/drawing/2014/main" id="{1A997952-F7A3-49B9-9C2A-F7592712C4B1}"/>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Target status follows explicit gates</a:t>
            </a:r>
          </a:p>
        </p:txBody>
      </p:sp>
      <p:cxnSp>
        <p:nvCxnSpPr>
          <p:cNvPr id="31" name="line-182"/>
          <p:cNvCxnSpPr/>
          <p:nvPr/>
        </p:nvCxnSpPr>
        <p:spPr>
          <a:xfrm>
            <a:off x="495300" y="1057275"/>
            <a:ext cx="11296650" cy="9525"/>
          </a:xfrm>
          <a:prstGeom prst="straightConnector1">
            <a:avLst/>
          </a:prstGeom>
          <a:ln w="9525">
            <a:solidFill>
              <a:srgbClr val="B8BCC4"/>
            </a:solidFill>
            <a:prstDash val="solid"/>
          </a:ln>
        </p:spPr>
      </p:cxnSp>
      <p:sp>
        <p:nvSpPr>
          <p:cNvPr id="3" name="slide-11-source">
            <a:extLst>
              <a:ext uri="{FF2B5EF4-FFF2-40B4-BE49-F238E27FC236}">
                <a16:creationId xmlns:a16="http://schemas.microsoft.com/office/drawing/2014/main" id="{3C1B7F88-E59D-4E8D-A74A-152D53E6F287}"/>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src_2/domain/assessment_rules.py</a:t>
            </a:r>
          </a:p>
        </p:txBody>
      </p:sp>
      <p:sp>
        <p:nvSpPr>
          <p:cNvPr id="4" name="slide-11-number">
            <a:extLst>
              <a:ext uri="{FF2B5EF4-FFF2-40B4-BE49-F238E27FC236}">
                <a16:creationId xmlns:a16="http://schemas.microsoft.com/office/drawing/2014/main" id="{4B70FB77-BEF7-4BCE-982A-0CEEF42F762E}"/>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11</a:t>
            </a:r>
          </a:p>
        </p:txBody>
      </p:sp>
      <p:cxnSp>
        <p:nvCxnSpPr>
          <p:cNvPr id="34" name="line-156"/>
          <p:cNvCxnSpPr/>
          <p:nvPr/>
        </p:nvCxnSpPr>
        <p:spPr>
          <a:xfrm>
            <a:off x="2238375" y="2762250"/>
            <a:ext cx="1190625" cy="9525"/>
          </a:xfrm>
          <a:prstGeom prst="straightConnector1">
            <a:avLst/>
          </a:prstGeom>
          <a:ln w="28575">
            <a:solidFill>
              <a:srgbClr val="B8BCC4"/>
            </a:solidFill>
            <a:prstDash val="solid"/>
          </a:ln>
        </p:spPr>
      </p:cxnSp>
      <p:cxnSp>
        <p:nvCxnSpPr>
          <p:cNvPr id="35" name="line-157"/>
          <p:cNvCxnSpPr/>
          <p:nvPr/>
        </p:nvCxnSpPr>
        <p:spPr>
          <a:xfrm>
            <a:off x="5191125" y="2762250"/>
            <a:ext cx="1190625" cy="9525"/>
          </a:xfrm>
          <a:prstGeom prst="straightConnector1">
            <a:avLst/>
          </a:prstGeom>
          <a:ln w="28575">
            <a:solidFill>
              <a:srgbClr val="B8BCC4"/>
            </a:solidFill>
            <a:prstDash val="solid"/>
          </a:ln>
        </p:spPr>
      </p:cxnSp>
      <p:cxnSp>
        <p:nvCxnSpPr>
          <p:cNvPr id="36" name="line-158"/>
          <p:cNvCxnSpPr/>
          <p:nvPr/>
        </p:nvCxnSpPr>
        <p:spPr>
          <a:xfrm>
            <a:off x="8143875" y="2762250"/>
            <a:ext cx="1190625" cy="9525"/>
          </a:xfrm>
          <a:prstGeom prst="straightConnector1">
            <a:avLst/>
          </a:prstGeom>
          <a:ln w="28575">
            <a:solidFill>
              <a:srgbClr val="B8BCC4"/>
            </a:solidFill>
            <a:prstDash val="solid"/>
          </a:ln>
        </p:spPr>
      </p:cxnSp>
      <p:sp>
        <p:nvSpPr>
          <p:cNvPr id="8" name="shape-159">
            <a:extLst>
              <a:ext uri="{FF2B5EF4-FFF2-40B4-BE49-F238E27FC236}">
                <a16:creationId xmlns:a16="http://schemas.microsoft.com/office/drawing/2014/main" id="{20C1B4DD-ABA4-46D7-B76B-0544EFDDDABA}"/>
              </a:ext>
            </a:extLst>
          </p:cNvPr>
          <p:cNvSpPr>
            <a:spLocks noGrp="1"/>
          </p:cNvSpPr>
          <p:nvPr/>
        </p:nvSpPr>
        <p:spPr>
          <a:xfrm>
            <a:off x="390525" y="2038350"/>
            <a:ext cx="1847850" cy="1447800"/>
          </a:xfrm>
          <a:prstGeom prst="rect">
            <a:avLst/>
          </a:prstGeom>
          <a:solidFill>
            <a:srgbClr val="F7F7F7"/>
          </a:solidFill>
          <a:ln w="9525">
            <a:solidFill>
              <a:srgbClr val="B8BCC4"/>
            </a:solidFill>
            <a:prstDash val="solid"/>
          </a:ln>
        </p:spPr>
        <p:txBody>
          <a:bodyPr/>
          <a:lstStyle/>
          <a:p>
            <a:endParaRPr lang="en-DE"/>
          </a:p>
        </p:txBody>
      </p:sp>
      <p:sp>
        <p:nvSpPr>
          <p:cNvPr id="9" name="shape-160">
            <a:extLst>
              <a:ext uri="{FF2B5EF4-FFF2-40B4-BE49-F238E27FC236}">
                <a16:creationId xmlns:a16="http://schemas.microsoft.com/office/drawing/2014/main" id="{8EC849A3-20B3-4174-9159-C0C7978A5E41}"/>
              </a:ext>
            </a:extLst>
          </p:cNvPr>
          <p:cNvSpPr>
            <a:spLocks noGrp="1"/>
          </p:cNvSpPr>
          <p:nvPr/>
        </p:nvSpPr>
        <p:spPr>
          <a:xfrm>
            <a:off x="3429000" y="2038350"/>
            <a:ext cx="1762125" cy="1447800"/>
          </a:xfrm>
          <a:prstGeom prst="rect">
            <a:avLst/>
          </a:prstGeom>
          <a:solidFill>
            <a:srgbClr val="D0EDFA"/>
          </a:solidFill>
          <a:ln w="9525">
            <a:solidFill>
              <a:srgbClr val="B8BCC4"/>
            </a:solidFill>
            <a:prstDash val="solid"/>
          </a:ln>
        </p:spPr>
        <p:txBody>
          <a:bodyPr/>
          <a:lstStyle/>
          <a:p>
            <a:endParaRPr lang="en-DE"/>
          </a:p>
        </p:txBody>
      </p:sp>
      <p:sp>
        <p:nvSpPr>
          <p:cNvPr id="10" name="shape-161">
            <a:extLst>
              <a:ext uri="{FF2B5EF4-FFF2-40B4-BE49-F238E27FC236}">
                <a16:creationId xmlns:a16="http://schemas.microsoft.com/office/drawing/2014/main" id="{05E609F4-4843-4DE5-B349-08A47AE66541}"/>
              </a:ext>
            </a:extLst>
          </p:cNvPr>
          <p:cNvSpPr>
            <a:spLocks noGrp="1"/>
          </p:cNvSpPr>
          <p:nvPr/>
        </p:nvSpPr>
        <p:spPr>
          <a:xfrm>
            <a:off x="6381750" y="2038350"/>
            <a:ext cx="1762125" cy="1447800"/>
          </a:xfrm>
          <a:prstGeom prst="rect">
            <a:avLst/>
          </a:prstGeom>
          <a:solidFill>
            <a:srgbClr val="EDEDED"/>
          </a:solidFill>
          <a:ln w="9525">
            <a:solidFill>
              <a:srgbClr val="B8BCC4"/>
            </a:solidFill>
            <a:prstDash val="solid"/>
          </a:ln>
        </p:spPr>
        <p:txBody>
          <a:bodyPr/>
          <a:lstStyle/>
          <a:p>
            <a:endParaRPr lang="en-DE"/>
          </a:p>
        </p:txBody>
      </p:sp>
      <p:sp>
        <p:nvSpPr>
          <p:cNvPr id="11" name="shape-162">
            <a:extLst>
              <a:ext uri="{FF2B5EF4-FFF2-40B4-BE49-F238E27FC236}">
                <a16:creationId xmlns:a16="http://schemas.microsoft.com/office/drawing/2014/main" id="{C8D7E007-9922-40A8-A2BA-1B0FC82CCE7F}"/>
              </a:ext>
            </a:extLst>
          </p:cNvPr>
          <p:cNvSpPr>
            <a:spLocks noGrp="1"/>
          </p:cNvSpPr>
          <p:nvPr/>
        </p:nvSpPr>
        <p:spPr>
          <a:xfrm>
            <a:off x="9334500" y="2038350"/>
            <a:ext cx="2466975" cy="1447800"/>
          </a:xfrm>
          <a:prstGeom prst="rect">
            <a:avLst/>
          </a:prstGeom>
          <a:solidFill>
            <a:srgbClr val="000000"/>
          </a:solidFill>
          <a:ln w="9525">
            <a:solidFill>
              <a:srgbClr val="000000"/>
            </a:solidFill>
            <a:prstDash val="solid"/>
          </a:ln>
        </p:spPr>
        <p:txBody>
          <a:bodyPr/>
          <a:lstStyle/>
          <a:p>
            <a:endParaRPr lang="en-DE"/>
          </a:p>
        </p:txBody>
      </p:sp>
      <p:sp>
        <p:nvSpPr>
          <p:cNvPr id="12" name="text-163">
            <a:extLst>
              <a:ext uri="{FF2B5EF4-FFF2-40B4-BE49-F238E27FC236}">
                <a16:creationId xmlns:a16="http://schemas.microsoft.com/office/drawing/2014/main" id="{49F10228-0BB2-48EA-8FFA-39A0A973F7D4}"/>
              </a:ext>
            </a:extLst>
          </p:cNvPr>
          <p:cNvSpPr>
            <a:spLocks noGrp="1"/>
          </p:cNvSpPr>
          <p:nvPr/>
        </p:nvSpPr>
        <p:spPr>
          <a:xfrm>
            <a:off x="590550" y="2333625"/>
            <a:ext cx="1447800" cy="381000"/>
          </a:xfrm>
          <a:prstGeom prst="rect">
            <a:avLst/>
          </a:prstGeom>
        </p:spPr>
        <p:txBody>
          <a:bodyPr wrap="square" lIns="0" tIns="0" rIns="0" bIns="0" anchor="t">
            <a:normAutofit fontScale="88134"/>
          </a:bodyPr>
          <a:lstStyle/>
          <a:p>
            <a:pPr algn="ctr">
              <a:defRPr sz="1650" b="1">
                <a:solidFill>
                  <a:srgbClr val="000000"/>
                </a:solidFill>
                <a:latin typeface="Helvetica Neue"/>
                <a:ea typeface="Helvetica Neue"/>
                <a:cs typeface="Helvetica Neue"/>
              </a:defRPr>
            </a:pPr>
            <a:r>
              <a:t>Evidence ready?</a:t>
            </a:r>
          </a:p>
        </p:txBody>
      </p:sp>
      <p:sp>
        <p:nvSpPr>
          <p:cNvPr id="13" name="text-164">
            <a:extLst>
              <a:ext uri="{FF2B5EF4-FFF2-40B4-BE49-F238E27FC236}">
                <a16:creationId xmlns:a16="http://schemas.microsoft.com/office/drawing/2014/main" id="{04ACA632-F00F-4526-8A68-D697EC1DFB3A}"/>
              </a:ext>
            </a:extLst>
          </p:cNvPr>
          <p:cNvSpPr>
            <a:spLocks noGrp="1"/>
          </p:cNvSpPr>
          <p:nvPr/>
        </p:nvSpPr>
        <p:spPr>
          <a:xfrm>
            <a:off x="590550" y="2857500"/>
            <a:ext cx="1447800" cy="419100"/>
          </a:xfrm>
          <a:prstGeom prst="rect">
            <a:avLst/>
          </a:prstGeom>
        </p:spPr>
        <p:txBody>
          <a:bodyPr wrap="square" lIns="0" tIns="0" rIns="0" bIns="0" anchor="t">
            <a:normAutofit/>
          </a:bodyPr>
          <a:lstStyle/>
          <a:p>
            <a:pPr algn="ctr">
              <a:defRPr sz="1200" b="0">
                <a:solidFill>
                  <a:srgbClr val="000000"/>
                </a:solidFill>
                <a:latin typeface="Helvetica Neue"/>
                <a:ea typeface="Helvetica Neue"/>
                <a:cs typeface="Helvetica Neue"/>
              </a:defRPr>
            </a:pPr>
            <a:r>
              <a:t>Complete and mature enough</a:t>
            </a:r>
          </a:p>
        </p:txBody>
      </p:sp>
      <p:sp>
        <p:nvSpPr>
          <p:cNvPr id="14" name="text-165">
            <a:extLst>
              <a:ext uri="{FF2B5EF4-FFF2-40B4-BE49-F238E27FC236}">
                <a16:creationId xmlns:a16="http://schemas.microsoft.com/office/drawing/2014/main" id="{EF11740B-8467-45BF-B54C-846A2E2A61B7}"/>
              </a:ext>
            </a:extLst>
          </p:cNvPr>
          <p:cNvSpPr>
            <a:spLocks noGrp="1"/>
          </p:cNvSpPr>
          <p:nvPr/>
        </p:nvSpPr>
        <p:spPr>
          <a:xfrm>
            <a:off x="3619500" y="2333625"/>
            <a:ext cx="1381125" cy="381000"/>
          </a:xfrm>
          <a:prstGeom prst="rect">
            <a:avLst/>
          </a:prstGeom>
        </p:spPr>
        <p:txBody>
          <a:bodyPr wrap="square" lIns="0" tIns="0" rIns="0" bIns="0" anchor="t">
            <a:normAutofit fontScale="78979"/>
          </a:bodyPr>
          <a:lstStyle/>
          <a:p>
            <a:pPr algn="ctr">
              <a:defRPr sz="1650" b="1">
                <a:solidFill>
                  <a:srgbClr val="000000"/>
                </a:solidFill>
                <a:latin typeface="Helvetica Neue"/>
                <a:ea typeface="Helvetica Neue"/>
                <a:cs typeface="Helvetica Neue"/>
              </a:defRPr>
            </a:pPr>
            <a:r>
              <a:t>Primary KPI met?</a:t>
            </a:r>
          </a:p>
        </p:txBody>
      </p:sp>
      <p:sp>
        <p:nvSpPr>
          <p:cNvPr id="15" name="text-166">
            <a:extLst>
              <a:ext uri="{FF2B5EF4-FFF2-40B4-BE49-F238E27FC236}">
                <a16:creationId xmlns:a16="http://schemas.microsoft.com/office/drawing/2014/main" id="{27BA818E-BB30-4526-8F0E-92DEB8D50FF5}"/>
              </a:ext>
            </a:extLst>
          </p:cNvPr>
          <p:cNvSpPr>
            <a:spLocks noGrp="1"/>
          </p:cNvSpPr>
          <p:nvPr/>
        </p:nvSpPr>
        <p:spPr>
          <a:xfrm>
            <a:off x="3619500" y="2857500"/>
            <a:ext cx="1381125" cy="419100"/>
          </a:xfrm>
          <a:prstGeom prst="rect">
            <a:avLst/>
          </a:prstGeom>
        </p:spPr>
        <p:txBody>
          <a:bodyPr wrap="square" lIns="0" tIns="0" rIns="0" bIns="0" anchor="t">
            <a:normAutofit fontScale="82509"/>
          </a:bodyPr>
          <a:lstStyle/>
          <a:p>
            <a:pPr algn="ctr">
              <a:defRPr sz="1200" b="0">
                <a:solidFill>
                  <a:srgbClr val="000000"/>
                </a:solidFill>
                <a:latin typeface="Helvetica Neue"/>
                <a:ea typeface="Helvetica Neue"/>
                <a:cs typeface="Helvetica Neue"/>
              </a:defRPr>
            </a:pPr>
            <a:r>
              <a:t>Actual versus documented benchmark</a:t>
            </a:r>
          </a:p>
        </p:txBody>
      </p:sp>
      <p:sp>
        <p:nvSpPr>
          <p:cNvPr id="16" name="text-167">
            <a:extLst>
              <a:ext uri="{FF2B5EF4-FFF2-40B4-BE49-F238E27FC236}">
                <a16:creationId xmlns:a16="http://schemas.microsoft.com/office/drawing/2014/main" id="{C73CD4B4-BA7D-4501-AD39-94B451F6C24C}"/>
              </a:ext>
            </a:extLst>
          </p:cNvPr>
          <p:cNvSpPr>
            <a:spLocks noGrp="1"/>
          </p:cNvSpPr>
          <p:nvPr/>
        </p:nvSpPr>
        <p:spPr>
          <a:xfrm>
            <a:off x="6572250" y="2333625"/>
            <a:ext cx="1381125" cy="381000"/>
          </a:xfrm>
          <a:prstGeom prst="rect">
            <a:avLst/>
          </a:prstGeom>
        </p:spPr>
        <p:txBody>
          <a:bodyPr wrap="square" lIns="0" tIns="0" rIns="0" bIns="0" anchor="t">
            <a:normAutofit/>
          </a:bodyPr>
          <a:lstStyle/>
          <a:p>
            <a:pPr algn="ctr">
              <a:defRPr sz="1650" b="1">
                <a:solidFill>
                  <a:srgbClr val="000000"/>
                </a:solidFill>
                <a:latin typeface="Helvetica Neue"/>
                <a:ea typeface="Helvetica Neue"/>
                <a:cs typeface="Helvetica Neue"/>
              </a:defRPr>
            </a:pPr>
            <a:r>
              <a:t>Guards pass?</a:t>
            </a:r>
          </a:p>
        </p:txBody>
      </p:sp>
      <p:sp>
        <p:nvSpPr>
          <p:cNvPr id="17" name="text-168">
            <a:extLst>
              <a:ext uri="{FF2B5EF4-FFF2-40B4-BE49-F238E27FC236}">
                <a16:creationId xmlns:a16="http://schemas.microsoft.com/office/drawing/2014/main" id="{E1739A80-3587-49FF-97E6-273599C0DBF6}"/>
              </a:ext>
            </a:extLst>
          </p:cNvPr>
          <p:cNvSpPr>
            <a:spLocks noGrp="1"/>
          </p:cNvSpPr>
          <p:nvPr/>
        </p:nvSpPr>
        <p:spPr>
          <a:xfrm>
            <a:off x="6572250" y="2857500"/>
            <a:ext cx="1381125" cy="419100"/>
          </a:xfrm>
          <a:prstGeom prst="rect">
            <a:avLst/>
          </a:prstGeom>
        </p:spPr>
        <p:txBody>
          <a:bodyPr wrap="square" lIns="0" tIns="0" rIns="0" bIns="0" anchor="t">
            <a:normAutofit/>
          </a:bodyPr>
          <a:lstStyle/>
          <a:p>
            <a:pPr algn="ctr">
              <a:defRPr sz="1200" b="0">
                <a:solidFill>
                  <a:srgbClr val="000000"/>
                </a:solidFill>
                <a:latin typeface="Helvetica Neue"/>
                <a:ea typeface="Helvetica Neue"/>
                <a:cs typeface="Helvetica Neue"/>
              </a:defRPr>
            </a:pPr>
            <a:r>
              <a:t>Evidence, delivery, quality</a:t>
            </a:r>
          </a:p>
        </p:txBody>
      </p:sp>
      <p:sp>
        <p:nvSpPr>
          <p:cNvPr id="18" name="text-169">
            <a:extLst>
              <a:ext uri="{FF2B5EF4-FFF2-40B4-BE49-F238E27FC236}">
                <a16:creationId xmlns:a16="http://schemas.microsoft.com/office/drawing/2014/main" id="{1FB1EA7A-E001-41FF-9BE8-05A0EF9B75A6}"/>
              </a:ext>
            </a:extLst>
          </p:cNvPr>
          <p:cNvSpPr>
            <a:spLocks noGrp="1"/>
          </p:cNvSpPr>
          <p:nvPr/>
        </p:nvSpPr>
        <p:spPr>
          <a:xfrm>
            <a:off x="9610725" y="2333625"/>
            <a:ext cx="1914525" cy="381000"/>
          </a:xfrm>
          <a:prstGeom prst="rect">
            <a:avLst/>
          </a:prstGeom>
        </p:spPr>
        <p:txBody>
          <a:bodyPr wrap="square" lIns="0" tIns="0" rIns="0" bIns="0" anchor="t">
            <a:normAutofit/>
          </a:bodyPr>
          <a:lstStyle/>
          <a:p>
            <a:pPr algn="ctr">
              <a:defRPr sz="1650" b="1">
                <a:solidFill>
                  <a:srgbClr val="FFFFFF"/>
                </a:solidFill>
                <a:latin typeface="Helvetica Neue"/>
                <a:ea typeface="Helvetica Neue"/>
                <a:cs typeface="Helvetica Neue"/>
              </a:defRPr>
            </a:pPr>
            <a:r>
              <a:t>TARGET STATUS</a:t>
            </a:r>
          </a:p>
        </p:txBody>
      </p:sp>
      <p:sp>
        <p:nvSpPr>
          <p:cNvPr id="19" name="text-170">
            <a:extLst>
              <a:ext uri="{FF2B5EF4-FFF2-40B4-BE49-F238E27FC236}">
                <a16:creationId xmlns:a16="http://schemas.microsoft.com/office/drawing/2014/main" id="{153992D3-498D-45BB-9AD9-E9FDF5C4634A}"/>
              </a:ext>
            </a:extLst>
          </p:cNvPr>
          <p:cNvSpPr>
            <a:spLocks noGrp="1"/>
          </p:cNvSpPr>
          <p:nvPr/>
        </p:nvSpPr>
        <p:spPr>
          <a:xfrm>
            <a:off x="9610725" y="2857500"/>
            <a:ext cx="1914525" cy="419100"/>
          </a:xfrm>
          <a:prstGeom prst="rect">
            <a:avLst/>
          </a:prstGeom>
        </p:spPr>
        <p:txBody>
          <a:bodyPr wrap="square" lIns="0" tIns="0" rIns="0" bIns="0" anchor="t">
            <a:normAutofit/>
          </a:bodyPr>
          <a:lstStyle/>
          <a:p>
            <a:pPr algn="ctr">
              <a:defRPr sz="1200" b="0">
                <a:solidFill>
                  <a:srgbClr val="FFFFFF"/>
                </a:solidFill>
                <a:latin typeface="Helvetica Neue"/>
                <a:ea typeface="Helvetica Neue"/>
                <a:cs typeface="Helvetica Neue"/>
              </a:defRPr>
            </a:pPr>
            <a:r>
              <a:t>Deterministic classification</a:t>
            </a:r>
          </a:p>
        </p:txBody>
      </p:sp>
      <p:sp>
        <p:nvSpPr>
          <p:cNvPr id="20" name="shape-171">
            <a:extLst>
              <a:ext uri="{FF2B5EF4-FFF2-40B4-BE49-F238E27FC236}">
                <a16:creationId xmlns:a16="http://schemas.microsoft.com/office/drawing/2014/main" id="{BD75F1F7-A307-4101-AB57-F49EE1205ECA}"/>
              </a:ext>
            </a:extLst>
          </p:cNvPr>
          <p:cNvSpPr>
            <a:spLocks noGrp="1"/>
          </p:cNvSpPr>
          <p:nvPr/>
        </p:nvSpPr>
        <p:spPr>
          <a:xfrm>
            <a:off x="390525" y="4514850"/>
            <a:ext cx="2038350" cy="895350"/>
          </a:xfrm>
          <a:prstGeom prst="rect">
            <a:avLst/>
          </a:prstGeom>
          <a:solidFill>
            <a:srgbClr val="A9D6B9"/>
          </a:solidFill>
          <a:ln w="9525">
            <a:solidFill>
              <a:srgbClr val="A9D6B9"/>
            </a:solidFill>
            <a:prstDash val="solid"/>
          </a:ln>
        </p:spPr>
        <p:txBody>
          <a:bodyPr/>
          <a:lstStyle/>
          <a:p>
            <a:endParaRPr lang="en-DE"/>
          </a:p>
        </p:txBody>
      </p:sp>
      <p:sp>
        <p:nvSpPr>
          <p:cNvPr id="21" name="text-172">
            <a:extLst>
              <a:ext uri="{FF2B5EF4-FFF2-40B4-BE49-F238E27FC236}">
                <a16:creationId xmlns:a16="http://schemas.microsoft.com/office/drawing/2014/main" id="{77435041-3662-4CE3-9436-F65A98AE1FBC}"/>
              </a:ext>
            </a:extLst>
          </p:cNvPr>
          <p:cNvSpPr>
            <a:spLocks noGrp="1"/>
          </p:cNvSpPr>
          <p:nvPr/>
        </p:nvSpPr>
        <p:spPr>
          <a:xfrm>
            <a:off x="504825" y="4762500"/>
            <a:ext cx="1809750" cy="400050"/>
          </a:xfrm>
          <a:prstGeom prst="rect">
            <a:avLst/>
          </a:prstGeom>
        </p:spPr>
        <p:txBody>
          <a:bodyPr wrap="square" lIns="0" tIns="0" rIns="0" bIns="0" anchor="ctr">
            <a:normAutofit/>
          </a:bodyPr>
          <a:lstStyle/>
          <a:p>
            <a:pPr algn="ctr">
              <a:defRPr sz="1350" b="1">
                <a:solidFill>
                  <a:srgbClr val="000000"/>
                </a:solidFill>
                <a:latin typeface="Helvetica Neue"/>
                <a:ea typeface="Helvetica Neue"/>
                <a:cs typeface="Helvetica Neue"/>
              </a:defRPr>
            </a:pPr>
            <a:r>
              <a:t>ACHIEVED</a:t>
            </a:r>
          </a:p>
        </p:txBody>
      </p:sp>
      <p:sp>
        <p:nvSpPr>
          <p:cNvPr id="22" name="shape-173">
            <a:extLst>
              <a:ext uri="{FF2B5EF4-FFF2-40B4-BE49-F238E27FC236}">
                <a16:creationId xmlns:a16="http://schemas.microsoft.com/office/drawing/2014/main" id="{C9D7DF70-5884-45E7-93C9-29F542566D76}"/>
              </a:ext>
            </a:extLst>
          </p:cNvPr>
          <p:cNvSpPr>
            <a:spLocks noGrp="1"/>
          </p:cNvSpPr>
          <p:nvPr/>
        </p:nvSpPr>
        <p:spPr>
          <a:xfrm>
            <a:off x="2733675" y="4514850"/>
            <a:ext cx="2038350" cy="895350"/>
          </a:xfrm>
          <a:prstGeom prst="rect">
            <a:avLst/>
          </a:prstGeom>
          <a:solidFill>
            <a:srgbClr val="F4C27A"/>
          </a:solidFill>
          <a:ln w="9525">
            <a:solidFill>
              <a:srgbClr val="F4C27A"/>
            </a:solidFill>
            <a:prstDash val="solid"/>
          </a:ln>
        </p:spPr>
        <p:txBody>
          <a:bodyPr/>
          <a:lstStyle/>
          <a:p>
            <a:endParaRPr lang="en-DE"/>
          </a:p>
        </p:txBody>
      </p:sp>
      <p:sp>
        <p:nvSpPr>
          <p:cNvPr id="23" name="text-174">
            <a:extLst>
              <a:ext uri="{FF2B5EF4-FFF2-40B4-BE49-F238E27FC236}">
                <a16:creationId xmlns:a16="http://schemas.microsoft.com/office/drawing/2014/main" id="{82F380EB-C569-40E2-9078-7464AD10B36F}"/>
              </a:ext>
            </a:extLst>
          </p:cNvPr>
          <p:cNvSpPr>
            <a:spLocks noGrp="1"/>
          </p:cNvSpPr>
          <p:nvPr/>
        </p:nvSpPr>
        <p:spPr>
          <a:xfrm>
            <a:off x="2847975" y="4762500"/>
            <a:ext cx="1809750" cy="400050"/>
          </a:xfrm>
          <a:prstGeom prst="rect">
            <a:avLst/>
          </a:prstGeom>
        </p:spPr>
        <p:txBody>
          <a:bodyPr wrap="square" lIns="0" tIns="0" rIns="0" bIns="0" anchor="ctr">
            <a:normAutofit/>
          </a:bodyPr>
          <a:lstStyle/>
          <a:p>
            <a:pPr algn="ctr">
              <a:defRPr sz="1350" b="1">
                <a:solidFill>
                  <a:srgbClr val="000000"/>
                </a:solidFill>
                <a:latin typeface="Helvetica Neue"/>
                <a:ea typeface="Helvetica Neue"/>
                <a:cs typeface="Helvetica Neue"/>
              </a:defRPr>
            </a:pPr>
            <a:r>
              <a:t>WITH CONCERNS</a:t>
            </a:r>
          </a:p>
        </p:txBody>
      </p:sp>
      <p:sp>
        <p:nvSpPr>
          <p:cNvPr id="24" name="shape-175">
            <a:extLst>
              <a:ext uri="{FF2B5EF4-FFF2-40B4-BE49-F238E27FC236}">
                <a16:creationId xmlns:a16="http://schemas.microsoft.com/office/drawing/2014/main" id="{36F6DA13-294A-43E2-8A89-80CA916AB32B}"/>
              </a:ext>
            </a:extLst>
          </p:cNvPr>
          <p:cNvSpPr>
            <a:spLocks noGrp="1"/>
          </p:cNvSpPr>
          <p:nvPr/>
        </p:nvSpPr>
        <p:spPr>
          <a:xfrm>
            <a:off x="5076825" y="4514850"/>
            <a:ext cx="2038350" cy="895350"/>
          </a:xfrm>
          <a:prstGeom prst="rect">
            <a:avLst/>
          </a:prstGeom>
          <a:solidFill>
            <a:srgbClr val="E6A6A6"/>
          </a:solidFill>
          <a:ln w="9525">
            <a:solidFill>
              <a:srgbClr val="E6A6A6"/>
            </a:solidFill>
            <a:prstDash val="solid"/>
          </a:ln>
        </p:spPr>
        <p:txBody>
          <a:bodyPr/>
          <a:lstStyle/>
          <a:p>
            <a:endParaRPr lang="en-DE"/>
          </a:p>
        </p:txBody>
      </p:sp>
      <p:sp>
        <p:nvSpPr>
          <p:cNvPr id="25" name="text-176">
            <a:extLst>
              <a:ext uri="{FF2B5EF4-FFF2-40B4-BE49-F238E27FC236}">
                <a16:creationId xmlns:a16="http://schemas.microsoft.com/office/drawing/2014/main" id="{5994A3F5-E961-4DC0-947A-7E1D07CB63DE}"/>
              </a:ext>
            </a:extLst>
          </p:cNvPr>
          <p:cNvSpPr>
            <a:spLocks noGrp="1"/>
          </p:cNvSpPr>
          <p:nvPr/>
        </p:nvSpPr>
        <p:spPr>
          <a:xfrm>
            <a:off x="5191125" y="4762500"/>
            <a:ext cx="1809750" cy="400050"/>
          </a:xfrm>
          <a:prstGeom prst="rect">
            <a:avLst/>
          </a:prstGeom>
        </p:spPr>
        <p:txBody>
          <a:bodyPr wrap="square" lIns="0" tIns="0" rIns="0" bIns="0" anchor="ctr">
            <a:normAutofit/>
          </a:bodyPr>
          <a:lstStyle/>
          <a:p>
            <a:pPr algn="ctr">
              <a:defRPr sz="1350" b="1">
                <a:solidFill>
                  <a:srgbClr val="000000"/>
                </a:solidFill>
                <a:latin typeface="Helvetica Neue"/>
                <a:ea typeface="Helvetica Neue"/>
                <a:cs typeface="Helvetica Neue"/>
              </a:defRPr>
            </a:pPr>
            <a:r>
              <a:t>NOT ACHIEVED</a:t>
            </a:r>
          </a:p>
        </p:txBody>
      </p:sp>
      <p:sp>
        <p:nvSpPr>
          <p:cNvPr id="26" name="shape-177">
            <a:extLst>
              <a:ext uri="{FF2B5EF4-FFF2-40B4-BE49-F238E27FC236}">
                <a16:creationId xmlns:a16="http://schemas.microsoft.com/office/drawing/2014/main" id="{395E3DE4-B113-4265-B75E-A18A7E47BD7A}"/>
              </a:ext>
            </a:extLst>
          </p:cNvPr>
          <p:cNvSpPr>
            <a:spLocks noGrp="1"/>
          </p:cNvSpPr>
          <p:nvPr/>
        </p:nvSpPr>
        <p:spPr>
          <a:xfrm>
            <a:off x="7419975" y="4514850"/>
            <a:ext cx="2038350" cy="895350"/>
          </a:xfrm>
          <a:prstGeom prst="rect">
            <a:avLst/>
          </a:prstGeom>
          <a:solidFill>
            <a:srgbClr val="EDEDED"/>
          </a:solidFill>
          <a:ln w="9525">
            <a:solidFill>
              <a:srgbClr val="EDEDED"/>
            </a:solidFill>
            <a:prstDash val="solid"/>
          </a:ln>
        </p:spPr>
        <p:txBody>
          <a:bodyPr/>
          <a:lstStyle/>
          <a:p>
            <a:endParaRPr lang="en-DE"/>
          </a:p>
        </p:txBody>
      </p:sp>
      <p:sp>
        <p:nvSpPr>
          <p:cNvPr id="27" name="text-178">
            <a:extLst>
              <a:ext uri="{FF2B5EF4-FFF2-40B4-BE49-F238E27FC236}">
                <a16:creationId xmlns:a16="http://schemas.microsoft.com/office/drawing/2014/main" id="{FFE7DD0E-6E5E-4547-AF2C-B13F1F946568}"/>
              </a:ext>
            </a:extLst>
          </p:cNvPr>
          <p:cNvSpPr>
            <a:spLocks noGrp="1"/>
          </p:cNvSpPr>
          <p:nvPr/>
        </p:nvSpPr>
        <p:spPr>
          <a:xfrm>
            <a:off x="7534275" y="4762500"/>
            <a:ext cx="1809750" cy="400050"/>
          </a:xfrm>
          <a:prstGeom prst="rect">
            <a:avLst/>
          </a:prstGeom>
        </p:spPr>
        <p:txBody>
          <a:bodyPr wrap="square" lIns="0" tIns="0" rIns="0" bIns="0" anchor="ctr">
            <a:normAutofit/>
          </a:bodyPr>
          <a:lstStyle/>
          <a:p>
            <a:pPr algn="ctr">
              <a:defRPr sz="1350" b="1">
                <a:solidFill>
                  <a:srgbClr val="000000"/>
                </a:solidFill>
                <a:latin typeface="Helvetica Neue"/>
                <a:ea typeface="Helvetica Neue"/>
                <a:cs typeface="Helvetica Neue"/>
              </a:defRPr>
            </a:pPr>
            <a:r>
              <a:t>INSUFFICIENT</a:t>
            </a:r>
          </a:p>
        </p:txBody>
      </p:sp>
      <p:sp>
        <p:nvSpPr>
          <p:cNvPr id="28" name="shape-179">
            <a:extLst>
              <a:ext uri="{FF2B5EF4-FFF2-40B4-BE49-F238E27FC236}">
                <a16:creationId xmlns:a16="http://schemas.microsoft.com/office/drawing/2014/main" id="{E0FA2127-A3C1-468E-B3C5-B2114DACDDED}"/>
              </a:ext>
            </a:extLst>
          </p:cNvPr>
          <p:cNvSpPr>
            <a:spLocks noGrp="1"/>
          </p:cNvSpPr>
          <p:nvPr/>
        </p:nvSpPr>
        <p:spPr>
          <a:xfrm>
            <a:off x="9763125" y="4514850"/>
            <a:ext cx="2038350" cy="895350"/>
          </a:xfrm>
          <a:prstGeom prst="rect">
            <a:avLst/>
          </a:prstGeom>
          <a:solidFill>
            <a:srgbClr val="F7F7F7"/>
          </a:solidFill>
          <a:ln w="9525">
            <a:solidFill>
              <a:srgbClr val="F7F7F7"/>
            </a:solidFill>
            <a:prstDash val="solid"/>
          </a:ln>
        </p:spPr>
        <p:txBody>
          <a:bodyPr/>
          <a:lstStyle/>
          <a:p>
            <a:endParaRPr lang="en-DE"/>
          </a:p>
        </p:txBody>
      </p:sp>
      <p:sp>
        <p:nvSpPr>
          <p:cNvPr id="29" name="text-180">
            <a:extLst>
              <a:ext uri="{FF2B5EF4-FFF2-40B4-BE49-F238E27FC236}">
                <a16:creationId xmlns:a16="http://schemas.microsoft.com/office/drawing/2014/main" id="{CDBE7728-734F-4F85-B58F-9F9834B2113D}"/>
              </a:ext>
            </a:extLst>
          </p:cNvPr>
          <p:cNvSpPr>
            <a:spLocks noGrp="1"/>
          </p:cNvSpPr>
          <p:nvPr/>
        </p:nvSpPr>
        <p:spPr>
          <a:xfrm>
            <a:off x="9877425" y="4762500"/>
            <a:ext cx="1809750" cy="400050"/>
          </a:xfrm>
          <a:prstGeom prst="rect">
            <a:avLst/>
          </a:prstGeom>
        </p:spPr>
        <p:txBody>
          <a:bodyPr wrap="square" lIns="0" tIns="0" rIns="0" bIns="0" anchor="ctr">
            <a:normAutofit/>
          </a:bodyPr>
          <a:lstStyle/>
          <a:p>
            <a:pPr algn="ctr">
              <a:defRPr sz="1350" b="1">
                <a:solidFill>
                  <a:srgbClr val="000000"/>
                </a:solidFill>
                <a:latin typeface="Helvetica Neue"/>
                <a:ea typeface="Helvetica Neue"/>
                <a:cs typeface="Helvetica Neue"/>
              </a:defRPr>
            </a:pPr>
            <a:r>
              <a:t>DATA NOT READY</a:t>
            </a:r>
          </a:p>
        </p:txBody>
      </p:sp>
    </p:spTree>
    <p:extLst>
      <p:ext uri="{BB962C8B-B14F-4D97-AF65-F5344CB8AC3E}">
        <p14:creationId xmlns:p14="http://schemas.microsoft.com/office/powerpoint/2010/main" val="622026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12-title">
            <a:extLst>
              <a:ext uri="{FF2B5EF4-FFF2-40B4-BE49-F238E27FC236}">
                <a16:creationId xmlns:a16="http://schemas.microsoft.com/office/drawing/2014/main" id="{48B29D0A-5C4F-4FC0-A623-0D6C13C92A11}"/>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Funding decisions are rule based</a:t>
            </a:r>
          </a:p>
        </p:txBody>
      </p:sp>
      <p:cxnSp>
        <p:nvCxnSpPr>
          <p:cNvPr id="8" name="line-187"/>
          <p:cNvCxnSpPr/>
          <p:nvPr/>
        </p:nvCxnSpPr>
        <p:spPr>
          <a:xfrm>
            <a:off x="495300" y="1057275"/>
            <a:ext cx="11296650" cy="9525"/>
          </a:xfrm>
          <a:prstGeom prst="straightConnector1">
            <a:avLst/>
          </a:prstGeom>
          <a:ln w="9525">
            <a:solidFill>
              <a:srgbClr val="B8BCC4"/>
            </a:solidFill>
            <a:prstDash val="solid"/>
          </a:ln>
        </p:spPr>
      </p:cxnSp>
      <p:sp>
        <p:nvSpPr>
          <p:cNvPr id="3" name="slide-12-source">
            <a:extLst>
              <a:ext uri="{FF2B5EF4-FFF2-40B4-BE49-F238E27FC236}">
                <a16:creationId xmlns:a16="http://schemas.microsoft.com/office/drawing/2014/main" id="{700C349C-0A0D-4A4B-B315-AABE8295921D}"/>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 deterministic assessment rules</a:t>
            </a:r>
          </a:p>
        </p:txBody>
      </p:sp>
      <p:sp>
        <p:nvSpPr>
          <p:cNvPr id="4" name="slide-12-number">
            <a:extLst>
              <a:ext uri="{FF2B5EF4-FFF2-40B4-BE49-F238E27FC236}">
                <a16:creationId xmlns:a16="http://schemas.microsoft.com/office/drawing/2014/main" id="{6EA9C0A9-6975-4CCE-80B7-E73162B48094}"/>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12</a:t>
            </a:r>
          </a:p>
        </p:txBody>
      </p:sp>
      <p:sp>
        <p:nvSpPr>
          <p:cNvPr id="5" name="text-185">
            <a:extLst>
              <a:ext uri="{FF2B5EF4-FFF2-40B4-BE49-F238E27FC236}">
                <a16:creationId xmlns:a16="http://schemas.microsoft.com/office/drawing/2014/main" id="{250FA4CF-68B9-4391-AA27-48E5462A425B}"/>
              </a:ext>
            </a:extLst>
          </p:cNvPr>
          <p:cNvSpPr>
            <a:spLocks noGrp="1"/>
          </p:cNvSpPr>
          <p:nvPr/>
        </p:nvSpPr>
        <p:spPr>
          <a:xfrm>
            <a:off x="390525" y="1219200"/>
            <a:ext cx="11410950" cy="400050"/>
          </a:xfrm>
          <a:prstGeom prst="rect">
            <a:avLst/>
          </a:prstGeom>
        </p:spPr>
        <p:txBody>
          <a:bodyPr wrap="square" lIns="0" tIns="0" rIns="0" bIns="0" anchor="t">
            <a:normAutofit/>
          </a:bodyPr>
          <a:lstStyle/>
          <a:p>
            <a:pPr algn="l">
              <a:defRPr sz="1650" b="1">
                <a:solidFill>
                  <a:srgbClr val="3D8DFF"/>
                </a:solidFill>
                <a:latin typeface="Helvetica Neue"/>
                <a:ea typeface="Helvetica Neue"/>
                <a:cs typeface="Helvetica Neue"/>
              </a:defRPr>
            </a:pPr>
            <a:r>
              <a:t>The decision describes eligibility for the next cycle, never an edit to the ended campaign.</a:t>
            </a:r>
          </a:p>
        </p:txBody>
      </p:sp>
      <p:graphicFrame>
        <p:nvGraphicFramePr>
          <p:cNvPr id="12" name="Table 11"/>
          <p:cNvGraphicFramePr/>
          <p:nvPr/>
        </p:nvGraphicFramePr>
        <p:xfrm>
          <a:off x="390525" y="1885950"/>
          <a:ext cx="11410950" cy="394335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3790950">
                  <a:extLst>
                    <a:ext uri="{9D8B030D-6E8A-4147-A177-3AD203B41FA5}">
                      <a16:colId xmlns:a16="http://schemas.microsoft.com/office/drawing/2014/main" val="20002"/>
                    </a:ext>
                  </a:extLst>
                </a:gridCol>
              </a:tblGrid>
              <a:tr h="657225">
                <a:tc>
                  <a:txBody>
                    <a:bodyPr/>
                    <a:lstStyle/>
                    <a:p>
                      <a:r>
                        <a:rPr sz="1350" b="1">
                          <a:solidFill>
                            <a:srgbClr val="FFFFFF"/>
                          </a:solidFill>
                        </a:rPr>
                        <a:t>Decision</a:t>
                      </a:r>
                    </a:p>
                  </a:txBody>
                  <a:tcPr marL="66675" marR="66675" marT="47625" marB="47625">
                    <a:solidFill>
                      <a:srgbClr val="000000"/>
                    </a:solidFill>
                  </a:tcPr>
                </a:tc>
                <a:tc>
                  <a:txBody>
                    <a:bodyPr/>
                    <a:lstStyle/>
                    <a:p>
                      <a:r>
                        <a:rPr sz="1350" b="1">
                          <a:solidFill>
                            <a:srgbClr val="FFFFFF"/>
                          </a:solidFill>
                        </a:rPr>
                        <a:t>When it is assigned</a:t>
                      </a:r>
                    </a:p>
                  </a:txBody>
                  <a:tcPr marL="66675" marR="66675" marT="47625" marB="47625">
                    <a:solidFill>
                      <a:srgbClr val="000000"/>
                    </a:solidFill>
                  </a:tcPr>
                </a:tc>
                <a:tc>
                  <a:txBody>
                    <a:bodyPr/>
                    <a:lstStyle/>
                    <a:p>
                      <a:r>
                        <a:rPr sz="1350" b="1">
                          <a:solidFill>
                            <a:srgbClr val="FFFFFF"/>
                          </a:solidFill>
                        </a:rPr>
                        <a:t>POC budget treatment</a:t>
                      </a:r>
                    </a:p>
                  </a:txBody>
                  <a:tcPr marL="66675" marR="66675" marT="47625" marB="47625">
                    <a:solidFill>
                      <a:srgbClr val="000000"/>
                    </a:solidFill>
                  </a:tcPr>
                </a:tc>
                <a:extLst>
                  <a:ext uri="{0D108BD9-81ED-4DB2-BD59-A6C34878D82A}">
                    <a16:rowId xmlns:a16="http://schemas.microsoft.com/office/drawing/2014/main" val="10000"/>
                  </a:ext>
                </a:extLst>
              </a:tr>
              <a:tr h="657225">
                <a:tc>
                  <a:txBody>
                    <a:bodyPr/>
                    <a:lstStyle/>
                    <a:p>
                      <a:r>
                        <a:rPr sz="1350">
                          <a:solidFill>
                            <a:srgbClr val="000000"/>
                          </a:solidFill>
                        </a:rPr>
                        <a:t>SCALE</a:t>
                      </a:r>
                    </a:p>
                  </a:txBody>
                  <a:tcPr marL="66675" marR="66675" marT="47625" marB="47625"/>
                </a:tc>
                <a:tc>
                  <a:txBody>
                    <a:bodyPr/>
                    <a:lstStyle/>
                    <a:p>
                      <a:r>
                        <a:rPr sz="1350">
                          <a:solidFill>
                            <a:srgbClr val="000000"/>
                          </a:solidFill>
                        </a:rPr>
                        <a:t>Allocation metric and guards pass; evidence ready</a:t>
                      </a:r>
                    </a:p>
                  </a:txBody>
                  <a:tcPr marL="66675" marR="66675" marT="47625" marB="47625"/>
                </a:tc>
                <a:tc>
                  <a:txBody>
                    <a:bodyPr/>
                    <a:lstStyle/>
                    <a:p>
                      <a:r>
                        <a:rPr sz="1350">
                          <a:solidFill>
                            <a:srgbClr val="000000"/>
                          </a:solidFill>
                        </a:rPr>
                        <a:t>Eligible for core envelope</a:t>
                      </a:r>
                    </a:p>
                  </a:txBody>
                  <a:tcPr marL="66675" marR="66675" marT="47625" marB="47625"/>
                </a:tc>
                <a:extLst>
                  <a:ext uri="{0D108BD9-81ED-4DB2-BD59-A6C34878D82A}">
                    <a16:rowId xmlns:a16="http://schemas.microsoft.com/office/drawing/2014/main" val="10001"/>
                  </a:ext>
                </a:extLst>
              </a:tr>
              <a:tr h="657225">
                <a:tc>
                  <a:txBody>
                    <a:bodyPr/>
                    <a:lstStyle/>
                    <a:p>
                      <a:r>
                        <a:rPr sz="1350">
                          <a:solidFill>
                            <a:srgbClr val="000000"/>
                          </a:solidFill>
                        </a:rPr>
                        <a:t>KEEP AS TEST</a:t>
                      </a:r>
                    </a:p>
                  </a:txBody>
                  <a:tcPr marL="66675" marR="66675" marT="47625" marB="47625">
                    <a:solidFill>
                      <a:srgbClr val="D0EDFA"/>
                    </a:solidFill>
                  </a:tcPr>
                </a:tc>
                <a:tc>
                  <a:txBody>
                    <a:bodyPr/>
                    <a:lstStyle/>
                    <a:p>
                      <a:r>
                        <a:rPr sz="1350">
                          <a:solidFill>
                            <a:srgbClr val="000000"/>
                          </a:solidFill>
                        </a:rPr>
                        <a:t>Promising but mixed or limited evidence</a:t>
                      </a:r>
                    </a:p>
                  </a:txBody>
                  <a:tcPr marL="66675" marR="66675" marT="47625" marB="47625">
                    <a:solidFill>
                      <a:srgbClr val="D0EDFA"/>
                    </a:solidFill>
                  </a:tcPr>
                </a:tc>
                <a:tc>
                  <a:txBody>
                    <a:bodyPr/>
                    <a:lstStyle/>
                    <a:p>
                      <a:r>
                        <a:rPr sz="1350">
                          <a:solidFill>
                            <a:srgbClr val="000000"/>
                          </a:solidFill>
                        </a:rPr>
                        <a:t>Eligible for controlled test</a:t>
                      </a:r>
                    </a:p>
                  </a:txBody>
                  <a:tcPr marL="66675" marR="66675" marT="47625" marB="47625">
                    <a:solidFill>
                      <a:srgbClr val="D0EDFA"/>
                    </a:solidFill>
                  </a:tcPr>
                </a:tc>
                <a:extLst>
                  <a:ext uri="{0D108BD9-81ED-4DB2-BD59-A6C34878D82A}">
                    <a16:rowId xmlns:a16="http://schemas.microsoft.com/office/drawing/2014/main" val="10002"/>
                  </a:ext>
                </a:extLst>
              </a:tr>
              <a:tr h="657225">
                <a:tc>
                  <a:txBody>
                    <a:bodyPr/>
                    <a:lstStyle/>
                    <a:p>
                      <a:r>
                        <a:rPr sz="1350">
                          <a:solidFill>
                            <a:srgbClr val="000000"/>
                          </a:solidFill>
                        </a:rPr>
                        <a:t>DO NOT FUND</a:t>
                      </a:r>
                    </a:p>
                  </a:txBody>
                  <a:tcPr marL="66675" marR="66675" marT="47625" marB="47625"/>
                </a:tc>
                <a:tc>
                  <a:txBody>
                    <a:bodyPr/>
                    <a:lstStyle/>
                    <a:p>
                      <a:r>
                        <a:rPr sz="1350">
                          <a:solidFill>
                            <a:srgbClr val="000000"/>
                          </a:solidFill>
                        </a:rPr>
                        <a:t>Weak result, poor quality, or zero delivery</a:t>
                      </a:r>
                    </a:p>
                  </a:txBody>
                  <a:tcPr marL="66675" marR="66675" marT="47625" marB="47625"/>
                </a:tc>
                <a:tc>
                  <a:txBody>
                    <a:bodyPr/>
                    <a:lstStyle/>
                    <a:p>
                      <a:r>
                        <a:rPr sz="1350">
                          <a:solidFill>
                            <a:srgbClr val="000000"/>
                          </a:solidFill>
                        </a:rPr>
                        <a:t>Zero allocation</a:t>
                      </a:r>
                    </a:p>
                  </a:txBody>
                  <a:tcPr marL="66675" marR="66675" marT="47625" marB="47625"/>
                </a:tc>
                <a:extLst>
                  <a:ext uri="{0D108BD9-81ED-4DB2-BD59-A6C34878D82A}">
                    <a16:rowId xmlns:a16="http://schemas.microsoft.com/office/drawing/2014/main" val="10003"/>
                  </a:ext>
                </a:extLst>
              </a:tr>
              <a:tr h="657225">
                <a:tc>
                  <a:txBody>
                    <a:bodyPr/>
                    <a:lstStyle/>
                    <a:p>
                      <a:r>
                        <a:rPr sz="1350">
                          <a:solidFill>
                            <a:srgbClr val="000000"/>
                          </a:solidFill>
                        </a:rPr>
                        <a:t>INSUFFICIENT</a:t>
                      </a:r>
                    </a:p>
                  </a:txBody>
                  <a:tcPr marL="66675" marR="66675" marT="47625" marB="47625"/>
                </a:tc>
                <a:tc>
                  <a:txBody>
                    <a:bodyPr/>
                    <a:lstStyle/>
                    <a:p>
                      <a:r>
                        <a:rPr sz="1350">
                          <a:solidFill>
                            <a:srgbClr val="000000"/>
                          </a:solidFill>
                        </a:rPr>
                        <a:t>Too few observations for a stable conclusion</a:t>
                      </a:r>
                    </a:p>
                  </a:txBody>
                  <a:tcPr marL="66675" marR="66675" marT="47625" marB="47625"/>
                </a:tc>
                <a:tc>
                  <a:txBody>
                    <a:bodyPr/>
                    <a:lstStyle/>
                    <a:p>
                      <a:r>
                        <a:rPr sz="1350">
                          <a:solidFill>
                            <a:srgbClr val="000000"/>
                          </a:solidFill>
                        </a:rPr>
                        <a:t>Measurement test only</a:t>
                      </a:r>
                    </a:p>
                  </a:txBody>
                  <a:tcPr marL="66675" marR="66675" marT="47625" marB="47625"/>
                </a:tc>
                <a:extLst>
                  <a:ext uri="{0D108BD9-81ED-4DB2-BD59-A6C34878D82A}">
                    <a16:rowId xmlns:a16="http://schemas.microsoft.com/office/drawing/2014/main" val="10004"/>
                  </a:ext>
                </a:extLst>
              </a:tr>
              <a:tr h="657225">
                <a:tc>
                  <a:txBody>
                    <a:bodyPr/>
                    <a:lstStyle/>
                    <a:p>
                      <a:r>
                        <a:rPr sz="1350">
                          <a:solidFill>
                            <a:srgbClr val="000000"/>
                          </a:solidFill>
                        </a:rPr>
                        <a:t>DATA NOT READY</a:t>
                      </a:r>
                    </a:p>
                  </a:txBody>
                  <a:tcPr marL="66675" marR="66675" marT="47625" marB="47625"/>
                </a:tc>
                <a:tc>
                  <a:txBody>
                    <a:bodyPr/>
                    <a:lstStyle/>
                    <a:p>
                      <a:r>
                        <a:rPr sz="1350">
                          <a:solidFill>
                            <a:srgbClr val="000000"/>
                          </a:solidFill>
                        </a:rPr>
                        <a:t>Maturity or reconciliation gate fails</a:t>
                      </a:r>
                    </a:p>
                  </a:txBody>
                  <a:tcPr marL="66675" marR="66675" marT="47625" marB="47625"/>
                </a:tc>
                <a:tc>
                  <a:txBody>
                    <a:bodyPr/>
                    <a:lstStyle/>
                    <a:p>
                      <a:r>
                        <a:rPr sz="1350">
                          <a:solidFill>
                            <a:srgbClr val="000000"/>
                          </a:solidFill>
                        </a:rPr>
                        <a:t>No operational allocation</a:t>
                      </a:r>
                    </a:p>
                  </a:txBody>
                  <a:tcPr marL="66675" marR="66675" marT="47625" marB="47625"/>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33722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slide-13-title">
            <a:extLst>
              <a:ext uri="{FF2B5EF4-FFF2-40B4-BE49-F238E27FC236}">
                <a16:creationId xmlns:a16="http://schemas.microsoft.com/office/drawing/2014/main" id="{2C09C02F-EB5F-40F6-B7EE-C263430C12EF}"/>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150" b="1">
                <a:solidFill>
                  <a:srgbClr val="000000"/>
                </a:solidFill>
                <a:latin typeface="Helvetica Neue"/>
                <a:ea typeface="Helvetica Neue"/>
                <a:cs typeface="Helvetica Neue"/>
              </a:defRPr>
            </a:pPr>
            <a:r>
              <a:t>Aggregations move from strategy to execution</a:t>
            </a:r>
          </a:p>
        </p:txBody>
      </p:sp>
      <p:cxnSp>
        <p:nvCxnSpPr>
          <p:cNvPr id="25" name="line-210"/>
          <p:cNvCxnSpPr/>
          <p:nvPr/>
        </p:nvCxnSpPr>
        <p:spPr>
          <a:xfrm>
            <a:off x="495300" y="1057275"/>
            <a:ext cx="11296650" cy="9525"/>
          </a:xfrm>
          <a:prstGeom prst="straightConnector1">
            <a:avLst/>
          </a:prstGeom>
          <a:ln w="9525">
            <a:solidFill>
              <a:srgbClr val="B8BCC4"/>
            </a:solidFill>
            <a:prstDash val="solid"/>
          </a:ln>
        </p:spPr>
      </p:cxnSp>
      <p:sp>
        <p:nvSpPr>
          <p:cNvPr id="3" name="slide-13-source">
            <a:extLst>
              <a:ext uri="{FF2B5EF4-FFF2-40B4-BE49-F238E27FC236}">
                <a16:creationId xmlns:a16="http://schemas.microsoft.com/office/drawing/2014/main" id="{F1C90D00-26A3-4ECB-B91D-D115918D9CE1}"/>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agreed v2 aggregation design</a:t>
            </a:r>
          </a:p>
        </p:txBody>
      </p:sp>
      <p:sp>
        <p:nvSpPr>
          <p:cNvPr id="4" name="slide-13-number">
            <a:extLst>
              <a:ext uri="{FF2B5EF4-FFF2-40B4-BE49-F238E27FC236}">
                <a16:creationId xmlns:a16="http://schemas.microsoft.com/office/drawing/2014/main" id="{8C7D3D30-53F1-4CDE-A9B9-835761A25C9B}"/>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13</a:t>
            </a:r>
          </a:p>
        </p:txBody>
      </p:sp>
      <p:sp>
        <p:nvSpPr>
          <p:cNvPr id="5" name="shape-190">
            <a:extLst>
              <a:ext uri="{FF2B5EF4-FFF2-40B4-BE49-F238E27FC236}">
                <a16:creationId xmlns:a16="http://schemas.microsoft.com/office/drawing/2014/main" id="{4DFE733E-EEEB-4BA5-8311-3F1F1CA691AD}"/>
              </a:ext>
            </a:extLst>
          </p:cNvPr>
          <p:cNvSpPr>
            <a:spLocks noGrp="1"/>
          </p:cNvSpPr>
          <p:nvPr/>
        </p:nvSpPr>
        <p:spPr>
          <a:xfrm>
            <a:off x="390525" y="1714500"/>
            <a:ext cx="3562350" cy="3886200"/>
          </a:xfrm>
          <a:prstGeom prst="rect">
            <a:avLst/>
          </a:prstGeom>
          <a:solidFill>
            <a:srgbClr val="000000"/>
          </a:solidFill>
          <a:ln w="9525">
            <a:solidFill>
              <a:srgbClr val="000000"/>
            </a:solidFill>
            <a:prstDash val="solid"/>
          </a:ln>
        </p:spPr>
        <p:txBody>
          <a:bodyPr/>
          <a:lstStyle/>
          <a:p>
            <a:endParaRPr lang="en-DE"/>
          </a:p>
        </p:txBody>
      </p:sp>
      <p:sp>
        <p:nvSpPr>
          <p:cNvPr id="6" name="shape-191">
            <a:extLst>
              <a:ext uri="{FF2B5EF4-FFF2-40B4-BE49-F238E27FC236}">
                <a16:creationId xmlns:a16="http://schemas.microsoft.com/office/drawing/2014/main" id="{46C58777-937A-4C6A-9BFA-66DEB836069A}"/>
              </a:ext>
            </a:extLst>
          </p:cNvPr>
          <p:cNvSpPr>
            <a:spLocks noGrp="1"/>
          </p:cNvSpPr>
          <p:nvPr/>
        </p:nvSpPr>
        <p:spPr>
          <a:xfrm>
            <a:off x="4314825" y="1714500"/>
            <a:ext cx="3562350" cy="3886200"/>
          </a:xfrm>
          <a:prstGeom prst="rect">
            <a:avLst/>
          </a:prstGeom>
          <a:solidFill>
            <a:srgbClr val="D0EDFA"/>
          </a:solidFill>
          <a:ln w="9525">
            <a:solidFill>
              <a:srgbClr val="B8BCC4"/>
            </a:solidFill>
            <a:prstDash val="solid"/>
          </a:ln>
        </p:spPr>
        <p:txBody>
          <a:bodyPr/>
          <a:lstStyle/>
          <a:p>
            <a:endParaRPr lang="en-DE"/>
          </a:p>
        </p:txBody>
      </p:sp>
      <p:sp>
        <p:nvSpPr>
          <p:cNvPr id="7" name="shape-192">
            <a:extLst>
              <a:ext uri="{FF2B5EF4-FFF2-40B4-BE49-F238E27FC236}">
                <a16:creationId xmlns:a16="http://schemas.microsoft.com/office/drawing/2014/main" id="{6843BBF6-F127-49F1-AE51-1B9A3AECC197}"/>
              </a:ext>
            </a:extLst>
          </p:cNvPr>
          <p:cNvSpPr>
            <a:spLocks noGrp="1"/>
          </p:cNvSpPr>
          <p:nvPr/>
        </p:nvSpPr>
        <p:spPr>
          <a:xfrm>
            <a:off x="8239125" y="1714500"/>
            <a:ext cx="3562350" cy="3886200"/>
          </a:xfrm>
          <a:prstGeom prst="rect">
            <a:avLst/>
          </a:prstGeom>
          <a:solidFill>
            <a:srgbClr val="F7F7F7"/>
          </a:solidFill>
          <a:ln w="9525">
            <a:solidFill>
              <a:srgbClr val="B8BCC4"/>
            </a:solidFill>
            <a:prstDash val="solid"/>
          </a:ln>
        </p:spPr>
        <p:txBody>
          <a:bodyPr/>
          <a:lstStyle/>
          <a:p>
            <a:endParaRPr lang="en-DE"/>
          </a:p>
        </p:txBody>
      </p:sp>
      <p:sp>
        <p:nvSpPr>
          <p:cNvPr id="8" name="text-193">
            <a:extLst>
              <a:ext uri="{FF2B5EF4-FFF2-40B4-BE49-F238E27FC236}">
                <a16:creationId xmlns:a16="http://schemas.microsoft.com/office/drawing/2014/main" id="{DAD0F74F-AC34-4AF7-A67E-A2D9B5F568FF}"/>
              </a:ext>
            </a:extLst>
          </p:cNvPr>
          <p:cNvSpPr>
            <a:spLocks noGrp="1"/>
          </p:cNvSpPr>
          <p:nvPr/>
        </p:nvSpPr>
        <p:spPr>
          <a:xfrm>
            <a:off x="723900" y="2076450"/>
            <a:ext cx="2895600" cy="419100"/>
          </a:xfrm>
          <a:prstGeom prst="rect">
            <a:avLst/>
          </a:prstGeom>
        </p:spPr>
        <p:txBody>
          <a:bodyPr wrap="square" lIns="0" tIns="0" rIns="0" bIns="0" anchor="t">
            <a:normAutofit/>
          </a:bodyPr>
          <a:lstStyle/>
          <a:p>
            <a:pPr algn="l">
              <a:defRPr sz="2175" b="1">
                <a:solidFill>
                  <a:srgbClr val="FFFFFF"/>
                </a:solidFill>
                <a:latin typeface="Helvetica Neue"/>
                <a:ea typeface="Helvetica Neue"/>
                <a:cs typeface="Helvetica Neue"/>
              </a:defRPr>
            </a:pPr>
            <a:r>
              <a:t>CAMPAIGN</a:t>
            </a:r>
          </a:p>
        </p:txBody>
      </p:sp>
      <p:sp>
        <p:nvSpPr>
          <p:cNvPr id="9" name="text-194">
            <a:extLst>
              <a:ext uri="{FF2B5EF4-FFF2-40B4-BE49-F238E27FC236}">
                <a16:creationId xmlns:a16="http://schemas.microsoft.com/office/drawing/2014/main" id="{ACA088C6-F6A1-4A51-8C1F-3E7748575C1A}"/>
              </a:ext>
            </a:extLst>
          </p:cNvPr>
          <p:cNvSpPr>
            <a:spLocks noGrp="1"/>
          </p:cNvSpPr>
          <p:nvPr/>
        </p:nvSpPr>
        <p:spPr>
          <a:xfrm>
            <a:off x="723900" y="2724150"/>
            <a:ext cx="2895600" cy="266700"/>
          </a:xfrm>
          <a:prstGeom prst="rect">
            <a:avLst/>
          </a:prstGeom>
        </p:spPr>
        <p:txBody>
          <a:bodyPr wrap="square" lIns="0" tIns="0" rIns="0" bIns="0" anchor="t">
            <a:normAutofit/>
          </a:bodyPr>
          <a:lstStyle/>
          <a:p>
            <a:pPr algn="l">
              <a:defRPr sz="1350" b="1">
                <a:solidFill>
                  <a:srgbClr val="6DCBF4"/>
                </a:solidFill>
                <a:latin typeface="Helvetica Neue"/>
                <a:ea typeface="Helvetica Neue"/>
                <a:cs typeface="Helvetica Neue"/>
              </a:defRPr>
            </a:pPr>
            <a:r>
              <a:t>Question</a:t>
            </a:r>
          </a:p>
        </p:txBody>
      </p:sp>
      <p:sp>
        <p:nvSpPr>
          <p:cNvPr id="10" name="text-195">
            <a:extLst>
              <a:ext uri="{FF2B5EF4-FFF2-40B4-BE49-F238E27FC236}">
                <a16:creationId xmlns:a16="http://schemas.microsoft.com/office/drawing/2014/main" id="{C1D2EF15-C0A2-4716-B75C-C771B4195E4F}"/>
              </a:ext>
            </a:extLst>
          </p:cNvPr>
          <p:cNvSpPr>
            <a:spLocks noGrp="1"/>
          </p:cNvSpPr>
          <p:nvPr/>
        </p:nvSpPr>
        <p:spPr>
          <a:xfrm>
            <a:off x="723900" y="3048000"/>
            <a:ext cx="2895600" cy="552450"/>
          </a:xfrm>
          <a:prstGeom prst="rect">
            <a:avLst/>
          </a:prstGeom>
        </p:spPr>
        <p:txBody>
          <a:bodyPr wrap="square" lIns="0" tIns="0" rIns="0" bIns="0" anchor="t">
            <a:normAutofit/>
          </a:bodyPr>
          <a:lstStyle/>
          <a:p>
            <a:pPr algn="l">
              <a:defRPr sz="1500" b="0">
                <a:solidFill>
                  <a:srgbClr val="FFFFFF"/>
                </a:solidFill>
                <a:latin typeface="Helvetica Neue"/>
                <a:ea typeface="Helvetica Neue"/>
                <a:cs typeface="Helvetica Neue"/>
              </a:defRPr>
            </a:pPr>
            <a:r>
              <a:t>Which strategic pattern deserves another cycle?</a:t>
            </a:r>
          </a:p>
        </p:txBody>
      </p:sp>
      <p:sp>
        <p:nvSpPr>
          <p:cNvPr id="11" name="text-196">
            <a:extLst>
              <a:ext uri="{FF2B5EF4-FFF2-40B4-BE49-F238E27FC236}">
                <a16:creationId xmlns:a16="http://schemas.microsoft.com/office/drawing/2014/main" id="{BA9865B4-2E17-478C-A3F1-A8C101AA0661}"/>
              </a:ext>
            </a:extLst>
          </p:cNvPr>
          <p:cNvSpPr>
            <a:spLocks noGrp="1"/>
          </p:cNvSpPr>
          <p:nvPr/>
        </p:nvSpPr>
        <p:spPr>
          <a:xfrm>
            <a:off x="723900" y="3905250"/>
            <a:ext cx="2895600" cy="266700"/>
          </a:xfrm>
          <a:prstGeom prst="rect">
            <a:avLst/>
          </a:prstGeom>
        </p:spPr>
        <p:txBody>
          <a:bodyPr wrap="square" lIns="0" tIns="0" rIns="0" bIns="0" anchor="t">
            <a:normAutofit/>
          </a:bodyPr>
          <a:lstStyle/>
          <a:p>
            <a:pPr algn="l">
              <a:defRPr sz="1350" b="1">
                <a:solidFill>
                  <a:srgbClr val="6DCBF4"/>
                </a:solidFill>
                <a:latin typeface="Helvetica Neue"/>
                <a:ea typeface="Helvetica Neue"/>
                <a:cs typeface="Helvetica Neue"/>
              </a:defRPr>
            </a:pPr>
            <a:r>
              <a:t>Peer group</a:t>
            </a:r>
          </a:p>
        </p:txBody>
      </p:sp>
      <p:sp>
        <p:nvSpPr>
          <p:cNvPr id="12" name="text-197">
            <a:extLst>
              <a:ext uri="{FF2B5EF4-FFF2-40B4-BE49-F238E27FC236}">
                <a16:creationId xmlns:a16="http://schemas.microsoft.com/office/drawing/2014/main" id="{89E57138-FC23-47AC-92CB-7FFC11FA86C3}"/>
              </a:ext>
            </a:extLst>
          </p:cNvPr>
          <p:cNvSpPr>
            <a:spLocks noGrp="1"/>
          </p:cNvSpPr>
          <p:nvPr/>
        </p:nvSpPr>
        <p:spPr>
          <a:xfrm>
            <a:off x="723900" y="4229100"/>
            <a:ext cx="2895600" cy="552450"/>
          </a:xfrm>
          <a:prstGeom prst="rect">
            <a:avLst/>
          </a:prstGeom>
        </p:spPr>
        <p:txBody>
          <a:bodyPr wrap="square" lIns="0" tIns="0" rIns="0" bIns="0" anchor="t">
            <a:normAutofit/>
          </a:bodyPr>
          <a:lstStyle/>
          <a:p>
            <a:pPr algn="l">
              <a:defRPr sz="1500" b="0">
                <a:solidFill>
                  <a:srgbClr val="FFFFFF"/>
                </a:solidFill>
                <a:latin typeface="Helvetica Neue"/>
                <a:ea typeface="Helvetica Neue"/>
                <a:cs typeface="Helvetica Neue"/>
              </a:defRPr>
            </a:pPr>
            <a:r>
              <a:t>Same campaign type; portfolio fallback</a:t>
            </a:r>
          </a:p>
        </p:txBody>
      </p:sp>
      <p:sp>
        <p:nvSpPr>
          <p:cNvPr id="13" name="text-198">
            <a:extLst>
              <a:ext uri="{FF2B5EF4-FFF2-40B4-BE49-F238E27FC236}">
                <a16:creationId xmlns:a16="http://schemas.microsoft.com/office/drawing/2014/main" id="{B9A8EB6F-67A0-44C9-9F7F-F8D972F1FD1D}"/>
              </a:ext>
            </a:extLst>
          </p:cNvPr>
          <p:cNvSpPr>
            <a:spLocks noGrp="1"/>
          </p:cNvSpPr>
          <p:nvPr/>
        </p:nvSpPr>
        <p:spPr>
          <a:xfrm>
            <a:off x="4648200" y="2076450"/>
            <a:ext cx="2895600" cy="419100"/>
          </a:xfrm>
          <a:prstGeom prst="rect">
            <a:avLst/>
          </a:prstGeom>
        </p:spPr>
        <p:txBody>
          <a:bodyPr wrap="square" lIns="0" tIns="0" rIns="0" bIns="0" anchor="t">
            <a:normAutofit/>
          </a:bodyPr>
          <a:lstStyle/>
          <a:p>
            <a:pPr algn="l">
              <a:defRPr sz="2175" b="1">
                <a:solidFill>
                  <a:srgbClr val="000000"/>
                </a:solidFill>
                <a:latin typeface="Helvetica Neue"/>
                <a:ea typeface="Helvetica Neue"/>
                <a:cs typeface="Helvetica Neue"/>
              </a:defRPr>
            </a:pPr>
            <a:r>
              <a:t>ADSET + AUDIENCE</a:t>
            </a:r>
          </a:p>
        </p:txBody>
      </p:sp>
      <p:sp>
        <p:nvSpPr>
          <p:cNvPr id="14" name="text-199">
            <a:extLst>
              <a:ext uri="{FF2B5EF4-FFF2-40B4-BE49-F238E27FC236}">
                <a16:creationId xmlns:a16="http://schemas.microsoft.com/office/drawing/2014/main" id="{1AB58D94-5AD7-450F-AF71-DB614459A829}"/>
              </a:ext>
            </a:extLst>
          </p:cNvPr>
          <p:cNvSpPr>
            <a:spLocks noGrp="1"/>
          </p:cNvSpPr>
          <p:nvPr/>
        </p:nvSpPr>
        <p:spPr>
          <a:xfrm>
            <a:off x="4648200" y="2724150"/>
            <a:ext cx="2895600" cy="266700"/>
          </a:xfrm>
          <a:prstGeom prst="rect">
            <a:avLst/>
          </a:prstGeom>
        </p:spPr>
        <p:txBody>
          <a:bodyPr wrap="square" lIns="0" tIns="0" rIns="0" bIns="0" anchor="t">
            <a:normAutofit/>
          </a:bodyPr>
          <a:lstStyle/>
          <a:p>
            <a:pPr algn="l">
              <a:defRPr sz="1350" b="1">
                <a:solidFill>
                  <a:srgbClr val="3D8DFF"/>
                </a:solidFill>
                <a:latin typeface="Helvetica Neue"/>
                <a:ea typeface="Helvetica Neue"/>
                <a:cs typeface="Helvetica Neue"/>
              </a:defRPr>
            </a:pPr>
            <a:r>
              <a:t>Question</a:t>
            </a:r>
          </a:p>
        </p:txBody>
      </p:sp>
      <p:sp>
        <p:nvSpPr>
          <p:cNvPr id="15" name="text-200">
            <a:extLst>
              <a:ext uri="{FF2B5EF4-FFF2-40B4-BE49-F238E27FC236}">
                <a16:creationId xmlns:a16="http://schemas.microsoft.com/office/drawing/2014/main" id="{CE6412E3-37B5-49A3-B892-5AA28D26861F}"/>
              </a:ext>
            </a:extLst>
          </p:cNvPr>
          <p:cNvSpPr>
            <a:spLocks noGrp="1"/>
          </p:cNvSpPr>
          <p:nvPr/>
        </p:nvSpPr>
        <p:spPr>
          <a:xfrm>
            <a:off x="4648200" y="3048000"/>
            <a:ext cx="2895600" cy="552450"/>
          </a:xfrm>
          <a:prstGeom prst="rect">
            <a:avLst/>
          </a:prstGeom>
        </p:spPr>
        <p:txBody>
          <a:bodyPr wrap="square" lIns="0" tIns="0" rIns="0" bIns="0" anchor="t">
            <a:normAutofit/>
          </a:bodyPr>
          <a:lstStyle/>
          <a:p>
            <a:pPr algn="l">
              <a:defRPr sz="1500" b="0">
                <a:solidFill>
                  <a:srgbClr val="000000"/>
                </a:solidFill>
                <a:latin typeface="Helvetica Neue"/>
                <a:ea typeface="Helvetica Neue"/>
                <a:cs typeface="Helvetica Neue"/>
              </a:defRPr>
            </a:pPr>
            <a:r>
              <a:t>Which targeting and delivery setup performed best?</a:t>
            </a:r>
          </a:p>
        </p:txBody>
      </p:sp>
      <p:sp>
        <p:nvSpPr>
          <p:cNvPr id="16" name="text-201">
            <a:extLst>
              <a:ext uri="{FF2B5EF4-FFF2-40B4-BE49-F238E27FC236}">
                <a16:creationId xmlns:a16="http://schemas.microsoft.com/office/drawing/2014/main" id="{C6CE220F-B92B-40D1-A2B5-5218F6D7CF8F}"/>
              </a:ext>
            </a:extLst>
          </p:cNvPr>
          <p:cNvSpPr>
            <a:spLocks noGrp="1"/>
          </p:cNvSpPr>
          <p:nvPr/>
        </p:nvSpPr>
        <p:spPr>
          <a:xfrm>
            <a:off x="4648200" y="3905250"/>
            <a:ext cx="2895600" cy="266700"/>
          </a:xfrm>
          <a:prstGeom prst="rect">
            <a:avLst/>
          </a:prstGeom>
        </p:spPr>
        <p:txBody>
          <a:bodyPr wrap="square" lIns="0" tIns="0" rIns="0" bIns="0" anchor="t">
            <a:normAutofit/>
          </a:bodyPr>
          <a:lstStyle/>
          <a:p>
            <a:pPr algn="l">
              <a:defRPr sz="1350" b="1">
                <a:solidFill>
                  <a:srgbClr val="3D8DFF"/>
                </a:solidFill>
                <a:latin typeface="Helvetica Neue"/>
                <a:ea typeface="Helvetica Neue"/>
                <a:cs typeface="Helvetica Neue"/>
              </a:defRPr>
            </a:pPr>
            <a:r>
              <a:t>Peer group</a:t>
            </a:r>
          </a:p>
        </p:txBody>
      </p:sp>
      <p:sp>
        <p:nvSpPr>
          <p:cNvPr id="17" name="text-202">
            <a:extLst>
              <a:ext uri="{FF2B5EF4-FFF2-40B4-BE49-F238E27FC236}">
                <a16:creationId xmlns:a16="http://schemas.microsoft.com/office/drawing/2014/main" id="{ED442481-92AB-409E-AF15-E2C29C09CA9E}"/>
              </a:ext>
            </a:extLst>
          </p:cNvPr>
          <p:cNvSpPr>
            <a:spLocks noGrp="1"/>
          </p:cNvSpPr>
          <p:nvPr/>
        </p:nvSpPr>
        <p:spPr>
          <a:xfrm>
            <a:off x="4648200" y="4229100"/>
            <a:ext cx="2895600" cy="552450"/>
          </a:xfrm>
          <a:prstGeom prst="rect">
            <a:avLst/>
          </a:prstGeom>
        </p:spPr>
        <p:txBody>
          <a:bodyPr wrap="square" lIns="0" tIns="0" rIns="0" bIns="0" anchor="t">
            <a:normAutofit/>
          </a:bodyPr>
          <a:lstStyle/>
          <a:p>
            <a:pPr algn="l">
              <a:defRPr sz="1500" b="0">
                <a:solidFill>
                  <a:srgbClr val="000000"/>
                </a:solidFill>
                <a:latin typeface="Helvetica Neue"/>
                <a:ea typeface="Helvetica Neue"/>
                <a:cs typeface="Helvetica Neue"/>
              </a:defRPr>
            </a:pPr>
            <a:r>
              <a:t>Sibling adsets inside the campaign</a:t>
            </a:r>
          </a:p>
        </p:txBody>
      </p:sp>
      <p:sp>
        <p:nvSpPr>
          <p:cNvPr id="18" name="text-203">
            <a:extLst>
              <a:ext uri="{FF2B5EF4-FFF2-40B4-BE49-F238E27FC236}">
                <a16:creationId xmlns:a16="http://schemas.microsoft.com/office/drawing/2014/main" id="{E0DC6D2A-6637-47DB-984B-CE1F71B7239D}"/>
              </a:ext>
            </a:extLst>
          </p:cNvPr>
          <p:cNvSpPr>
            <a:spLocks noGrp="1"/>
          </p:cNvSpPr>
          <p:nvPr/>
        </p:nvSpPr>
        <p:spPr>
          <a:xfrm>
            <a:off x="8572500" y="2076450"/>
            <a:ext cx="2895600" cy="419100"/>
          </a:xfrm>
          <a:prstGeom prst="rect">
            <a:avLst/>
          </a:prstGeom>
        </p:spPr>
        <p:txBody>
          <a:bodyPr wrap="square" lIns="0" tIns="0" rIns="0" bIns="0" anchor="t">
            <a:normAutofit/>
          </a:bodyPr>
          <a:lstStyle/>
          <a:p>
            <a:pPr algn="l">
              <a:defRPr sz="2175" b="1">
                <a:solidFill>
                  <a:srgbClr val="000000"/>
                </a:solidFill>
                <a:latin typeface="Helvetica Neue"/>
                <a:ea typeface="Helvetica Neue"/>
                <a:cs typeface="Helvetica Neue"/>
              </a:defRPr>
            </a:pPr>
            <a:r>
              <a:t>AD + CREATIVE</a:t>
            </a:r>
          </a:p>
        </p:txBody>
      </p:sp>
      <p:sp>
        <p:nvSpPr>
          <p:cNvPr id="19" name="text-204">
            <a:extLst>
              <a:ext uri="{FF2B5EF4-FFF2-40B4-BE49-F238E27FC236}">
                <a16:creationId xmlns:a16="http://schemas.microsoft.com/office/drawing/2014/main" id="{5FF187C7-B74A-477A-BC49-FE357184FAD1}"/>
              </a:ext>
            </a:extLst>
          </p:cNvPr>
          <p:cNvSpPr>
            <a:spLocks noGrp="1"/>
          </p:cNvSpPr>
          <p:nvPr/>
        </p:nvSpPr>
        <p:spPr>
          <a:xfrm>
            <a:off x="8572500" y="2724150"/>
            <a:ext cx="2895600" cy="266700"/>
          </a:xfrm>
          <a:prstGeom prst="rect">
            <a:avLst/>
          </a:prstGeom>
        </p:spPr>
        <p:txBody>
          <a:bodyPr wrap="square" lIns="0" tIns="0" rIns="0" bIns="0" anchor="t">
            <a:normAutofit/>
          </a:bodyPr>
          <a:lstStyle/>
          <a:p>
            <a:pPr algn="l">
              <a:defRPr sz="1350" b="1">
                <a:solidFill>
                  <a:srgbClr val="3D8DFF"/>
                </a:solidFill>
                <a:latin typeface="Helvetica Neue"/>
                <a:ea typeface="Helvetica Neue"/>
                <a:cs typeface="Helvetica Neue"/>
              </a:defRPr>
            </a:pPr>
            <a:r>
              <a:t>Question</a:t>
            </a:r>
          </a:p>
        </p:txBody>
      </p:sp>
      <p:sp>
        <p:nvSpPr>
          <p:cNvPr id="20" name="text-205">
            <a:extLst>
              <a:ext uri="{FF2B5EF4-FFF2-40B4-BE49-F238E27FC236}">
                <a16:creationId xmlns:a16="http://schemas.microsoft.com/office/drawing/2014/main" id="{D1B5890B-B2F6-4CE0-87D8-F97E3F250F3D}"/>
              </a:ext>
            </a:extLst>
          </p:cNvPr>
          <p:cNvSpPr>
            <a:spLocks noGrp="1"/>
          </p:cNvSpPr>
          <p:nvPr/>
        </p:nvSpPr>
        <p:spPr>
          <a:xfrm>
            <a:off x="8572500" y="3048000"/>
            <a:ext cx="2895600" cy="552450"/>
          </a:xfrm>
          <a:prstGeom prst="rect">
            <a:avLst/>
          </a:prstGeom>
        </p:spPr>
        <p:txBody>
          <a:bodyPr wrap="square" lIns="0" tIns="0" rIns="0" bIns="0" anchor="t">
            <a:normAutofit/>
          </a:bodyPr>
          <a:lstStyle/>
          <a:p>
            <a:pPr algn="l">
              <a:defRPr sz="1500" b="0">
                <a:solidFill>
                  <a:srgbClr val="000000"/>
                </a:solidFill>
                <a:latin typeface="Helvetica Neue"/>
                <a:ea typeface="Helvetica Neue"/>
                <a:cs typeface="Helvetica Neue"/>
              </a:defRPr>
            </a:pPr>
            <a:r>
              <a:t>Which delivered message deserves reuse or retest?</a:t>
            </a:r>
          </a:p>
        </p:txBody>
      </p:sp>
      <p:sp>
        <p:nvSpPr>
          <p:cNvPr id="21" name="text-206">
            <a:extLst>
              <a:ext uri="{FF2B5EF4-FFF2-40B4-BE49-F238E27FC236}">
                <a16:creationId xmlns:a16="http://schemas.microsoft.com/office/drawing/2014/main" id="{8B1E6F71-F374-4C87-9D5B-7FF15BB2F475}"/>
              </a:ext>
            </a:extLst>
          </p:cNvPr>
          <p:cNvSpPr>
            <a:spLocks noGrp="1"/>
          </p:cNvSpPr>
          <p:nvPr/>
        </p:nvSpPr>
        <p:spPr>
          <a:xfrm>
            <a:off x="8572500" y="3905250"/>
            <a:ext cx="2895600" cy="266700"/>
          </a:xfrm>
          <a:prstGeom prst="rect">
            <a:avLst/>
          </a:prstGeom>
        </p:spPr>
        <p:txBody>
          <a:bodyPr wrap="square" lIns="0" tIns="0" rIns="0" bIns="0" anchor="t">
            <a:normAutofit/>
          </a:bodyPr>
          <a:lstStyle/>
          <a:p>
            <a:pPr algn="l">
              <a:defRPr sz="1350" b="1">
                <a:solidFill>
                  <a:srgbClr val="3D8DFF"/>
                </a:solidFill>
                <a:latin typeface="Helvetica Neue"/>
                <a:ea typeface="Helvetica Neue"/>
                <a:cs typeface="Helvetica Neue"/>
              </a:defRPr>
            </a:pPr>
            <a:r>
              <a:t>Peer group</a:t>
            </a:r>
          </a:p>
        </p:txBody>
      </p:sp>
      <p:sp>
        <p:nvSpPr>
          <p:cNvPr id="22" name="text-207">
            <a:extLst>
              <a:ext uri="{FF2B5EF4-FFF2-40B4-BE49-F238E27FC236}">
                <a16:creationId xmlns:a16="http://schemas.microsoft.com/office/drawing/2014/main" id="{EA2DA9A8-DB72-4DD8-B5F0-2D0AC24BE1FC}"/>
              </a:ext>
            </a:extLst>
          </p:cNvPr>
          <p:cNvSpPr>
            <a:spLocks noGrp="1"/>
          </p:cNvSpPr>
          <p:nvPr/>
        </p:nvSpPr>
        <p:spPr>
          <a:xfrm>
            <a:off x="8572500" y="4229100"/>
            <a:ext cx="2895600" cy="552450"/>
          </a:xfrm>
          <a:prstGeom prst="rect">
            <a:avLst/>
          </a:prstGeom>
        </p:spPr>
        <p:txBody>
          <a:bodyPr wrap="square" lIns="0" tIns="0" rIns="0" bIns="0" anchor="t">
            <a:normAutofit/>
          </a:bodyPr>
          <a:lstStyle/>
          <a:p>
            <a:pPr algn="l">
              <a:defRPr sz="1500" b="0">
                <a:solidFill>
                  <a:srgbClr val="000000"/>
                </a:solidFill>
                <a:latin typeface="Helvetica Neue"/>
                <a:ea typeface="Helvetica Neue"/>
                <a:cs typeface="Helvetica Neue"/>
              </a:defRPr>
            </a:pPr>
            <a:r>
              <a:t>Sibling ads; creative rollup is exploratory</a:t>
            </a:r>
          </a:p>
        </p:txBody>
      </p:sp>
      <p:sp>
        <p:nvSpPr>
          <p:cNvPr id="23" name="text-208">
            <a:extLst>
              <a:ext uri="{FF2B5EF4-FFF2-40B4-BE49-F238E27FC236}">
                <a16:creationId xmlns:a16="http://schemas.microsoft.com/office/drawing/2014/main" id="{39394989-11CA-4767-AEFE-0311A593BED1}"/>
              </a:ext>
            </a:extLst>
          </p:cNvPr>
          <p:cNvSpPr>
            <a:spLocks noGrp="1"/>
          </p:cNvSpPr>
          <p:nvPr/>
        </p:nvSpPr>
        <p:spPr>
          <a:xfrm>
            <a:off x="1524000" y="5905500"/>
            <a:ext cx="9144000" cy="304800"/>
          </a:xfrm>
          <a:prstGeom prst="rect">
            <a:avLst/>
          </a:prstGeom>
        </p:spPr>
        <p:txBody>
          <a:bodyPr wrap="square" lIns="0" tIns="0" rIns="0" bIns="0" anchor="t">
            <a:normAutofit fontScale="93616"/>
          </a:bodyPr>
          <a:lstStyle/>
          <a:p>
            <a:pPr algn="ctr">
              <a:defRPr sz="1650" b="1">
                <a:solidFill>
                  <a:srgbClr val="3D8DFF"/>
                </a:solidFill>
                <a:latin typeface="Helvetica Neue"/>
                <a:ea typeface="Helvetica Neue"/>
                <a:cs typeface="Helvetica Neue"/>
              </a:defRPr>
            </a:pPr>
            <a:r>
              <a:t>All levels reuse totals, KPI definitions, benchmark provenance, evidence counts, and parent gates.</a:t>
            </a:r>
          </a:p>
        </p:txBody>
      </p:sp>
    </p:spTree>
    <p:extLst>
      <p:ext uri="{BB962C8B-B14F-4D97-AF65-F5344CB8AC3E}">
        <p14:creationId xmlns:p14="http://schemas.microsoft.com/office/powerpoint/2010/main" val="1126294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14-title">
            <a:extLst>
              <a:ext uri="{FF2B5EF4-FFF2-40B4-BE49-F238E27FC236}">
                <a16:creationId xmlns:a16="http://schemas.microsoft.com/office/drawing/2014/main" id="{2766AECC-161B-4845-9004-7DEDBD5FF927}"/>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150" b="1">
                <a:solidFill>
                  <a:srgbClr val="000000"/>
                </a:solidFill>
                <a:latin typeface="Helvetica Neue"/>
                <a:ea typeface="Helvetica Neue"/>
                <a:cs typeface="Helvetica Neue"/>
              </a:defRPr>
            </a:pPr>
            <a:r>
              <a:t>Audience and creative wins are not causal</a:t>
            </a:r>
          </a:p>
        </p:txBody>
      </p:sp>
      <p:cxnSp>
        <p:nvCxnSpPr>
          <p:cNvPr id="17" name="line-224"/>
          <p:cNvCxnSpPr/>
          <p:nvPr/>
        </p:nvCxnSpPr>
        <p:spPr>
          <a:xfrm>
            <a:off x="495300" y="1057275"/>
            <a:ext cx="11296650" cy="9525"/>
          </a:xfrm>
          <a:prstGeom prst="straightConnector1">
            <a:avLst/>
          </a:prstGeom>
          <a:ln w="9525">
            <a:solidFill>
              <a:srgbClr val="B8BCC4"/>
            </a:solidFill>
            <a:prstDash val="solid"/>
          </a:ln>
        </p:spPr>
      </p:cxnSp>
      <p:sp>
        <p:nvSpPr>
          <p:cNvPr id="3" name="slide-14-source">
            <a:extLst>
              <a:ext uri="{FF2B5EF4-FFF2-40B4-BE49-F238E27FC236}">
                <a16:creationId xmlns:a16="http://schemas.microsoft.com/office/drawing/2014/main" id="{3B993C41-D398-4EC3-89D0-B21C437286F6}"/>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Sample 2 Eid adset and ad aggregates</a:t>
            </a:r>
          </a:p>
        </p:txBody>
      </p:sp>
      <p:sp>
        <p:nvSpPr>
          <p:cNvPr id="4" name="slide-14-number">
            <a:extLst>
              <a:ext uri="{FF2B5EF4-FFF2-40B4-BE49-F238E27FC236}">
                <a16:creationId xmlns:a16="http://schemas.microsoft.com/office/drawing/2014/main" id="{86B79629-70D7-4832-8F64-66304F0C74EE}"/>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14</a:t>
            </a:r>
          </a:p>
        </p:txBody>
      </p:sp>
      <p:sp>
        <p:nvSpPr>
          <p:cNvPr id="5" name="text-213">
            <a:extLst>
              <a:ext uri="{FF2B5EF4-FFF2-40B4-BE49-F238E27FC236}">
                <a16:creationId xmlns:a16="http://schemas.microsoft.com/office/drawing/2014/main" id="{B3FD7C78-66F2-4608-929A-2A3521BF65AF}"/>
              </a:ext>
            </a:extLst>
          </p:cNvPr>
          <p:cNvSpPr>
            <a:spLocks noGrp="1"/>
          </p:cNvSpPr>
          <p:nvPr/>
        </p:nvSpPr>
        <p:spPr>
          <a:xfrm>
            <a:off x="390525" y="1257300"/>
            <a:ext cx="5905500" cy="342900"/>
          </a:xfrm>
          <a:prstGeom prst="rect">
            <a:avLst/>
          </a:prstGeom>
        </p:spPr>
        <p:txBody>
          <a:bodyPr wrap="square" lIns="0" tIns="0" rIns="0" bIns="0" anchor="t">
            <a:normAutofit/>
          </a:bodyPr>
          <a:lstStyle/>
          <a:p>
            <a:pPr algn="l">
              <a:defRPr sz="1725" b="1">
                <a:solidFill>
                  <a:srgbClr val="000000"/>
                </a:solidFill>
                <a:latin typeface="Helvetica Neue"/>
                <a:ea typeface="Helvetica Neue"/>
                <a:cs typeface="Helvetica Neue"/>
              </a:defRPr>
            </a:pPr>
            <a:r>
              <a:t>Eid Gifting Premium: observed adset ROAS</a:t>
            </a:r>
          </a:p>
        </p:txBody>
      </p:sp>
      <p:sp>
        <p:nvSpPr>
          <p:cNvPr id="6" name="shape-214">
            <a:extLst>
              <a:ext uri="{FF2B5EF4-FFF2-40B4-BE49-F238E27FC236}">
                <a16:creationId xmlns:a16="http://schemas.microsoft.com/office/drawing/2014/main" id="{D8B97729-B965-41C1-B631-A16041A4EF5E}"/>
              </a:ext>
            </a:extLst>
          </p:cNvPr>
          <p:cNvSpPr>
            <a:spLocks noGrp="1"/>
          </p:cNvSpPr>
          <p:nvPr/>
        </p:nvSpPr>
        <p:spPr>
          <a:xfrm>
            <a:off x="6591300" y="1466850"/>
            <a:ext cx="5210175" cy="1352550"/>
          </a:xfrm>
          <a:prstGeom prst="rect">
            <a:avLst/>
          </a:prstGeom>
          <a:solidFill>
            <a:srgbClr val="F7F7F7"/>
          </a:solidFill>
          <a:ln w="9525">
            <a:solidFill>
              <a:srgbClr val="B8BCC4"/>
            </a:solidFill>
            <a:prstDash val="solid"/>
          </a:ln>
        </p:spPr>
        <p:txBody>
          <a:bodyPr/>
          <a:lstStyle/>
          <a:p>
            <a:endParaRPr lang="en-DE"/>
          </a:p>
        </p:txBody>
      </p:sp>
      <p:sp>
        <p:nvSpPr>
          <p:cNvPr id="7" name="shape-215">
            <a:extLst>
              <a:ext uri="{FF2B5EF4-FFF2-40B4-BE49-F238E27FC236}">
                <a16:creationId xmlns:a16="http://schemas.microsoft.com/office/drawing/2014/main" id="{7C61293D-8BD3-4EC9-AEC7-1C9654D8735F}"/>
              </a:ext>
            </a:extLst>
          </p:cNvPr>
          <p:cNvSpPr>
            <a:spLocks noGrp="1"/>
          </p:cNvSpPr>
          <p:nvPr/>
        </p:nvSpPr>
        <p:spPr>
          <a:xfrm>
            <a:off x="6591300" y="3009900"/>
            <a:ext cx="5210175" cy="1352550"/>
          </a:xfrm>
          <a:prstGeom prst="rect">
            <a:avLst/>
          </a:prstGeom>
          <a:solidFill>
            <a:srgbClr val="F7F7F7"/>
          </a:solidFill>
          <a:ln w="9525">
            <a:solidFill>
              <a:srgbClr val="B8BCC4"/>
            </a:solidFill>
            <a:prstDash val="solid"/>
          </a:ln>
        </p:spPr>
        <p:txBody>
          <a:bodyPr/>
          <a:lstStyle/>
          <a:p>
            <a:endParaRPr lang="en-DE"/>
          </a:p>
        </p:txBody>
      </p:sp>
      <p:sp>
        <p:nvSpPr>
          <p:cNvPr id="8" name="shape-216">
            <a:extLst>
              <a:ext uri="{FF2B5EF4-FFF2-40B4-BE49-F238E27FC236}">
                <a16:creationId xmlns:a16="http://schemas.microsoft.com/office/drawing/2014/main" id="{2C405055-B224-45EE-A9E5-498D2C492FA3}"/>
              </a:ext>
            </a:extLst>
          </p:cNvPr>
          <p:cNvSpPr>
            <a:spLocks noGrp="1"/>
          </p:cNvSpPr>
          <p:nvPr/>
        </p:nvSpPr>
        <p:spPr>
          <a:xfrm>
            <a:off x="6591300" y="4552950"/>
            <a:ext cx="5210175" cy="1352550"/>
          </a:xfrm>
          <a:prstGeom prst="rect">
            <a:avLst/>
          </a:prstGeom>
          <a:solidFill>
            <a:srgbClr val="F4C27A"/>
          </a:solidFill>
          <a:ln w="9525">
            <a:solidFill>
              <a:srgbClr val="F4C27A"/>
            </a:solidFill>
            <a:prstDash val="solid"/>
          </a:ln>
        </p:spPr>
        <p:txBody>
          <a:bodyPr/>
          <a:lstStyle/>
          <a:p>
            <a:endParaRPr lang="en-DE"/>
          </a:p>
        </p:txBody>
      </p:sp>
      <p:sp>
        <p:nvSpPr>
          <p:cNvPr id="9" name="text-217">
            <a:extLst>
              <a:ext uri="{FF2B5EF4-FFF2-40B4-BE49-F238E27FC236}">
                <a16:creationId xmlns:a16="http://schemas.microsoft.com/office/drawing/2014/main" id="{6EC32EEE-6344-498B-A23A-DC55E2435F2C}"/>
              </a:ext>
            </a:extLst>
          </p:cNvPr>
          <p:cNvSpPr>
            <a:spLocks noGrp="1"/>
          </p:cNvSpPr>
          <p:nvPr/>
        </p:nvSpPr>
        <p:spPr>
          <a:xfrm>
            <a:off x="6896100" y="1695450"/>
            <a:ext cx="4591050" cy="285750"/>
          </a:xfrm>
          <a:prstGeom prst="rect">
            <a:avLst/>
          </a:prstGeom>
        </p:spPr>
        <p:txBody>
          <a:bodyPr wrap="square" lIns="0" tIns="0" rIns="0" bIns="0" anchor="t">
            <a:normAutofit/>
          </a:bodyPr>
          <a:lstStyle/>
          <a:p>
            <a:pPr algn="l">
              <a:defRPr sz="1425" b="1">
                <a:solidFill>
                  <a:srgbClr val="3D8DFF"/>
                </a:solidFill>
                <a:latin typeface="Helvetica Neue"/>
                <a:ea typeface="Helvetica Neue"/>
                <a:cs typeface="Helvetica Neue"/>
              </a:defRPr>
            </a:pPr>
            <a:r>
              <a:t>HOSTESS GIFT AD</a:t>
            </a:r>
          </a:p>
        </p:txBody>
      </p:sp>
      <p:sp>
        <p:nvSpPr>
          <p:cNvPr id="10" name="text-218">
            <a:extLst>
              <a:ext uri="{FF2B5EF4-FFF2-40B4-BE49-F238E27FC236}">
                <a16:creationId xmlns:a16="http://schemas.microsoft.com/office/drawing/2014/main" id="{088A01E8-7D00-4627-9DAE-DD194FA8D3D2}"/>
              </a:ext>
            </a:extLst>
          </p:cNvPr>
          <p:cNvSpPr>
            <a:spLocks noGrp="1"/>
          </p:cNvSpPr>
          <p:nvPr/>
        </p:nvSpPr>
        <p:spPr>
          <a:xfrm>
            <a:off x="6896100" y="2095500"/>
            <a:ext cx="4591050" cy="419100"/>
          </a:xfrm>
          <a:prstGeom prst="rect">
            <a:avLst/>
          </a:prstGeom>
        </p:spPr>
        <p:txBody>
          <a:bodyPr wrap="square" lIns="0" tIns="0" rIns="0" bIns="0" anchor="t">
            <a:normAutofit/>
          </a:bodyPr>
          <a:lstStyle/>
          <a:p>
            <a:pPr algn="l">
              <a:defRPr sz="1950" b="1">
                <a:solidFill>
                  <a:srgbClr val="000000"/>
                </a:solidFill>
                <a:latin typeface="Helvetica Neue"/>
                <a:ea typeface="Helvetica Neue"/>
                <a:cs typeface="Helvetica Neue"/>
              </a:defRPr>
            </a:pPr>
            <a:r>
              <a:t>ROAS 9.93 | 13 delivered orders</a:t>
            </a:r>
          </a:p>
        </p:txBody>
      </p:sp>
      <p:sp>
        <p:nvSpPr>
          <p:cNvPr id="11" name="text-219">
            <a:extLst>
              <a:ext uri="{FF2B5EF4-FFF2-40B4-BE49-F238E27FC236}">
                <a16:creationId xmlns:a16="http://schemas.microsoft.com/office/drawing/2014/main" id="{B37CB335-AC40-4344-AD15-172271687869}"/>
              </a:ext>
            </a:extLst>
          </p:cNvPr>
          <p:cNvSpPr>
            <a:spLocks noGrp="1"/>
          </p:cNvSpPr>
          <p:nvPr/>
        </p:nvSpPr>
        <p:spPr>
          <a:xfrm>
            <a:off x="6896100" y="3238500"/>
            <a:ext cx="4591050" cy="285750"/>
          </a:xfrm>
          <a:prstGeom prst="rect">
            <a:avLst/>
          </a:prstGeom>
        </p:spPr>
        <p:txBody>
          <a:bodyPr wrap="square" lIns="0" tIns="0" rIns="0" bIns="0" anchor="t">
            <a:normAutofit/>
          </a:bodyPr>
          <a:lstStyle/>
          <a:p>
            <a:pPr algn="l">
              <a:defRPr sz="1425" b="1">
                <a:solidFill>
                  <a:srgbClr val="3D8DFF"/>
                </a:solidFill>
                <a:latin typeface="Helvetica Neue"/>
                <a:ea typeface="Helvetica Neue"/>
                <a:cs typeface="Helvetica Neue"/>
              </a:defRPr>
            </a:pPr>
            <a:r>
              <a:t>BROAD ADSET</a:t>
            </a:r>
          </a:p>
        </p:txBody>
      </p:sp>
      <p:sp>
        <p:nvSpPr>
          <p:cNvPr id="12" name="text-220">
            <a:extLst>
              <a:ext uri="{FF2B5EF4-FFF2-40B4-BE49-F238E27FC236}">
                <a16:creationId xmlns:a16="http://schemas.microsoft.com/office/drawing/2014/main" id="{0D0060FB-EDD5-44B7-8370-5CAB1F5F6EE4}"/>
              </a:ext>
            </a:extLst>
          </p:cNvPr>
          <p:cNvSpPr>
            <a:spLocks noGrp="1"/>
          </p:cNvSpPr>
          <p:nvPr/>
        </p:nvSpPr>
        <p:spPr>
          <a:xfrm>
            <a:off x="6896100" y="3638550"/>
            <a:ext cx="4591050" cy="419100"/>
          </a:xfrm>
          <a:prstGeom prst="rect">
            <a:avLst/>
          </a:prstGeom>
        </p:spPr>
        <p:txBody>
          <a:bodyPr wrap="square" lIns="0" tIns="0" rIns="0" bIns="0" anchor="t">
            <a:normAutofit/>
          </a:bodyPr>
          <a:lstStyle/>
          <a:p>
            <a:pPr algn="l">
              <a:defRPr sz="1950" b="1">
                <a:solidFill>
                  <a:srgbClr val="000000"/>
                </a:solidFill>
                <a:latin typeface="Helvetica Neue"/>
                <a:ea typeface="Helvetica Neue"/>
                <a:cs typeface="Helvetica Neue"/>
              </a:defRPr>
            </a:pPr>
            <a:r>
              <a:t>ROAS 5.53 | 22 delivered orders</a:t>
            </a:r>
          </a:p>
        </p:txBody>
      </p:sp>
      <p:sp>
        <p:nvSpPr>
          <p:cNvPr id="13" name="text-221">
            <a:extLst>
              <a:ext uri="{FF2B5EF4-FFF2-40B4-BE49-F238E27FC236}">
                <a16:creationId xmlns:a16="http://schemas.microsoft.com/office/drawing/2014/main" id="{B101DD88-6708-49DF-9D5B-EB670B05E0F3}"/>
              </a:ext>
            </a:extLst>
          </p:cNvPr>
          <p:cNvSpPr>
            <a:spLocks noGrp="1"/>
          </p:cNvSpPr>
          <p:nvPr/>
        </p:nvSpPr>
        <p:spPr>
          <a:xfrm>
            <a:off x="6896100" y="4781550"/>
            <a:ext cx="4591050" cy="285750"/>
          </a:xfrm>
          <a:prstGeom prst="rect">
            <a:avLst/>
          </a:prstGeom>
        </p:spPr>
        <p:txBody>
          <a:bodyPr wrap="square" lIns="0" tIns="0" rIns="0" bIns="0" anchor="t">
            <a:normAutofit/>
          </a:bodyPr>
          <a:lstStyle/>
          <a:p>
            <a:pPr algn="l">
              <a:defRPr sz="1425" b="1">
                <a:solidFill>
                  <a:srgbClr val="000000"/>
                </a:solidFill>
                <a:latin typeface="Helvetica Neue"/>
                <a:ea typeface="Helvetica Neue"/>
                <a:cs typeface="Helvetica Neue"/>
              </a:defRPr>
            </a:pPr>
            <a:r>
              <a:t>CAUSALITY WARNING</a:t>
            </a:r>
          </a:p>
        </p:txBody>
      </p:sp>
      <p:sp>
        <p:nvSpPr>
          <p:cNvPr id="14" name="text-222">
            <a:extLst>
              <a:ext uri="{FF2B5EF4-FFF2-40B4-BE49-F238E27FC236}">
                <a16:creationId xmlns:a16="http://schemas.microsoft.com/office/drawing/2014/main" id="{200D9678-3D85-4B8D-BC1D-7407B7DB28B3}"/>
              </a:ext>
            </a:extLst>
          </p:cNvPr>
          <p:cNvSpPr>
            <a:spLocks noGrp="1"/>
          </p:cNvSpPr>
          <p:nvPr/>
        </p:nvSpPr>
        <p:spPr>
          <a:xfrm>
            <a:off x="6896100" y="5181600"/>
            <a:ext cx="4591050" cy="571500"/>
          </a:xfrm>
          <a:prstGeom prst="rect">
            <a:avLst/>
          </a:prstGeom>
        </p:spPr>
        <p:txBody>
          <a:bodyPr wrap="square" lIns="0" tIns="0" rIns="0" bIns="0" anchor="t">
            <a:normAutofit/>
          </a:bodyPr>
          <a:lstStyle/>
          <a:p>
            <a:pPr algn="l">
              <a:defRPr sz="1500" b="0">
                <a:solidFill>
                  <a:srgbClr val="000000"/>
                </a:solidFill>
                <a:latin typeface="Helvetica Neue"/>
                <a:ea typeface="Helvetica Neue"/>
                <a:cs typeface="Helvetica Neue"/>
              </a:defRPr>
            </a:pPr>
            <a:r>
              <a:t>Audience and creative changed together. The winning combination needs a controlled comparison.</a:t>
            </a:r>
          </a:p>
        </p:txBody>
      </p:sp>
      <p:graphicFrame>
        <p:nvGraphicFramePr>
          <p:cNvPr id="30" name="Chart"/>
          <p:cNvGraphicFramePr/>
          <p:nvPr/>
        </p:nvGraphicFramePr>
        <p:xfrm>
          <a:off x="390525" y="1809750"/>
          <a:ext cx="571500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59765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15-title">
            <a:extLst>
              <a:ext uri="{FF2B5EF4-FFF2-40B4-BE49-F238E27FC236}">
                <a16:creationId xmlns:a16="http://schemas.microsoft.com/office/drawing/2014/main" id="{A808D528-BFBB-4929-BCE2-A37C0FB6C872}"/>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Eid is strong, with a large caveat</a:t>
            </a:r>
          </a:p>
        </p:txBody>
      </p:sp>
      <p:cxnSp>
        <p:nvCxnSpPr>
          <p:cNvPr id="18" name="line-239"/>
          <p:cNvCxnSpPr/>
          <p:nvPr/>
        </p:nvCxnSpPr>
        <p:spPr>
          <a:xfrm>
            <a:off x="495300" y="1057275"/>
            <a:ext cx="11296650" cy="9525"/>
          </a:xfrm>
          <a:prstGeom prst="straightConnector1">
            <a:avLst/>
          </a:prstGeom>
          <a:ln w="9525">
            <a:solidFill>
              <a:srgbClr val="B8BCC4"/>
            </a:solidFill>
            <a:prstDash val="solid"/>
          </a:ln>
        </p:spPr>
      </p:cxnSp>
      <p:sp>
        <p:nvSpPr>
          <p:cNvPr id="3" name="slide-15-source">
            <a:extLst>
              <a:ext uri="{FF2B5EF4-FFF2-40B4-BE49-F238E27FC236}">
                <a16:creationId xmlns:a16="http://schemas.microsoft.com/office/drawing/2014/main" id="{159B50D4-6529-4209-A311-2E70CFD811A3}"/>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Sample 2; existing src baseline; v2 evidence policy</a:t>
            </a:r>
          </a:p>
        </p:txBody>
      </p:sp>
      <p:sp>
        <p:nvSpPr>
          <p:cNvPr id="4" name="slide-15-number">
            <a:extLst>
              <a:ext uri="{FF2B5EF4-FFF2-40B4-BE49-F238E27FC236}">
                <a16:creationId xmlns:a16="http://schemas.microsoft.com/office/drawing/2014/main" id="{3CCD4751-CA3E-4699-85B9-C4A85A469E75}"/>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15</a:t>
            </a:r>
          </a:p>
        </p:txBody>
      </p:sp>
      <p:sp>
        <p:nvSpPr>
          <p:cNvPr id="5" name="text-227">
            <a:extLst>
              <a:ext uri="{FF2B5EF4-FFF2-40B4-BE49-F238E27FC236}">
                <a16:creationId xmlns:a16="http://schemas.microsoft.com/office/drawing/2014/main" id="{712A2021-D264-47F1-BD0B-FD7565387162}"/>
              </a:ext>
            </a:extLst>
          </p:cNvPr>
          <p:cNvSpPr>
            <a:spLocks noGrp="1"/>
          </p:cNvSpPr>
          <p:nvPr/>
        </p:nvSpPr>
        <p:spPr>
          <a:xfrm>
            <a:off x="390525" y="1257300"/>
            <a:ext cx="5810250" cy="342900"/>
          </a:xfrm>
          <a:prstGeom prst="rect">
            <a:avLst/>
          </a:prstGeom>
        </p:spPr>
        <p:txBody>
          <a:bodyPr wrap="square" lIns="0" tIns="0" rIns="0" bIns="0" anchor="t">
            <a:normAutofit/>
          </a:bodyPr>
          <a:lstStyle/>
          <a:p>
            <a:pPr algn="l">
              <a:defRPr sz="1725" b="1">
                <a:solidFill>
                  <a:srgbClr val="000000"/>
                </a:solidFill>
                <a:latin typeface="Helvetica Neue"/>
                <a:ea typeface="Helvetica Neue"/>
                <a:cs typeface="Helvetica Neue"/>
              </a:defRPr>
            </a:pPr>
            <a:r>
              <a:t>Observed seasonal campaign ROAS</a:t>
            </a:r>
          </a:p>
        </p:txBody>
      </p:sp>
      <p:sp>
        <p:nvSpPr>
          <p:cNvPr id="6" name="shape-228">
            <a:extLst>
              <a:ext uri="{FF2B5EF4-FFF2-40B4-BE49-F238E27FC236}">
                <a16:creationId xmlns:a16="http://schemas.microsoft.com/office/drawing/2014/main" id="{99C7040D-2DB3-4C27-B0F8-BE05B6A28B8F}"/>
              </a:ext>
            </a:extLst>
          </p:cNvPr>
          <p:cNvSpPr>
            <a:spLocks noGrp="1"/>
          </p:cNvSpPr>
          <p:nvPr/>
        </p:nvSpPr>
        <p:spPr>
          <a:xfrm>
            <a:off x="6534150" y="1428750"/>
            <a:ext cx="5267325" cy="1143000"/>
          </a:xfrm>
          <a:prstGeom prst="rect">
            <a:avLst/>
          </a:prstGeom>
          <a:solidFill>
            <a:srgbClr val="F7F7F7"/>
          </a:solidFill>
          <a:ln w="9525">
            <a:solidFill>
              <a:srgbClr val="B8BCC4"/>
            </a:solidFill>
            <a:prstDash val="solid"/>
          </a:ln>
        </p:spPr>
        <p:txBody>
          <a:bodyPr/>
          <a:lstStyle/>
          <a:p>
            <a:endParaRPr lang="en-DE"/>
          </a:p>
        </p:txBody>
      </p:sp>
      <p:sp>
        <p:nvSpPr>
          <p:cNvPr id="7" name="shape-229">
            <a:extLst>
              <a:ext uri="{FF2B5EF4-FFF2-40B4-BE49-F238E27FC236}">
                <a16:creationId xmlns:a16="http://schemas.microsoft.com/office/drawing/2014/main" id="{A561A01F-4350-4466-B496-89A283BFB6BA}"/>
              </a:ext>
            </a:extLst>
          </p:cNvPr>
          <p:cNvSpPr>
            <a:spLocks noGrp="1"/>
          </p:cNvSpPr>
          <p:nvPr/>
        </p:nvSpPr>
        <p:spPr>
          <a:xfrm>
            <a:off x="6534150" y="2762250"/>
            <a:ext cx="5267325" cy="1143000"/>
          </a:xfrm>
          <a:prstGeom prst="rect">
            <a:avLst/>
          </a:prstGeom>
          <a:solidFill>
            <a:srgbClr val="F7F7F7"/>
          </a:solidFill>
          <a:ln w="9525">
            <a:solidFill>
              <a:srgbClr val="B8BCC4"/>
            </a:solidFill>
            <a:prstDash val="solid"/>
          </a:ln>
        </p:spPr>
        <p:txBody>
          <a:bodyPr/>
          <a:lstStyle/>
          <a:p>
            <a:endParaRPr lang="en-DE"/>
          </a:p>
        </p:txBody>
      </p:sp>
      <p:sp>
        <p:nvSpPr>
          <p:cNvPr id="8" name="shape-230">
            <a:extLst>
              <a:ext uri="{FF2B5EF4-FFF2-40B4-BE49-F238E27FC236}">
                <a16:creationId xmlns:a16="http://schemas.microsoft.com/office/drawing/2014/main" id="{F5ECC722-AEDC-4A4D-8037-903799CDD67A}"/>
              </a:ext>
            </a:extLst>
          </p:cNvPr>
          <p:cNvSpPr>
            <a:spLocks noGrp="1"/>
          </p:cNvSpPr>
          <p:nvPr/>
        </p:nvSpPr>
        <p:spPr>
          <a:xfrm>
            <a:off x="6534150" y="4095750"/>
            <a:ext cx="5267325" cy="1752600"/>
          </a:xfrm>
          <a:prstGeom prst="rect">
            <a:avLst/>
          </a:prstGeom>
          <a:solidFill>
            <a:srgbClr val="F4C27A"/>
          </a:solidFill>
          <a:ln w="9525">
            <a:solidFill>
              <a:srgbClr val="F4C27A"/>
            </a:solidFill>
            <a:prstDash val="solid"/>
          </a:ln>
        </p:spPr>
        <p:txBody>
          <a:bodyPr/>
          <a:lstStyle/>
          <a:p>
            <a:endParaRPr lang="en-DE"/>
          </a:p>
        </p:txBody>
      </p:sp>
      <p:sp>
        <p:nvSpPr>
          <p:cNvPr id="9" name="text-231">
            <a:extLst>
              <a:ext uri="{FF2B5EF4-FFF2-40B4-BE49-F238E27FC236}">
                <a16:creationId xmlns:a16="http://schemas.microsoft.com/office/drawing/2014/main" id="{1D161F91-6E23-4676-8CD1-BBA0E4FD4181}"/>
              </a:ext>
            </a:extLst>
          </p:cNvPr>
          <p:cNvSpPr>
            <a:spLocks noGrp="1"/>
          </p:cNvSpPr>
          <p:nvPr/>
        </p:nvSpPr>
        <p:spPr>
          <a:xfrm>
            <a:off x="6838950" y="1676400"/>
            <a:ext cx="4657725" cy="438150"/>
          </a:xfrm>
          <a:prstGeom prst="rect">
            <a:avLst/>
          </a:prstGeom>
        </p:spPr>
        <p:txBody>
          <a:bodyPr wrap="square" lIns="0" tIns="0" rIns="0" bIns="0" anchor="t">
            <a:normAutofit/>
          </a:bodyPr>
          <a:lstStyle/>
          <a:p>
            <a:pPr algn="l">
              <a:defRPr sz="2550" b="1">
                <a:solidFill>
                  <a:srgbClr val="000000"/>
                </a:solidFill>
                <a:latin typeface="Helvetica Neue"/>
                <a:ea typeface="Helvetica Neue"/>
                <a:cs typeface="Helvetica Neue"/>
              </a:defRPr>
            </a:pPr>
            <a:r>
              <a:t>EGP 64,990</a:t>
            </a:r>
          </a:p>
        </p:txBody>
      </p:sp>
      <p:sp>
        <p:nvSpPr>
          <p:cNvPr id="10" name="text-232">
            <a:extLst>
              <a:ext uri="{FF2B5EF4-FFF2-40B4-BE49-F238E27FC236}">
                <a16:creationId xmlns:a16="http://schemas.microsoft.com/office/drawing/2014/main" id="{F42F114D-142D-4227-B4BA-8D254E4C2D47}"/>
              </a:ext>
            </a:extLst>
          </p:cNvPr>
          <p:cNvSpPr>
            <a:spLocks noGrp="1"/>
          </p:cNvSpPr>
          <p:nvPr/>
        </p:nvSpPr>
        <p:spPr>
          <a:xfrm>
            <a:off x="6838950" y="2152650"/>
            <a:ext cx="4657725" cy="266700"/>
          </a:xfrm>
          <a:prstGeom prst="rect">
            <a:avLst/>
          </a:prstGeom>
        </p:spPr>
        <p:txBody>
          <a:bodyPr wrap="square" lIns="0" tIns="0" rIns="0" bIns="0" anchor="t">
            <a:normAutofit/>
          </a:bodyPr>
          <a:lstStyle/>
          <a:p>
            <a:pPr algn="l">
              <a:defRPr sz="1275" b="0">
                <a:solidFill>
                  <a:srgbClr val="5F6368"/>
                </a:solidFill>
                <a:latin typeface="Helvetica Neue"/>
                <a:ea typeface="Helvetica Neue"/>
                <a:cs typeface="Helvetica Neue"/>
              </a:defRPr>
            </a:pPr>
            <a:r>
              <a:t>Observed net revenue</a:t>
            </a:r>
          </a:p>
        </p:txBody>
      </p:sp>
      <p:sp>
        <p:nvSpPr>
          <p:cNvPr id="11" name="text-233">
            <a:extLst>
              <a:ext uri="{FF2B5EF4-FFF2-40B4-BE49-F238E27FC236}">
                <a16:creationId xmlns:a16="http://schemas.microsoft.com/office/drawing/2014/main" id="{F97AB5B0-95F1-4424-81D8-3D2F30F82214}"/>
              </a:ext>
            </a:extLst>
          </p:cNvPr>
          <p:cNvSpPr>
            <a:spLocks noGrp="1"/>
          </p:cNvSpPr>
          <p:nvPr/>
        </p:nvSpPr>
        <p:spPr>
          <a:xfrm>
            <a:off x="6838950" y="3009900"/>
            <a:ext cx="4657725" cy="438150"/>
          </a:xfrm>
          <a:prstGeom prst="rect">
            <a:avLst/>
          </a:prstGeom>
        </p:spPr>
        <p:txBody>
          <a:bodyPr wrap="square" lIns="0" tIns="0" rIns="0" bIns="0" anchor="t">
            <a:normAutofit/>
          </a:bodyPr>
          <a:lstStyle/>
          <a:p>
            <a:pPr algn="l">
              <a:defRPr sz="2175" b="1">
                <a:solidFill>
                  <a:srgbClr val="000000"/>
                </a:solidFill>
                <a:latin typeface="Helvetica Neue"/>
                <a:ea typeface="Helvetica Neue"/>
                <a:cs typeface="Helvetica Neue"/>
              </a:defRPr>
            </a:pPr>
            <a:r>
              <a:t>28 delivered | AOV EGP 2,235</a:t>
            </a:r>
          </a:p>
        </p:txBody>
      </p:sp>
      <p:sp>
        <p:nvSpPr>
          <p:cNvPr id="12" name="text-234">
            <a:extLst>
              <a:ext uri="{FF2B5EF4-FFF2-40B4-BE49-F238E27FC236}">
                <a16:creationId xmlns:a16="http://schemas.microsoft.com/office/drawing/2014/main" id="{C3444CE6-ADB4-453B-89D1-D26F2E56BD16}"/>
              </a:ext>
            </a:extLst>
          </p:cNvPr>
          <p:cNvSpPr>
            <a:spLocks noGrp="1"/>
          </p:cNvSpPr>
          <p:nvPr/>
        </p:nvSpPr>
        <p:spPr>
          <a:xfrm>
            <a:off x="6838950" y="3486150"/>
            <a:ext cx="4657725" cy="266700"/>
          </a:xfrm>
          <a:prstGeom prst="rect">
            <a:avLst/>
          </a:prstGeom>
        </p:spPr>
        <p:txBody>
          <a:bodyPr wrap="square" lIns="0" tIns="0" rIns="0" bIns="0" anchor="t">
            <a:normAutofit/>
          </a:bodyPr>
          <a:lstStyle/>
          <a:p>
            <a:pPr algn="l">
              <a:defRPr sz="1275" b="0">
                <a:solidFill>
                  <a:srgbClr val="5F6368"/>
                </a:solidFill>
                <a:latin typeface="Helvetica Neue"/>
                <a:ea typeface="Helvetica Neue"/>
                <a:cs typeface="Helvetica Neue"/>
              </a:defRPr>
            </a:pPr>
            <a:r>
              <a:t>47 supplied conversations</a:t>
            </a:r>
          </a:p>
        </p:txBody>
      </p:sp>
      <p:sp>
        <p:nvSpPr>
          <p:cNvPr id="13" name="text-235">
            <a:extLst>
              <a:ext uri="{FF2B5EF4-FFF2-40B4-BE49-F238E27FC236}">
                <a16:creationId xmlns:a16="http://schemas.microsoft.com/office/drawing/2014/main" id="{AD037BAC-CDA0-4CB9-B5CE-5F41BE24A44C}"/>
              </a:ext>
            </a:extLst>
          </p:cNvPr>
          <p:cNvSpPr>
            <a:spLocks noGrp="1"/>
          </p:cNvSpPr>
          <p:nvPr/>
        </p:nvSpPr>
        <p:spPr>
          <a:xfrm>
            <a:off x="6838950" y="4343400"/>
            <a:ext cx="4657725" cy="285750"/>
          </a:xfrm>
          <a:prstGeom prst="rect">
            <a:avLst/>
          </a:prstGeom>
        </p:spPr>
        <p:txBody>
          <a:bodyPr wrap="square" lIns="0" tIns="0" rIns="0" bIns="0" anchor="t">
            <a:normAutofit/>
          </a:bodyPr>
          <a:lstStyle/>
          <a:p>
            <a:pPr algn="l">
              <a:defRPr sz="1425" b="1">
                <a:solidFill>
                  <a:srgbClr val="000000"/>
                </a:solidFill>
                <a:latin typeface="Helvetica Neue"/>
                <a:ea typeface="Helvetica Neue"/>
                <a:cs typeface="Helvetica Neue"/>
              </a:defRPr>
            </a:pPr>
            <a:r>
              <a:t>Existing baseline result</a:t>
            </a:r>
          </a:p>
        </p:txBody>
      </p:sp>
      <p:sp>
        <p:nvSpPr>
          <p:cNvPr id="14" name="text-236">
            <a:extLst>
              <a:ext uri="{FF2B5EF4-FFF2-40B4-BE49-F238E27FC236}">
                <a16:creationId xmlns:a16="http://schemas.microsoft.com/office/drawing/2014/main" id="{5EC7EE46-36D8-4742-A8CB-F10C4A6CE8DD}"/>
              </a:ext>
            </a:extLst>
          </p:cNvPr>
          <p:cNvSpPr>
            <a:spLocks noGrp="1"/>
          </p:cNvSpPr>
          <p:nvPr/>
        </p:nvSpPr>
        <p:spPr>
          <a:xfrm>
            <a:off x="6838950" y="4724400"/>
            <a:ext cx="4657725" cy="400050"/>
          </a:xfrm>
          <a:prstGeom prst="rect">
            <a:avLst/>
          </a:prstGeom>
        </p:spPr>
        <p:txBody>
          <a:bodyPr wrap="square" lIns="0" tIns="0" rIns="0" bIns="0" anchor="t">
            <a:normAutofit/>
          </a:bodyPr>
          <a:lstStyle/>
          <a:p>
            <a:pPr algn="l">
              <a:defRPr sz="1875" b="1">
                <a:solidFill>
                  <a:srgbClr val="000000"/>
                </a:solidFill>
                <a:latin typeface="Helvetica Neue"/>
                <a:ea typeface="Helvetica Neue"/>
                <a:cs typeface="Helvetica Neue"/>
              </a:defRPr>
            </a:pPr>
            <a:r>
              <a:t>Scale; 39.52% of the seasonal envelope</a:t>
            </a:r>
          </a:p>
        </p:txBody>
      </p:sp>
      <p:sp>
        <p:nvSpPr>
          <p:cNvPr id="15" name="text-237">
            <a:extLst>
              <a:ext uri="{FF2B5EF4-FFF2-40B4-BE49-F238E27FC236}">
                <a16:creationId xmlns:a16="http://schemas.microsoft.com/office/drawing/2014/main" id="{2E1D61EC-FE30-49EF-9226-22ED242D5E78}"/>
              </a:ext>
            </a:extLst>
          </p:cNvPr>
          <p:cNvSpPr>
            <a:spLocks noGrp="1"/>
          </p:cNvSpPr>
          <p:nvPr/>
        </p:nvSpPr>
        <p:spPr>
          <a:xfrm>
            <a:off x="6838950" y="5238750"/>
            <a:ext cx="4657725" cy="457200"/>
          </a:xfrm>
          <a:prstGeom prst="rect">
            <a:avLst/>
          </a:prstGeom>
        </p:spPr>
        <p:txBody>
          <a:bodyPr wrap="square" lIns="0" tIns="0" rIns="0" bIns="0" anchor="t">
            <a:normAutofit/>
          </a:bodyPr>
          <a:lstStyle/>
          <a:p>
            <a:pPr algn="l">
              <a:defRPr sz="1425" b="0">
                <a:solidFill>
                  <a:srgbClr val="000000"/>
                </a:solidFill>
                <a:latin typeface="Helvetica Neue"/>
                <a:ea typeface="Helvetica Neue"/>
                <a:cs typeface="Helvetica Neue"/>
              </a:defRPr>
            </a:pPr>
            <a:r>
              <a:t>v2 interpretation: illustrative only while outcome evidence is globally limited.</a:t>
            </a:r>
          </a:p>
        </p:txBody>
      </p:sp>
      <p:graphicFrame>
        <p:nvGraphicFramePr>
          <p:cNvPr id="32" name="Chart"/>
          <p:cNvGraphicFramePr/>
          <p:nvPr/>
        </p:nvGraphicFramePr>
        <p:xfrm>
          <a:off x="390525" y="1809750"/>
          <a:ext cx="561975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44022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16-title">
            <a:extLst>
              <a:ext uri="{FF2B5EF4-FFF2-40B4-BE49-F238E27FC236}">
                <a16:creationId xmlns:a16="http://schemas.microsoft.com/office/drawing/2014/main" id="{BD437B7A-2A21-4924-86A3-A832700254F5}"/>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The POC preserves the previous strategy</a:t>
            </a:r>
          </a:p>
        </p:txBody>
      </p:sp>
      <p:cxnSp>
        <p:nvCxnSpPr>
          <p:cNvPr id="15" name="line-251"/>
          <p:cNvCxnSpPr/>
          <p:nvPr/>
        </p:nvCxnSpPr>
        <p:spPr>
          <a:xfrm>
            <a:off x="495300" y="1057275"/>
            <a:ext cx="11296650" cy="9525"/>
          </a:xfrm>
          <a:prstGeom prst="straightConnector1">
            <a:avLst/>
          </a:prstGeom>
          <a:ln w="9525">
            <a:solidFill>
              <a:srgbClr val="B8BCC4"/>
            </a:solidFill>
            <a:prstDash val="solid"/>
          </a:ln>
        </p:spPr>
      </p:cxnSp>
      <p:sp>
        <p:nvSpPr>
          <p:cNvPr id="3" name="slide-16-source">
            <a:extLst>
              <a:ext uri="{FF2B5EF4-FFF2-40B4-BE49-F238E27FC236}">
                <a16:creationId xmlns:a16="http://schemas.microsoft.com/office/drawing/2014/main" id="{28E707C2-0D90-43A2-B9C1-C4491A4E7EBB}"/>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Sample 2 spend; src_2 budget_policy.poc.yaml</a:t>
            </a:r>
          </a:p>
        </p:txBody>
      </p:sp>
      <p:sp>
        <p:nvSpPr>
          <p:cNvPr id="4" name="slide-16-number">
            <a:extLst>
              <a:ext uri="{FF2B5EF4-FFF2-40B4-BE49-F238E27FC236}">
                <a16:creationId xmlns:a16="http://schemas.microsoft.com/office/drawing/2014/main" id="{19DB6D42-4A9B-405A-9976-8C785DF4BF39}"/>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16</a:t>
            </a:r>
          </a:p>
        </p:txBody>
      </p:sp>
      <p:sp>
        <p:nvSpPr>
          <p:cNvPr id="5" name="text-242">
            <a:extLst>
              <a:ext uri="{FF2B5EF4-FFF2-40B4-BE49-F238E27FC236}">
                <a16:creationId xmlns:a16="http://schemas.microsoft.com/office/drawing/2014/main" id="{77331177-CE8B-488C-899D-1677774BB8E9}"/>
              </a:ext>
            </a:extLst>
          </p:cNvPr>
          <p:cNvSpPr>
            <a:spLocks noGrp="1"/>
          </p:cNvSpPr>
          <p:nvPr/>
        </p:nvSpPr>
        <p:spPr>
          <a:xfrm>
            <a:off x="390525" y="1257300"/>
            <a:ext cx="6667500" cy="342900"/>
          </a:xfrm>
          <a:prstGeom prst="rect">
            <a:avLst/>
          </a:prstGeom>
        </p:spPr>
        <p:txBody>
          <a:bodyPr wrap="square" lIns="0" tIns="0" rIns="0" bIns="0" anchor="t">
            <a:normAutofit/>
          </a:bodyPr>
          <a:lstStyle/>
          <a:p>
            <a:pPr algn="l">
              <a:defRPr sz="1725" b="1">
                <a:solidFill>
                  <a:srgbClr val="000000"/>
                </a:solidFill>
                <a:latin typeface="Helvetica Neue"/>
                <a:ea typeface="Helvetica Neue"/>
                <a:cs typeface="Helvetica Neue"/>
              </a:defRPr>
            </a:pPr>
            <a:r>
              <a:t>Previous-cycle spend share by campaign type</a:t>
            </a:r>
          </a:p>
        </p:txBody>
      </p:sp>
      <p:sp>
        <p:nvSpPr>
          <p:cNvPr id="6" name="shape-243">
            <a:extLst>
              <a:ext uri="{FF2B5EF4-FFF2-40B4-BE49-F238E27FC236}">
                <a16:creationId xmlns:a16="http://schemas.microsoft.com/office/drawing/2014/main" id="{F51C6F5F-A51D-4B6C-BB18-1A51C6FD2A6B}"/>
              </a:ext>
            </a:extLst>
          </p:cNvPr>
          <p:cNvSpPr>
            <a:spLocks noGrp="1"/>
          </p:cNvSpPr>
          <p:nvPr/>
        </p:nvSpPr>
        <p:spPr>
          <a:xfrm>
            <a:off x="7258050" y="1562100"/>
            <a:ext cx="4543425" cy="1752600"/>
          </a:xfrm>
          <a:prstGeom prst="rect">
            <a:avLst/>
          </a:prstGeom>
          <a:solidFill>
            <a:srgbClr val="D0EDFA"/>
          </a:solidFill>
          <a:ln w="9525">
            <a:solidFill>
              <a:srgbClr val="B8BCC4"/>
            </a:solidFill>
            <a:prstDash val="solid"/>
          </a:ln>
        </p:spPr>
        <p:txBody>
          <a:bodyPr/>
          <a:lstStyle/>
          <a:p>
            <a:endParaRPr lang="en-DE"/>
          </a:p>
        </p:txBody>
      </p:sp>
      <p:sp>
        <p:nvSpPr>
          <p:cNvPr id="7" name="shape-244">
            <a:extLst>
              <a:ext uri="{FF2B5EF4-FFF2-40B4-BE49-F238E27FC236}">
                <a16:creationId xmlns:a16="http://schemas.microsoft.com/office/drawing/2014/main" id="{1076C871-369B-404F-BE46-FE276ECAE347}"/>
              </a:ext>
            </a:extLst>
          </p:cNvPr>
          <p:cNvSpPr>
            <a:spLocks noGrp="1"/>
          </p:cNvSpPr>
          <p:nvPr/>
        </p:nvSpPr>
        <p:spPr>
          <a:xfrm>
            <a:off x="7258050" y="3543300"/>
            <a:ext cx="4543425" cy="1752600"/>
          </a:xfrm>
          <a:prstGeom prst="rect">
            <a:avLst/>
          </a:prstGeom>
          <a:solidFill>
            <a:srgbClr val="F7F7F7"/>
          </a:solidFill>
          <a:ln w="9525">
            <a:solidFill>
              <a:srgbClr val="B8BCC4"/>
            </a:solidFill>
            <a:prstDash val="solid"/>
          </a:ln>
        </p:spPr>
        <p:txBody>
          <a:bodyPr/>
          <a:lstStyle/>
          <a:p>
            <a:endParaRPr lang="en-DE"/>
          </a:p>
        </p:txBody>
      </p:sp>
      <p:sp>
        <p:nvSpPr>
          <p:cNvPr id="8" name="text-245">
            <a:extLst>
              <a:ext uri="{FF2B5EF4-FFF2-40B4-BE49-F238E27FC236}">
                <a16:creationId xmlns:a16="http://schemas.microsoft.com/office/drawing/2014/main" id="{4F9F37EF-5E81-47A1-9F6E-0D33A501F273}"/>
              </a:ext>
            </a:extLst>
          </p:cNvPr>
          <p:cNvSpPr>
            <a:spLocks noGrp="1"/>
          </p:cNvSpPr>
          <p:nvPr/>
        </p:nvSpPr>
        <p:spPr>
          <a:xfrm>
            <a:off x="7600950" y="1943100"/>
            <a:ext cx="3857625" cy="571500"/>
          </a:xfrm>
          <a:prstGeom prst="rect">
            <a:avLst/>
          </a:prstGeom>
        </p:spPr>
        <p:txBody>
          <a:bodyPr wrap="square" lIns="0" tIns="0" rIns="0" bIns="0" anchor="t">
            <a:normAutofit/>
          </a:bodyPr>
          <a:lstStyle/>
          <a:p>
            <a:pPr algn="l">
              <a:defRPr sz="3450" b="1">
                <a:solidFill>
                  <a:srgbClr val="3D8DFF"/>
                </a:solidFill>
                <a:latin typeface="Helvetica Neue"/>
                <a:ea typeface="Helvetica Neue"/>
                <a:cs typeface="Helvetica Neue"/>
              </a:defRPr>
            </a:pPr>
            <a:r>
              <a:t>2.63 units</a:t>
            </a:r>
          </a:p>
        </p:txBody>
      </p:sp>
      <p:sp>
        <p:nvSpPr>
          <p:cNvPr id="9" name="text-246">
            <a:extLst>
              <a:ext uri="{FF2B5EF4-FFF2-40B4-BE49-F238E27FC236}">
                <a16:creationId xmlns:a16="http://schemas.microsoft.com/office/drawing/2014/main" id="{3E416542-EAE4-4185-AFA1-B5E09E591621}"/>
              </a:ext>
            </a:extLst>
          </p:cNvPr>
          <p:cNvSpPr>
            <a:spLocks noGrp="1"/>
          </p:cNvSpPr>
          <p:nvPr/>
        </p:nvSpPr>
        <p:spPr>
          <a:xfrm>
            <a:off x="7600950" y="2609850"/>
            <a:ext cx="3857625" cy="40005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Historical experimental envelope</a:t>
            </a:r>
          </a:p>
        </p:txBody>
      </p:sp>
      <p:sp>
        <p:nvSpPr>
          <p:cNvPr id="10" name="text-247">
            <a:extLst>
              <a:ext uri="{FF2B5EF4-FFF2-40B4-BE49-F238E27FC236}">
                <a16:creationId xmlns:a16="http://schemas.microsoft.com/office/drawing/2014/main" id="{3A65594C-2B13-4C76-868B-0C1530CC6B37}"/>
              </a:ext>
            </a:extLst>
          </p:cNvPr>
          <p:cNvSpPr>
            <a:spLocks noGrp="1"/>
          </p:cNvSpPr>
          <p:nvPr/>
        </p:nvSpPr>
        <p:spPr>
          <a:xfrm>
            <a:off x="7600950" y="3924300"/>
            <a:ext cx="3857625" cy="571500"/>
          </a:xfrm>
          <a:prstGeom prst="rect">
            <a:avLst/>
          </a:prstGeom>
        </p:spPr>
        <p:txBody>
          <a:bodyPr wrap="square" lIns="0" tIns="0" rIns="0" bIns="0" anchor="t">
            <a:normAutofit/>
          </a:bodyPr>
          <a:lstStyle/>
          <a:p>
            <a:pPr algn="l">
              <a:defRPr sz="3450" b="1">
                <a:solidFill>
                  <a:srgbClr val="000000"/>
                </a:solidFill>
                <a:latin typeface="Helvetica Neue"/>
                <a:ea typeface="Helvetica Neue"/>
                <a:cs typeface="Helvetica Neue"/>
              </a:defRPr>
            </a:pPr>
            <a:r>
              <a:t>100 units</a:t>
            </a:r>
          </a:p>
        </p:txBody>
      </p:sp>
      <p:sp>
        <p:nvSpPr>
          <p:cNvPr id="11" name="text-248">
            <a:extLst>
              <a:ext uri="{FF2B5EF4-FFF2-40B4-BE49-F238E27FC236}">
                <a16:creationId xmlns:a16="http://schemas.microsoft.com/office/drawing/2014/main" id="{3C921165-6737-4E87-A805-64E71092CAF6}"/>
              </a:ext>
            </a:extLst>
          </p:cNvPr>
          <p:cNvSpPr>
            <a:spLocks noGrp="1"/>
          </p:cNvSpPr>
          <p:nvPr/>
        </p:nvSpPr>
        <p:spPr>
          <a:xfrm>
            <a:off x="7600950" y="4591050"/>
            <a:ext cx="3857625" cy="53340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Normalized POC budget; no campaign concentration cap</a:t>
            </a:r>
          </a:p>
        </p:txBody>
      </p:sp>
      <p:sp>
        <p:nvSpPr>
          <p:cNvPr id="12" name="text-249">
            <a:extLst>
              <a:ext uri="{FF2B5EF4-FFF2-40B4-BE49-F238E27FC236}">
                <a16:creationId xmlns:a16="http://schemas.microsoft.com/office/drawing/2014/main" id="{24E1DC43-A28A-4D4D-BA86-1C9B22A4D8BD}"/>
              </a:ext>
            </a:extLst>
          </p:cNvPr>
          <p:cNvSpPr>
            <a:spLocks noGrp="1"/>
          </p:cNvSpPr>
          <p:nvPr/>
        </p:nvSpPr>
        <p:spPr>
          <a:xfrm>
            <a:off x="1600200" y="5867400"/>
            <a:ext cx="8991600" cy="323850"/>
          </a:xfrm>
          <a:prstGeom prst="rect">
            <a:avLst/>
          </a:prstGeom>
        </p:spPr>
        <p:txBody>
          <a:bodyPr wrap="square" lIns="0" tIns="0" rIns="0" bIns="0" anchor="t">
            <a:normAutofit/>
          </a:bodyPr>
          <a:lstStyle/>
          <a:p>
            <a:pPr algn="ctr">
              <a:defRPr sz="1725" b="1">
                <a:solidFill>
                  <a:srgbClr val="3D8DFF"/>
                </a:solidFill>
                <a:latin typeface="Helvetica Neue"/>
                <a:ea typeface="Helvetica Neue"/>
                <a:cs typeface="Helvetica Neue"/>
              </a:defRPr>
            </a:pPr>
            <a:r>
              <a:t>The type mix is preserved first; optimization happens inside each envelope.</a:t>
            </a:r>
          </a:p>
        </p:txBody>
      </p:sp>
      <p:graphicFrame>
        <p:nvGraphicFramePr>
          <p:cNvPr id="26" name="Chart"/>
          <p:cNvGraphicFramePr/>
          <p:nvPr/>
        </p:nvGraphicFramePr>
        <p:xfrm>
          <a:off x="390525" y="1714500"/>
          <a:ext cx="647700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4338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lide-17-title">
            <a:extLst>
              <a:ext uri="{FF2B5EF4-FFF2-40B4-BE49-F238E27FC236}">
                <a16:creationId xmlns:a16="http://schemas.microsoft.com/office/drawing/2014/main" id="{4ABE7E14-4240-4CBF-8BB3-F22A14750964}"/>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Two code paths coexist during migration</a:t>
            </a:r>
          </a:p>
        </p:txBody>
      </p:sp>
      <p:cxnSp>
        <p:nvCxnSpPr>
          <p:cNvPr id="24" name="line-273"/>
          <p:cNvCxnSpPr/>
          <p:nvPr/>
        </p:nvCxnSpPr>
        <p:spPr>
          <a:xfrm>
            <a:off x="495300" y="1057275"/>
            <a:ext cx="11296650" cy="9525"/>
          </a:xfrm>
          <a:prstGeom prst="straightConnector1">
            <a:avLst/>
          </a:prstGeom>
          <a:ln w="9525">
            <a:solidFill>
              <a:srgbClr val="B8BCC4"/>
            </a:solidFill>
            <a:prstDash val="solid"/>
          </a:ln>
        </p:spPr>
      </p:cxnSp>
      <p:sp>
        <p:nvSpPr>
          <p:cNvPr id="3" name="slide-17-source">
            <a:extLst>
              <a:ext uri="{FF2B5EF4-FFF2-40B4-BE49-F238E27FC236}">
                <a16:creationId xmlns:a16="http://schemas.microsoft.com/office/drawing/2014/main" id="{47F5BA72-C576-43D4-8ACA-E44BBE4283AC}"/>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Team2-MarketingExpert/src and src_2</a:t>
            </a:r>
          </a:p>
        </p:txBody>
      </p:sp>
      <p:sp>
        <p:nvSpPr>
          <p:cNvPr id="4" name="slide-17-number">
            <a:extLst>
              <a:ext uri="{FF2B5EF4-FFF2-40B4-BE49-F238E27FC236}">
                <a16:creationId xmlns:a16="http://schemas.microsoft.com/office/drawing/2014/main" id="{3BAC4413-7BC2-4BF3-900F-0578E752A903}"/>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17</a:t>
            </a:r>
          </a:p>
        </p:txBody>
      </p:sp>
      <p:cxnSp>
        <p:nvCxnSpPr>
          <p:cNvPr id="27" name="line-254"/>
          <p:cNvCxnSpPr/>
          <p:nvPr/>
        </p:nvCxnSpPr>
        <p:spPr>
          <a:xfrm>
            <a:off x="1200150" y="3314700"/>
            <a:ext cx="9791700" cy="9525"/>
          </a:xfrm>
          <a:prstGeom prst="straightConnector1">
            <a:avLst/>
          </a:prstGeom>
          <a:ln w="19050">
            <a:solidFill>
              <a:srgbClr val="B8BCC4"/>
            </a:solidFill>
            <a:prstDash val="solid"/>
          </a:ln>
        </p:spPr>
      </p:cxnSp>
      <p:sp>
        <p:nvSpPr>
          <p:cNvPr id="6" name="shape-255">
            <a:extLst>
              <a:ext uri="{FF2B5EF4-FFF2-40B4-BE49-F238E27FC236}">
                <a16:creationId xmlns:a16="http://schemas.microsoft.com/office/drawing/2014/main" id="{78A138E4-5B81-471D-B53F-3A70443FB3BB}"/>
              </a:ext>
            </a:extLst>
          </p:cNvPr>
          <p:cNvSpPr>
            <a:spLocks noGrp="1"/>
          </p:cNvSpPr>
          <p:nvPr/>
        </p:nvSpPr>
        <p:spPr>
          <a:xfrm>
            <a:off x="609600" y="2038350"/>
            <a:ext cx="2324100" cy="2381250"/>
          </a:xfrm>
          <a:prstGeom prst="rect">
            <a:avLst/>
          </a:prstGeom>
          <a:solidFill>
            <a:srgbClr val="EDEDED"/>
          </a:solidFill>
          <a:ln w="9525">
            <a:solidFill>
              <a:srgbClr val="EDEDED"/>
            </a:solidFill>
            <a:prstDash val="solid"/>
          </a:ln>
        </p:spPr>
        <p:txBody>
          <a:bodyPr/>
          <a:lstStyle/>
          <a:p>
            <a:endParaRPr lang="en-DE"/>
          </a:p>
        </p:txBody>
      </p:sp>
      <p:sp>
        <p:nvSpPr>
          <p:cNvPr id="7" name="text-256">
            <a:extLst>
              <a:ext uri="{FF2B5EF4-FFF2-40B4-BE49-F238E27FC236}">
                <a16:creationId xmlns:a16="http://schemas.microsoft.com/office/drawing/2014/main" id="{CA92EE75-24B6-4883-BFC2-5D1121FF6C1A}"/>
              </a:ext>
            </a:extLst>
          </p:cNvPr>
          <p:cNvSpPr>
            <a:spLocks noGrp="1"/>
          </p:cNvSpPr>
          <p:nvPr/>
        </p:nvSpPr>
        <p:spPr>
          <a:xfrm>
            <a:off x="838200" y="2247900"/>
            <a:ext cx="419100" cy="419100"/>
          </a:xfrm>
          <a:prstGeom prst="rect">
            <a:avLst/>
          </a:prstGeom>
        </p:spPr>
        <p:txBody>
          <a:bodyPr wrap="square" lIns="0" tIns="0" rIns="0" bIns="0" anchor="t">
            <a:normAutofit/>
          </a:bodyPr>
          <a:lstStyle/>
          <a:p>
            <a:pPr algn="l">
              <a:defRPr sz="2400" b="1">
                <a:solidFill>
                  <a:srgbClr val="3D8DFF"/>
                </a:solidFill>
                <a:latin typeface="Helvetica Neue"/>
                <a:ea typeface="Helvetica Neue"/>
                <a:cs typeface="Helvetica Neue"/>
              </a:defRPr>
            </a:pPr>
            <a:r>
              <a:t>1</a:t>
            </a:r>
          </a:p>
        </p:txBody>
      </p:sp>
      <p:sp>
        <p:nvSpPr>
          <p:cNvPr id="8" name="text-257">
            <a:extLst>
              <a:ext uri="{FF2B5EF4-FFF2-40B4-BE49-F238E27FC236}">
                <a16:creationId xmlns:a16="http://schemas.microsoft.com/office/drawing/2014/main" id="{0804E714-A4FF-4736-9170-8DA37D397900}"/>
              </a:ext>
            </a:extLst>
          </p:cNvPr>
          <p:cNvSpPr>
            <a:spLocks noGrp="1"/>
          </p:cNvSpPr>
          <p:nvPr/>
        </p:nvSpPr>
        <p:spPr>
          <a:xfrm>
            <a:off x="838200" y="2800350"/>
            <a:ext cx="1866900" cy="400050"/>
          </a:xfrm>
          <a:prstGeom prst="rect">
            <a:avLst/>
          </a:prstGeom>
        </p:spPr>
        <p:txBody>
          <a:bodyPr wrap="square" lIns="0" tIns="0" rIns="0" bIns="0" anchor="t">
            <a:normAutofit/>
          </a:bodyPr>
          <a:lstStyle/>
          <a:p>
            <a:pPr algn="l">
              <a:defRPr sz="1800" b="1">
                <a:solidFill>
                  <a:srgbClr val="000000"/>
                </a:solidFill>
                <a:latin typeface="Helvetica Neue"/>
                <a:ea typeface="Helvetica Neue"/>
                <a:cs typeface="Helvetica Neue"/>
              </a:defRPr>
            </a:pPr>
            <a:r>
              <a:t>Existing src</a:t>
            </a:r>
          </a:p>
        </p:txBody>
      </p:sp>
      <p:sp>
        <p:nvSpPr>
          <p:cNvPr id="9" name="text-258">
            <a:extLst>
              <a:ext uri="{FF2B5EF4-FFF2-40B4-BE49-F238E27FC236}">
                <a16:creationId xmlns:a16="http://schemas.microsoft.com/office/drawing/2014/main" id="{F054909B-D66E-407E-8075-A47EF56D4F9B}"/>
              </a:ext>
            </a:extLst>
          </p:cNvPr>
          <p:cNvSpPr>
            <a:spLocks noGrp="1"/>
          </p:cNvSpPr>
          <p:nvPr/>
        </p:nvSpPr>
        <p:spPr>
          <a:xfrm>
            <a:off x="838200" y="3371850"/>
            <a:ext cx="1866900" cy="857250"/>
          </a:xfrm>
          <a:prstGeom prst="rect">
            <a:avLst/>
          </a:prstGeom>
        </p:spPr>
        <p:txBody>
          <a:bodyPr wrap="square" lIns="0" tIns="0" rIns="0" bIns="0" anchor="t">
            <a:normAutofit/>
          </a:bodyPr>
          <a:lstStyle/>
          <a:p>
            <a:pPr algn="l">
              <a:defRPr sz="1350" b="0">
                <a:solidFill>
                  <a:srgbClr val="5F6368"/>
                </a:solidFill>
                <a:latin typeface="Helvetica Neue"/>
                <a:ea typeface="Helvetica Neue"/>
                <a:cs typeface="Helvetica Neue"/>
              </a:defRPr>
            </a:pPr>
            <a:r>
              <a:t>Working baseline
Weighted scores
Direct prompt pipeline</a:t>
            </a:r>
          </a:p>
        </p:txBody>
      </p:sp>
      <p:sp>
        <p:nvSpPr>
          <p:cNvPr id="10" name="shape-259">
            <a:extLst>
              <a:ext uri="{FF2B5EF4-FFF2-40B4-BE49-F238E27FC236}">
                <a16:creationId xmlns:a16="http://schemas.microsoft.com/office/drawing/2014/main" id="{A2FDB573-E5FD-43B0-8EC9-D09325FA34FB}"/>
              </a:ext>
            </a:extLst>
          </p:cNvPr>
          <p:cNvSpPr>
            <a:spLocks noGrp="1"/>
          </p:cNvSpPr>
          <p:nvPr/>
        </p:nvSpPr>
        <p:spPr>
          <a:xfrm>
            <a:off x="3295650" y="2038350"/>
            <a:ext cx="2324100" cy="2381250"/>
          </a:xfrm>
          <a:prstGeom prst="rect">
            <a:avLst/>
          </a:prstGeom>
          <a:solidFill>
            <a:srgbClr val="D0EDFA"/>
          </a:solidFill>
          <a:ln w="9525">
            <a:solidFill>
              <a:srgbClr val="D0EDFA"/>
            </a:solidFill>
            <a:prstDash val="solid"/>
          </a:ln>
        </p:spPr>
        <p:txBody>
          <a:bodyPr/>
          <a:lstStyle/>
          <a:p>
            <a:endParaRPr lang="en-DE"/>
          </a:p>
        </p:txBody>
      </p:sp>
      <p:sp>
        <p:nvSpPr>
          <p:cNvPr id="11" name="text-260">
            <a:extLst>
              <a:ext uri="{FF2B5EF4-FFF2-40B4-BE49-F238E27FC236}">
                <a16:creationId xmlns:a16="http://schemas.microsoft.com/office/drawing/2014/main" id="{75ECD82B-7687-488A-A7F0-43E3A273C596}"/>
              </a:ext>
            </a:extLst>
          </p:cNvPr>
          <p:cNvSpPr>
            <a:spLocks noGrp="1"/>
          </p:cNvSpPr>
          <p:nvPr/>
        </p:nvSpPr>
        <p:spPr>
          <a:xfrm>
            <a:off x="3524250" y="2247900"/>
            <a:ext cx="419100" cy="419100"/>
          </a:xfrm>
          <a:prstGeom prst="rect">
            <a:avLst/>
          </a:prstGeom>
        </p:spPr>
        <p:txBody>
          <a:bodyPr wrap="square" lIns="0" tIns="0" rIns="0" bIns="0" anchor="t">
            <a:normAutofit/>
          </a:bodyPr>
          <a:lstStyle/>
          <a:p>
            <a:pPr algn="l">
              <a:defRPr sz="2400" b="1">
                <a:solidFill>
                  <a:srgbClr val="3D8DFF"/>
                </a:solidFill>
                <a:latin typeface="Helvetica Neue"/>
                <a:ea typeface="Helvetica Neue"/>
                <a:cs typeface="Helvetica Neue"/>
              </a:defRPr>
            </a:pPr>
            <a:r>
              <a:t>2</a:t>
            </a:r>
          </a:p>
        </p:txBody>
      </p:sp>
      <p:sp>
        <p:nvSpPr>
          <p:cNvPr id="12" name="text-261">
            <a:extLst>
              <a:ext uri="{FF2B5EF4-FFF2-40B4-BE49-F238E27FC236}">
                <a16:creationId xmlns:a16="http://schemas.microsoft.com/office/drawing/2014/main" id="{84FB36B8-904A-4772-A95F-BF0212DB106F}"/>
              </a:ext>
            </a:extLst>
          </p:cNvPr>
          <p:cNvSpPr>
            <a:spLocks noGrp="1"/>
          </p:cNvSpPr>
          <p:nvPr/>
        </p:nvSpPr>
        <p:spPr>
          <a:xfrm>
            <a:off x="3524250" y="2800350"/>
            <a:ext cx="1866900" cy="400050"/>
          </a:xfrm>
          <a:prstGeom prst="rect">
            <a:avLst/>
          </a:prstGeom>
        </p:spPr>
        <p:txBody>
          <a:bodyPr wrap="square" lIns="0" tIns="0" rIns="0" bIns="0" anchor="t">
            <a:normAutofit/>
          </a:bodyPr>
          <a:lstStyle/>
          <a:p>
            <a:pPr algn="l">
              <a:defRPr sz="1800" b="1">
                <a:solidFill>
                  <a:srgbClr val="000000"/>
                </a:solidFill>
                <a:latin typeface="Helvetica Neue"/>
                <a:ea typeface="Helvetica Neue"/>
                <a:cs typeface="Helvetica Neue"/>
              </a:defRPr>
            </a:pPr>
            <a:r>
              <a:t>src_2 scaffold</a:t>
            </a:r>
          </a:p>
        </p:txBody>
      </p:sp>
      <p:sp>
        <p:nvSpPr>
          <p:cNvPr id="13" name="text-262">
            <a:extLst>
              <a:ext uri="{FF2B5EF4-FFF2-40B4-BE49-F238E27FC236}">
                <a16:creationId xmlns:a16="http://schemas.microsoft.com/office/drawing/2014/main" id="{C58377E2-C2F1-4785-ADBC-991C26A875FF}"/>
              </a:ext>
            </a:extLst>
          </p:cNvPr>
          <p:cNvSpPr>
            <a:spLocks noGrp="1"/>
          </p:cNvSpPr>
          <p:nvPr/>
        </p:nvSpPr>
        <p:spPr>
          <a:xfrm>
            <a:off x="3524250" y="3371850"/>
            <a:ext cx="1866900" cy="857250"/>
          </a:xfrm>
          <a:prstGeom prst="rect">
            <a:avLst/>
          </a:prstGeom>
        </p:spPr>
        <p:txBody>
          <a:bodyPr wrap="square" lIns="0" tIns="0" rIns="0" bIns="0" anchor="t">
            <a:normAutofit/>
          </a:bodyPr>
          <a:lstStyle/>
          <a:p>
            <a:pPr algn="l">
              <a:defRPr sz="1350" b="0">
                <a:solidFill>
                  <a:srgbClr val="5F6368"/>
                </a:solidFill>
                <a:latin typeface="Helvetica Neue"/>
                <a:ea typeface="Helvetica Neue"/>
                <a:cs typeface="Helvetica Neue"/>
              </a:defRPr>
            </a:pPr>
            <a:r>
              <a:t>Policy in YAML
Typed contracts
Rule-based gates</a:t>
            </a:r>
          </a:p>
        </p:txBody>
      </p:sp>
      <p:sp>
        <p:nvSpPr>
          <p:cNvPr id="14" name="shape-263">
            <a:extLst>
              <a:ext uri="{FF2B5EF4-FFF2-40B4-BE49-F238E27FC236}">
                <a16:creationId xmlns:a16="http://schemas.microsoft.com/office/drawing/2014/main" id="{1C9F1C4D-EB0C-4536-952E-4DD117BF328F}"/>
              </a:ext>
            </a:extLst>
          </p:cNvPr>
          <p:cNvSpPr>
            <a:spLocks noGrp="1"/>
          </p:cNvSpPr>
          <p:nvPr/>
        </p:nvSpPr>
        <p:spPr>
          <a:xfrm>
            <a:off x="5981700" y="2038350"/>
            <a:ext cx="2324100" cy="2381250"/>
          </a:xfrm>
          <a:prstGeom prst="rect">
            <a:avLst/>
          </a:prstGeom>
          <a:solidFill>
            <a:srgbClr val="6DCBF4"/>
          </a:solidFill>
          <a:ln w="9525">
            <a:solidFill>
              <a:srgbClr val="6DCBF4"/>
            </a:solidFill>
            <a:prstDash val="solid"/>
          </a:ln>
        </p:spPr>
        <p:txBody>
          <a:bodyPr/>
          <a:lstStyle/>
          <a:p>
            <a:endParaRPr lang="en-DE"/>
          </a:p>
        </p:txBody>
      </p:sp>
      <p:sp>
        <p:nvSpPr>
          <p:cNvPr id="15" name="text-264">
            <a:extLst>
              <a:ext uri="{FF2B5EF4-FFF2-40B4-BE49-F238E27FC236}">
                <a16:creationId xmlns:a16="http://schemas.microsoft.com/office/drawing/2014/main" id="{0D557BAE-03D6-4B0F-9F9C-E6A4CED46104}"/>
              </a:ext>
            </a:extLst>
          </p:cNvPr>
          <p:cNvSpPr>
            <a:spLocks noGrp="1"/>
          </p:cNvSpPr>
          <p:nvPr/>
        </p:nvSpPr>
        <p:spPr>
          <a:xfrm>
            <a:off x="6210300" y="2247900"/>
            <a:ext cx="419100" cy="419100"/>
          </a:xfrm>
          <a:prstGeom prst="rect">
            <a:avLst/>
          </a:prstGeom>
        </p:spPr>
        <p:txBody>
          <a:bodyPr wrap="square" lIns="0" tIns="0" rIns="0" bIns="0" anchor="t">
            <a:normAutofit/>
          </a:bodyPr>
          <a:lstStyle/>
          <a:p>
            <a:pPr algn="l">
              <a:defRPr sz="2400" b="1">
                <a:solidFill>
                  <a:srgbClr val="3D8DFF"/>
                </a:solidFill>
                <a:latin typeface="Helvetica Neue"/>
                <a:ea typeface="Helvetica Neue"/>
                <a:cs typeface="Helvetica Neue"/>
              </a:defRPr>
            </a:pPr>
            <a:r>
              <a:t>3</a:t>
            </a:r>
          </a:p>
        </p:txBody>
      </p:sp>
      <p:sp>
        <p:nvSpPr>
          <p:cNvPr id="16" name="text-265">
            <a:extLst>
              <a:ext uri="{FF2B5EF4-FFF2-40B4-BE49-F238E27FC236}">
                <a16:creationId xmlns:a16="http://schemas.microsoft.com/office/drawing/2014/main" id="{D955CA2E-3526-4638-9E4B-0F9652AECB09}"/>
              </a:ext>
            </a:extLst>
          </p:cNvPr>
          <p:cNvSpPr>
            <a:spLocks noGrp="1"/>
          </p:cNvSpPr>
          <p:nvPr/>
        </p:nvSpPr>
        <p:spPr>
          <a:xfrm>
            <a:off x="6210300" y="2800350"/>
            <a:ext cx="1866900" cy="400050"/>
          </a:xfrm>
          <a:prstGeom prst="rect">
            <a:avLst/>
          </a:prstGeom>
        </p:spPr>
        <p:txBody>
          <a:bodyPr wrap="square" lIns="0" tIns="0" rIns="0" bIns="0" anchor="t">
            <a:normAutofit/>
          </a:bodyPr>
          <a:lstStyle/>
          <a:p>
            <a:pPr algn="l">
              <a:defRPr sz="1800" b="1">
                <a:solidFill>
                  <a:srgbClr val="000000"/>
                </a:solidFill>
                <a:latin typeface="Helvetica Neue"/>
                <a:ea typeface="Helvetica Neue"/>
                <a:cs typeface="Helvetica Neue"/>
              </a:defRPr>
            </a:pPr>
            <a:r>
              <a:t>Parity increment</a:t>
            </a:r>
          </a:p>
        </p:txBody>
      </p:sp>
      <p:sp>
        <p:nvSpPr>
          <p:cNvPr id="17" name="text-266">
            <a:extLst>
              <a:ext uri="{FF2B5EF4-FFF2-40B4-BE49-F238E27FC236}">
                <a16:creationId xmlns:a16="http://schemas.microsoft.com/office/drawing/2014/main" id="{6D00F214-B0CE-4017-8230-F096EFB50B07}"/>
              </a:ext>
            </a:extLst>
          </p:cNvPr>
          <p:cNvSpPr>
            <a:spLocks noGrp="1"/>
          </p:cNvSpPr>
          <p:nvPr/>
        </p:nvSpPr>
        <p:spPr>
          <a:xfrm>
            <a:off x="6210300" y="3371850"/>
            <a:ext cx="1866900" cy="857250"/>
          </a:xfrm>
          <a:prstGeom prst="rect">
            <a:avLst/>
          </a:prstGeom>
        </p:spPr>
        <p:txBody>
          <a:bodyPr wrap="square" lIns="0" tIns="0" rIns="0" bIns="0" anchor="t">
            <a:normAutofit/>
          </a:bodyPr>
          <a:lstStyle/>
          <a:p>
            <a:pPr algn="l">
              <a:defRPr sz="1350" b="0">
                <a:solidFill>
                  <a:srgbClr val="5F6368"/>
                </a:solidFill>
                <a:latin typeface="Helvetica Neue"/>
                <a:ea typeface="Helvetica Neue"/>
                <a:cs typeface="Helvetica Neue"/>
              </a:defRPr>
            </a:pPr>
            <a:r>
              <a:t>Canonical facts
Aggregates
Benchmarks + allocator</a:t>
            </a:r>
          </a:p>
        </p:txBody>
      </p:sp>
      <p:sp>
        <p:nvSpPr>
          <p:cNvPr id="18" name="shape-267">
            <a:extLst>
              <a:ext uri="{FF2B5EF4-FFF2-40B4-BE49-F238E27FC236}">
                <a16:creationId xmlns:a16="http://schemas.microsoft.com/office/drawing/2014/main" id="{9753522C-231C-4732-A187-55634C1BD553}"/>
              </a:ext>
            </a:extLst>
          </p:cNvPr>
          <p:cNvSpPr>
            <a:spLocks noGrp="1"/>
          </p:cNvSpPr>
          <p:nvPr/>
        </p:nvSpPr>
        <p:spPr>
          <a:xfrm>
            <a:off x="8667750" y="2038350"/>
            <a:ext cx="2324100" cy="2381250"/>
          </a:xfrm>
          <a:prstGeom prst="rect">
            <a:avLst/>
          </a:prstGeom>
          <a:solidFill>
            <a:srgbClr val="F7F7F7"/>
          </a:solidFill>
          <a:ln w="9525">
            <a:solidFill>
              <a:srgbClr val="F7F7F7"/>
            </a:solidFill>
            <a:prstDash val="solid"/>
          </a:ln>
        </p:spPr>
        <p:txBody>
          <a:bodyPr/>
          <a:lstStyle/>
          <a:p>
            <a:endParaRPr lang="en-DE"/>
          </a:p>
        </p:txBody>
      </p:sp>
      <p:sp>
        <p:nvSpPr>
          <p:cNvPr id="19" name="text-268">
            <a:extLst>
              <a:ext uri="{FF2B5EF4-FFF2-40B4-BE49-F238E27FC236}">
                <a16:creationId xmlns:a16="http://schemas.microsoft.com/office/drawing/2014/main" id="{81EBF21C-34DD-4F49-AE67-34D72C9330C0}"/>
              </a:ext>
            </a:extLst>
          </p:cNvPr>
          <p:cNvSpPr>
            <a:spLocks noGrp="1"/>
          </p:cNvSpPr>
          <p:nvPr/>
        </p:nvSpPr>
        <p:spPr>
          <a:xfrm>
            <a:off x="8896350" y="2247900"/>
            <a:ext cx="419100" cy="419100"/>
          </a:xfrm>
          <a:prstGeom prst="rect">
            <a:avLst/>
          </a:prstGeom>
        </p:spPr>
        <p:txBody>
          <a:bodyPr wrap="square" lIns="0" tIns="0" rIns="0" bIns="0" anchor="t">
            <a:normAutofit/>
          </a:bodyPr>
          <a:lstStyle/>
          <a:p>
            <a:pPr algn="l">
              <a:defRPr sz="2400" b="1">
                <a:solidFill>
                  <a:srgbClr val="3D8DFF"/>
                </a:solidFill>
                <a:latin typeface="Helvetica Neue"/>
                <a:ea typeface="Helvetica Neue"/>
                <a:cs typeface="Helvetica Neue"/>
              </a:defRPr>
            </a:pPr>
            <a:r>
              <a:t>4</a:t>
            </a:r>
          </a:p>
        </p:txBody>
      </p:sp>
      <p:sp>
        <p:nvSpPr>
          <p:cNvPr id="20" name="text-269">
            <a:extLst>
              <a:ext uri="{FF2B5EF4-FFF2-40B4-BE49-F238E27FC236}">
                <a16:creationId xmlns:a16="http://schemas.microsoft.com/office/drawing/2014/main" id="{8A51B667-23D5-4419-9844-2125E4397F64}"/>
              </a:ext>
            </a:extLst>
          </p:cNvPr>
          <p:cNvSpPr>
            <a:spLocks noGrp="1"/>
          </p:cNvSpPr>
          <p:nvPr/>
        </p:nvSpPr>
        <p:spPr>
          <a:xfrm>
            <a:off x="8896350" y="2800350"/>
            <a:ext cx="1866900" cy="400050"/>
          </a:xfrm>
          <a:prstGeom prst="rect">
            <a:avLst/>
          </a:prstGeom>
        </p:spPr>
        <p:txBody>
          <a:bodyPr wrap="square" lIns="0" tIns="0" rIns="0" bIns="0" anchor="t">
            <a:normAutofit/>
          </a:bodyPr>
          <a:lstStyle/>
          <a:p>
            <a:pPr algn="l">
              <a:defRPr sz="1800" b="1">
                <a:solidFill>
                  <a:srgbClr val="000000"/>
                </a:solidFill>
                <a:latin typeface="Helvetica Neue"/>
                <a:ea typeface="Helvetica Neue"/>
                <a:cs typeface="Helvetica Neue"/>
              </a:defRPr>
            </a:pPr>
            <a:r>
              <a:t>Agent adapters</a:t>
            </a:r>
          </a:p>
        </p:txBody>
      </p:sp>
      <p:sp>
        <p:nvSpPr>
          <p:cNvPr id="21" name="text-270">
            <a:extLst>
              <a:ext uri="{FF2B5EF4-FFF2-40B4-BE49-F238E27FC236}">
                <a16:creationId xmlns:a16="http://schemas.microsoft.com/office/drawing/2014/main" id="{6E74EC41-2688-4D8D-BF9D-A344247FBDF7}"/>
              </a:ext>
            </a:extLst>
          </p:cNvPr>
          <p:cNvSpPr>
            <a:spLocks noGrp="1"/>
          </p:cNvSpPr>
          <p:nvPr/>
        </p:nvSpPr>
        <p:spPr>
          <a:xfrm>
            <a:off x="8896350" y="3371850"/>
            <a:ext cx="1866900" cy="857250"/>
          </a:xfrm>
          <a:prstGeom prst="rect">
            <a:avLst/>
          </a:prstGeom>
        </p:spPr>
        <p:txBody>
          <a:bodyPr wrap="square" lIns="0" tIns="0" rIns="0" bIns="0" anchor="t">
            <a:normAutofit/>
          </a:bodyPr>
          <a:lstStyle/>
          <a:p>
            <a:pPr algn="l">
              <a:defRPr sz="1350" b="0">
                <a:solidFill>
                  <a:srgbClr val="5F6368"/>
                </a:solidFill>
                <a:latin typeface="Helvetica Neue"/>
                <a:ea typeface="Helvetica Neue"/>
                <a:cs typeface="Helvetica Neue"/>
              </a:defRPr>
            </a:pPr>
            <a:r>
              <a:t>Tools over evidence
Same ports
Same validated outputs</a:t>
            </a:r>
          </a:p>
        </p:txBody>
      </p:sp>
      <p:sp>
        <p:nvSpPr>
          <p:cNvPr id="22" name="text-271">
            <a:extLst>
              <a:ext uri="{FF2B5EF4-FFF2-40B4-BE49-F238E27FC236}">
                <a16:creationId xmlns:a16="http://schemas.microsoft.com/office/drawing/2014/main" id="{E0CF4469-34E4-4D0B-95A9-D5FA88B95DF5}"/>
              </a:ext>
            </a:extLst>
          </p:cNvPr>
          <p:cNvSpPr>
            <a:spLocks noGrp="1"/>
          </p:cNvSpPr>
          <p:nvPr/>
        </p:nvSpPr>
        <p:spPr>
          <a:xfrm>
            <a:off x="1428750" y="5372100"/>
            <a:ext cx="9334500" cy="514350"/>
          </a:xfrm>
          <a:prstGeom prst="rect">
            <a:avLst/>
          </a:prstGeom>
        </p:spPr>
        <p:txBody>
          <a:bodyPr wrap="square" lIns="0" tIns="0" rIns="0" bIns="0" anchor="t">
            <a:normAutofit fontScale="95074"/>
          </a:bodyPr>
          <a:lstStyle/>
          <a:p>
            <a:pPr algn="ctr">
              <a:defRPr sz="1875" b="1">
                <a:solidFill>
                  <a:srgbClr val="3D8DFF"/>
                </a:solidFill>
                <a:latin typeface="Helvetica Neue"/>
                <a:ea typeface="Helvetica Neue"/>
                <a:cs typeface="Helvetica Neue"/>
              </a:defRPr>
            </a:pPr>
            <a:r>
              <a:t>The existing application remains the reference until v2 proves data and decision parity.</a:t>
            </a:r>
          </a:p>
        </p:txBody>
      </p:sp>
    </p:spTree>
    <p:extLst>
      <p:ext uri="{BB962C8B-B14F-4D97-AF65-F5344CB8AC3E}">
        <p14:creationId xmlns:p14="http://schemas.microsoft.com/office/powerpoint/2010/main" val="1467809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lide-18-title">
            <a:extLst>
              <a:ext uri="{FF2B5EF4-FFF2-40B4-BE49-F238E27FC236}">
                <a16:creationId xmlns:a16="http://schemas.microsoft.com/office/drawing/2014/main" id="{B1B440FC-B437-4EEF-902C-32B011C1ED2C}"/>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src_2 separates policy from execution</a:t>
            </a:r>
          </a:p>
        </p:txBody>
      </p:sp>
      <p:cxnSp>
        <p:nvCxnSpPr>
          <p:cNvPr id="31" name="line-302"/>
          <p:cNvCxnSpPr/>
          <p:nvPr/>
        </p:nvCxnSpPr>
        <p:spPr>
          <a:xfrm>
            <a:off x="495300" y="1057275"/>
            <a:ext cx="11296650" cy="9525"/>
          </a:xfrm>
          <a:prstGeom prst="straightConnector1">
            <a:avLst/>
          </a:prstGeom>
          <a:ln w="9525">
            <a:solidFill>
              <a:srgbClr val="B8BCC4"/>
            </a:solidFill>
            <a:prstDash val="solid"/>
          </a:ln>
        </p:spPr>
      </p:cxnSp>
      <p:sp>
        <p:nvSpPr>
          <p:cNvPr id="3" name="slide-18-source">
            <a:extLst>
              <a:ext uri="{FF2B5EF4-FFF2-40B4-BE49-F238E27FC236}">
                <a16:creationId xmlns:a16="http://schemas.microsoft.com/office/drawing/2014/main" id="{0F7A52A8-DF67-4952-89CC-06CBAAACCE55}"/>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src_2/README.md and package structure</a:t>
            </a:r>
          </a:p>
        </p:txBody>
      </p:sp>
      <p:sp>
        <p:nvSpPr>
          <p:cNvPr id="4" name="slide-18-number">
            <a:extLst>
              <a:ext uri="{FF2B5EF4-FFF2-40B4-BE49-F238E27FC236}">
                <a16:creationId xmlns:a16="http://schemas.microsoft.com/office/drawing/2014/main" id="{5CA02A7A-8A80-4EAC-8921-194AF6155F90}"/>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18</a:t>
            </a:r>
          </a:p>
        </p:txBody>
      </p:sp>
      <p:sp>
        <p:nvSpPr>
          <p:cNvPr id="5" name="shape-276">
            <a:extLst>
              <a:ext uri="{FF2B5EF4-FFF2-40B4-BE49-F238E27FC236}">
                <a16:creationId xmlns:a16="http://schemas.microsoft.com/office/drawing/2014/main" id="{06727F9E-21B3-4F3F-86DA-BA57FAC21742}"/>
              </a:ext>
            </a:extLst>
          </p:cNvPr>
          <p:cNvSpPr>
            <a:spLocks noGrp="1"/>
          </p:cNvSpPr>
          <p:nvPr/>
        </p:nvSpPr>
        <p:spPr>
          <a:xfrm>
            <a:off x="390525" y="1600200"/>
            <a:ext cx="2581275" cy="1809750"/>
          </a:xfrm>
          <a:prstGeom prst="rect">
            <a:avLst/>
          </a:prstGeom>
          <a:solidFill>
            <a:srgbClr val="000000"/>
          </a:solidFill>
          <a:ln w="9525">
            <a:solidFill>
              <a:srgbClr val="000000"/>
            </a:solidFill>
            <a:prstDash val="solid"/>
          </a:ln>
        </p:spPr>
        <p:txBody>
          <a:bodyPr/>
          <a:lstStyle/>
          <a:p>
            <a:endParaRPr lang="en-DE"/>
          </a:p>
        </p:txBody>
      </p:sp>
      <p:sp>
        <p:nvSpPr>
          <p:cNvPr id="6" name="text-277">
            <a:extLst>
              <a:ext uri="{FF2B5EF4-FFF2-40B4-BE49-F238E27FC236}">
                <a16:creationId xmlns:a16="http://schemas.microsoft.com/office/drawing/2014/main" id="{43024445-FCB3-4F0F-A6CF-7E1902B0217A}"/>
              </a:ext>
            </a:extLst>
          </p:cNvPr>
          <p:cNvSpPr>
            <a:spLocks noGrp="1"/>
          </p:cNvSpPr>
          <p:nvPr/>
        </p:nvSpPr>
        <p:spPr>
          <a:xfrm>
            <a:off x="600075" y="1847850"/>
            <a:ext cx="2162175" cy="323850"/>
          </a:xfrm>
          <a:prstGeom prst="rect">
            <a:avLst/>
          </a:prstGeom>
        </p:spPr>
        <p:txBody>
          <a:bodyPr wrap="square" lIns="0" tIns="0" rIns="0" bIns="0" anchor="t">
            <a:normAutofit/>
          </a:bodyPr>
          <a:lstStyle/>
          <a:p>
            <a:pPr algn="l">
              <a:defRPr sz="1500" b="1">
                <a:solidFill>
                  <a:srgbClr val="FFFFFF"/>
                </a:solidFill>
                <a:latin typeface="Helvetica Neue"/>
                <a:ea typeface="Helvetica Neue"/>
                <a:cs typeface="Helvetica Neue"/>
              </a:defRPr>
            </a:pPr>
            <a:r>
              <a:t>DOMAIN</a:t>
            </a:r>
          </a:p>
        </p:txBody>
      </p:sp>
      <p:sp>
        <p:nvSpPr>
          <p:cNvPr id="7" name="text-278">
            <a:extLst>
              <a:ext uri="{FF2B5EF4-FFF2-40B4-BE49-F238E27FC236}">
                <a16:creationId xmlns:a16="http://schemas.microsoft.com/office/drawing/2014/main" id="{269F48F5-51A6-4869-9FD9-F1E1CFE00D2A}"/>
              </a:ext>
            </a:extLst>
          </p:cNvPr>
          <p:cNvSpPr>
            <a:spLocks noGrp="1"/>
          </p:cNvSpPr>
          <p:nvPr/>
        </p:nvSpPr>
        <p:spPr>
          <a:xfrm>
            <a:off x="600075" y="2343150"/>
            <a:ext cx="2162175" cy="800100"/>
          </a:xfrm>
          <a:prstGeom prst="rect">
            <a:avLst/>
          </a:prstGeom>
        </p:spPr>
        <p:txBody>
          <a:bodyPr wrap="square" lIns="0" tIns="0" rIns="0" bIns="0" anchor="t">
            <a:normAutofit/>
          </a:bodyPr>
          <a:lstStyle/>
          <a:p>
            <a:pPr algn="l">
              <a:defRPr sz="1350" b="0">
                <a:solidFill>
                  <a:srgbClr val="FFFFFF"/>
                </a:solidFill>
                <a:latin typeface="Helvetica Neue"/>
                <a:ea typeface="Helvetica Neue"/>
                <a:cs typeface="Helvetica Neue"/>
              </a:defRPr>
            </a:pPr>
            <a:r>
              <a:t>Vocabulary, formulas, assessment and budget rules</a:t>
            </a:r>
          </a:p>
        </p:txBody>
      </p:sp>
      <p:sp>
        <p:nvSpPr>
          <p:cNvPr id="8" name="shape-279">
            <a:extLst>
              <a:ext uri="{FF2B5EF4-FFF2-40B4-BE49-F238E27FC236}">
                <a16:creationId xmlns:a16="http://schemas.microsoft.com/office/drawing/2014/main" id="{7DE06DC0-92CD-44D5-8959-E59E3F54A7E6}"/>
              </a:ext>
            </a:extLst>
          </p:cNvPr>
          <p:cNvSpPr>
            <a:spLocks noGrp="1"/>
          </p:cNvSpPr>
          <p:nvPr/>
        </p:nvSpPr>
        <p:spPr>
          <a:xfrm>
            <a:off x="3333750" y="1600200"/>
            <a:ext cx="2581275" cy="1809750"/>
          </a:xfrm>
          <a:prstGeom prst="rect">
            <a:avLst/>
          </a:prstGeom>
          <a:solidFill>
            <a:srgbClr val="D0EDFA"/>
          </a:solidFill>
          <a:ln w="9525">
            <a:solidFill>
              <a:srgbClr val="D0EDFA"/>
            </a:solidFill>
            <a:prstDash val="solid"/>
          </a:ln>
        </p:spPr>
        <p:txBody>
          <a:bodyPr/>
          <a:lstStyle/>
          <a:p>
            <a:endParaRPr lang="en-DE"/>
          </a:p>
        </p:txBody>
      </p:sp>
      <p:sp>
        <p:nvSpPr>
          <p:cNvPr id="9" name="text-280">
            <a:extLst>
              <a:ext uri="{FF2B5EF4-FFF2-40B4-BE49-F238E27FC236}">
                <a16:creationId xmlns:a16="http://schemas.microsoft.com/office/drawing/2014/main" id="{1D9549E4-F8E6-4225-A2EB-659BBEAC9CF0}"/>
              </a:ext>
            </a:extLst>
          </p:cNvPr>
          <p:cNvSpPr>
            <a:spLocks noGrp="1"/>
          </p:cNvSpPr>
          <p:nvPr/>
        </p:nvSpPr>
        <p:spPr>
          <a:xfrm>
            <a:off x="3543300" y="1847850"/>
            <a:ext cx="2162175" cy="32385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INGESTION</a:t>
            </a:r>
          </a:p>
        </p:txBody>
      </p:sp>
      <p:sp>
        <p:nvSpPr>
          <p:cNvPr id="10" name="text-281">
            <a:extLst>
              <a:ext uri="{FF2B5EF4-FFF2-40B4-BE49-F238E27FC236}">
                <a16:creationId xmlns:a16="http://schemas.microsoft.com/office/drawing/2014/main" id="{64F576DC-0BAB-4D9D-8DEA-BDA540728B8D}"/>
              </a:ext>
            </a:extLst>
          </p:cNvPr>
          <p:cNvSpPr>
            <a:spLocks noGrp="1"/>
          </p:cNvSpPr>
          <p:nvPr/>
        </p:nvSpPr>
        <p:spPr>
          <a:xfrm>
            <a:off x="3543300" y="2343150"/>
            <a:ext cx="2162175" cy="800100"/>
          </a:xfrm>
          <a:prstGeom prst="rect">
            <a:avLst/>
          </a:prstGeom>
        </p:spPr>
        <p:txBody>
          <a:bodyPr wrap="square" lIns="0" tIns="0" rIns="0" bIns="0" anchor="t">
            <a:normAutofit/>
          </a:bodyPr>
          <a:lstStyle/>
          <a:p>
            <a:pPr algn="l">
              <a:defRPr sz="1350" b="0">
                <a:solidFill>
                  <a:srgbClr val="000000"/>
                </a:solidFill>
                <a:latin typeface="Helvetica Neue"/>
                <a:ea typeface="Helvetica Neue"/>
                <a:cs typeface="Helvetica Neue"/>
              </a:defRPr>
            </a:pPr>
            <a:r>
              <a:t>Load raw JSON, validate sources, build canonical facts</a:t>
            </a:r>
          </a:p>
        </p:txBody>
      </p:sp>
      <p:sp>
        <p:nvSpPr>
          <p:cNvPr id="11" name="shape-282">
            <a:extLst>
              <a:ext uri="{FF2B5EF4-FFF2-40B4-BE49-F238E27FC236}">
                <a16:creationId xmlns:a16="http://schemas.microsoft.com/office/drawing/2014/main" id="{DC0791E2-0C8C-4659-81AE-0A2FF2E286EC}"/>
              </a:ext>
            </a:extLst>
          </p:cNvPr>
          <p:cNvSpPr>
            <a:spLocks noGrp="1"/>
          </p:cNvSpPr>
          <p:nvPr/>
        </p:nvSpPr>
        <p:spPr>
          <a:xfrm>
            <a:off x="6276975" y="1600200"/>
            <a:ext cx="2581275" cy="1809750"/>
          </a:xfrm>
          <a:prstGeom prst="rect">
            <a:avLst/>
          </a:prstGeom>
          <a:solidFill>
            <a:srgbClr val="6DCBF4"/>
          </a:solidFill>
          <a:ln w="9525">
            <a:solidFill>
              <a:srgbClr val="6DCBF4"/>
            </a:solidFill>
            <a:prstDash val="solid"/>
          </a:ln>
        </p:spPr>
        <p:txBody>
          <a:bodyPr/>
          <a:lstStyle/>
          <a:p>
            <a:endParaRPr lang="en-DE"/>
          </a:p>
        </p:txBody>
      </p:sp>
      <p:sp>
        <p:nvSpPr>
          <p:cNvPr id="12" name="text-283">
            <a:extLst>
              <a:ext uri="{FF2B5EF4-FFF2-40B4-BE49-F238E27FC236}">
                <a16:creationId xmlns:a16="http://schemas.microsoft.com/office/drawing/2014/main" id="{D657E343-CB06-423A-A1C8-433E15D1888F}"/>
              </a:ext>
            </a:extLst>
          </p:cNvPr>
          <p:cNvSpPr>
            <a:spLocks noGrp="1"/>
          </p:cNvSpPr>
          <p:nvPr/>
        </p:nvSpPr>
        <p:spPr>
          <a:xfrm>
            <a:off x="6486525" y="1847850"/>
            <a:ext cx="2162175" cy="32385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ANALYTICS</a:t>
            </a:r>
          </a:p>
        </p:txBody>
      </p:sp>
      <p:sp>
        <p:nvSpPr>
          <p:cNvPr id="13" name="text-284">
            <a:extLst>
              <a:ext uri="{FF2B5EF4-FFF2-40B4-BE49-F238E27FC236}">
                <a16:creationId xmlns:a16="http://schemas.microsoft.com/office/drawing/2014/main" id="{44D29250-E6B9-4CE8-AC6F-C96231D7DE0B}"/>
              </a:ext>
            </a:extLst>
          </p:cNvPr>
          <p:cNvSpPr>
            <a:spLocks noGrp="1"/>
          </p:cNvSpPr>
          <p:nvPr/>
        </p:nvSpPr>
        <p:spPr>
          <a:xfrm>
            <a:off x="6486525" y="2343150"/>
            <a:ext cx="2162175" cy="800100"/>
          </a:xfrm>
          <a:prstGeom prst="rect">
            <a:avLst/>
          </a:prstGeom>
        </p:spPr>
        <p:txBody>
          <a:bodyPr wrap="square" lIns="0" tIns="0" rIns="0" bIns="0" anchor="t">
            <a:normAutofit/>
          </a:bodyPr>
          <a:lstStyle/>
          <a:p>
            <a:pPr algn="l">
              <a:defRPr sz="1350" b="0">
                <a:solidFill>
                  <a:srgbClr val="000000"/>
                </a:solidFill>
                <a:latin typeface="Helvetica Neue"/>
                <a:ea typeface="Helvetica Neue"/>
                <a:cs typeface="Helvetica Neue"/>
              </a:defRPr>
            </a:pPr>
            <a:r>
              <a:t>Aggregate, benchmark, assess, allocate</a:t>
            </a:r>
          </a:p>
        </p:txBody>
      </p:sp>
      <p:sp>
        <p:nvSpPr>
          <p:cNvPr id="14" name="shape-285">
            <a:extLst>
              <a:ext uri="{FF2B5EF4-FFF2-40B4-BE49-F238E27FC236}">
                <a16:creationId xmlns:a16="http://schemas.microsoft.com/office/drawing/2014/main" id="{E3DF40A6-502F-4047-8DFC-3742542EB98A}"/>
              </a:ext>
            </a:extLst>
          </p:cNvPr>
          <p:cNvSpPr>
            <a:spLocks noGrp="1"/>
          </p:cNvSpPr>
          <p:nvPr/>
        </p:nvSpPr>
        <p:spPr>
          <a:xfrm>
            <a:off x="9220200" y="1600200"/>
            <a:ext cx="2581275" cy="1809750"/>
          </a:xfrm>
          <a:prstGeom prst="rect">
            <a:avLst/>
          </a:prstGeom>
          <a:solidFill>
            <a:srgbClr val="F7F7F7"/>
          </a:solidFill>
          <a:ln w="9525">
            <a:solidFill>
              <a:srgbClr val="F7F7F7"/>
            </a:solidFill>
            <a:prstDash val="solid"/>
          </a:ln>
        </p:spPr>
        <p:txBody>
          <a:bodyPr/>
          <a:lstStyle/>
          <a:p>
            <a:endParaRPr lang="en-DE"/>
          </a:p>
        </p:txBody>
      </p:sp>
      <p:sp>
        <p:nvSpPr>
          <p:cNvPr id="15" name="text-286">
            <a:extLst>
              <a:ext uri="{FF2B5EF4-FFF2-40B4-BE49-F238E27FC236}">
                <a16:creationId xmlns:a16="http://schemas.microsoft.com/office/drawing/2014/main" id="{090CA718-1F3C-49B2-A9DA-2DD2ED6BB28E}"/>
              </a:ext>
            </a:extLst>
          </p:cNvPr>
          <p:cNvSpPr>
            <a:spLocks noGrp="1"/>
          </p:cNvSpPr>
          <p:nvPr/>
        </p:nvSpPr>
        <p:spPr>
          <a:xfrm>
            <a:off x="9429750" y="1847850"/>
            <a:ext cx="2162175" cy="32385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APPLICATION</a:t>
            </a:r>
          </a:p>
        </p:txBody>
      </p:sp>
      <p:sp>
        <p:nvSpPr>
          <p:cNvPr id="16" name="text-287">
            <a:extLst>
              <a:ext uri="{FF2B5EF4-FFF2-40B4-BE49-F238E27FC236}">
                <a16:creationId xmlns:a16="http://schemas.microsoft.com/office/drawing/2014/main" id="{12F50E4A-3930-491E-8055-394F3461C3F5}"/>
              </a:ext>
            </a:extLst>
          </p:cNvPr>
          <p:cNvSpPr>
            <a:spLocks noGrp="1"/>
          </p:cNvSpPr>
          <p:nvPr/>
        </p:nvSpPr>
        <p:spPr>
          <a:xfrm>
            <a:off x="9429750" y="2343150"/>
            <a:ext cx="2162175" cy="800100"/>
          </a:xfrm>
          <a:prstGeom prst="rect">
            <a:avLst/>
          </a:prstGeom>
        </p:spPr>
        <p:txBody>
          <a:bodyPr wrap="square" lIns="0" tIns="0" rIns="0" bIns="0" anchor="t">
            <a:normAutofit/>
          </a:bodyPr>
          <a:lstStyle/>
          <a:p>
            <a:pPr algn="l">
              <a:defRPr sz="1350" b="0">
                <a:solidFill>
                  <a:srgbClr val="000000"/>
                </a:solidFill>
                <a:latin typeface="Helvetica Neue"/>
                <a:ea typeface="Helvetica Neue"/>
                <a:cs typeface="Helvetica Neue"/>
              </a:defRPr>
            </a:pPr>
            <a:r>
              <a:t>Coordinate one completed-cycle use case</a:t>
            </a:r>
          </a:p>
        </p:txBody>
      </p:sp>
      <p:sp>
        <p:nvSpPr>
          <p:cNvPr id="17" name="shape-288">
            <a:extLst>
              <a:ext uri="{FF2B5EF4-FFF2-40B4-BE49-F238E27FC236}">
                <a16:creationId xmlns:a16="http://schemas.microsoft.com/office/drawing/2014/main" id="{BD54E99B-FB50-49A6-B995-38CAFA98A9BC}"/>
              </a:ext>
            </a:extLst>
          </p:cNvPr>
          <p:cNvSpPr>
            <a:spLocks noGrp="1"/>
          </p:cNvSpPr>
          <p:nvPr/>
        </p:nvSpPr>
        <p:spPr>
          <a:xfrm>
            <a:off x="390525" y="3905250"/>
            <a:ext cx="2581275" cy="1809750"/>
          </a:xfrm>
          <a:prstGeom prst="rect">
            <a:avLst/>
          </a:prstGeom>
          <a:solidFill>
            <a:srgbClr val="F7F7F7"/>
          </a:solidFill>
          <a:ln w="9525">
            <a:solidFill>
              <a:srgbClr val="F7F7F7"/>
            </a:solidFill>
            <a:prstDash val="solid"/>
          </a:ln>
        </p:spPr>
        <p:txBody>
          <a:bodyPr/>
          <a:lstStyle/>
          <a:p>
            <a:endParaRPr lang="en-DE"/>
          </a:p>
        </p:txBody>
      </p:sp>
      <p:sp>
        <p:nvSpPr>
          <p:cNvPr id="18" name="text-289">
            <a:extLst>
              <a:ext uri="{FF2B5EF4-FFF2-40B4-BE49-F238E27FC236}">
                <a16:creationId xmlns:a16="http://schemas.microsoft.com/office/drawing/2014/main" id="{A36475FC-B54A-476A-97B4-E3D8388EB574}"/>
              </a:ext>
            </a:extLst>
          </p:cNvPr>
          <p:cNvSpPr>
            <a:spLocks noGrp="1"/>
          </p:cNvSpPr>
          <p:nvPr/>
        </p:nvSpPr>
        <p:spPr>
          <a:xfrm>
            <a:off x="600075" y="4152900"/>
            <a:ext cx="2162175" cy="32385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CONTRACTS</a:t>
            </a:r>
          </a:p>
        </p:txBody>
      </p:sp>
      <p:sp>
        <p:nvSpPr>
          <p:cNvPr id="19" name="text-290">
            <a:extLst>
              <a:ext uri="{FF2B5EF4-FFF2-40B4-BE49-F238E27FC236}">
                <a16:creationId xmlns:a16="http://schemas.microsoft.com/office/drawing/2014/main" id="{93D9E114-43D5-42A8-9BB9-920855EC1D27}"/>
              </a:ext>
            </a:extLst>
          </p:cNvPr>
          <p:cNvSpPr>
            <a:spLocks noGrp="1"/>
          </p:cNvSpPr>
          <p:nvPr/>
        </p:nvSpPr>
        <p:spPr>
          <a:xfrm>
            <a:off x="600075" y="4648200"/>
            <a:ext cx="2162175" cy="800100"/>
          </a:xfrm>
          <a:prstGeom prst="rect">
            <a:avLst/>
          </a:prstGeom>
        </p:spPr>
        <p:txBody>
          <a:bodyPr wrap="square" lIns="0" tIns="0" rIns="0" bIns="0" anchor="t">
            <a:normAutofit/>
          </a:bodyPr>
          <a:lstStyle/>
          <a:p>
            <a:pPr algn="l">
              <a:defRPr sz="1350" b="0">
                <a:solidFill>
                  <a:srgbClr val="000000"/>
                </a:solidFill>
                <a:latin typeface="Helvetica Neue"/>
                <a:ea typeface="Helvetica Neue"/>
                <a:cs typeface="Helvetica Neue"/>
              </a:defRPr>
            </a:pPr>
            <a:r>
              <a:t>Pydantic boundaries for evidence and outputs</a:t>
            </a:r>
          </a:p>
        </p:txBody>
      </p:sp>
      <p:sp>
        <p:nvSpPr>
          <p:cNvPr id="20" name="shape-291">
            <a:extLst>
              <a:ext uri="{FF2B5EF4-FFF2-40B4-BE49-F238E27FC236}">
                <a16:creationId xmlns:a16="http://schemas.microsoft.com/office/drawing/2014/main" id="{29625C8B-EEFF-4987-9153-FC8A31AC8AC8}"/>
              </a:ext>
            </a:extLst>
          </p:cNvPr>
          <p:cNvSpPr>
            <a:spLocks noGrp="1"/>
          </p:cNvSpPr>
          <p:nvPr/>
        </p:nvSpPr>
        <p:spPr>
          <a:xfrm>
            <a:off x="3333750" y="3905250"/>
            <a:ext cx="2581275" cy="1809750"/>
          </a:xfrm>
          <a:prstGeom prst="rect">
            <a:avLst/>
          </a:prstGeom>
          <a:solidFill>
            <a:srgbClr val="D0EDFA"/>
          </a:solidFill>
          <a:ln w="9525">
            <a:solidFill>
              <a:srgbClr val="D0EDFA"/>
            </a:solidFill>
            <a:prstDash val="solid"/>
          </a:ln>
        </p:spPr>
        <p:txBody>
          <a:bodyPr/>
          <a:lstStyle/>
          <a:p>
            <a:endParaRPr lang="en-DE"/>
          </a:p>
        </p:txBody>
      </p:sp>
      <p:sp>
        <p:nvSpPr>
          <p:cNvPr id="21" name="text-292">
            <a:extLst>
              <a:ext uri="{FF2B5EF4-FFF2-40B4-BE49-F238E27FC236}">
                <a16:creationId xmlns:a16="http://schemas.microsoft.com/office/drawing/2014/main" id="{06B5F95A-653F-406C-88D6-0346132B7E6F}"/>
              </a:ext>
            </a:extLst>
          </p:cNvPr>
          <p:cNvSpPr>
            <a:spLocks noGrp="1"/>
          </p:cNvSpPr>
          <p:nvPr/>
        </p:nvSpPr>
        <p:spPr>
          <a:xfrm>
            <a:off x="3543300" y="4152900"/>
            <a:ext cx="2162175" cy="32385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INTELLIGENCE</a:t>
            </a:r>
          </a:p>
        </p:txBody>
      </p:sp>
      <p:sp>
        <p:nvSpPr>
          <p:cNvPr id="22" name="text-293">
            <a:extLst>
              <a:ext uri="{FF2B5EF4-FFF2-40B4-BE49-F238E27FC236}">
                <a16:creationId xmlns:a16="http://schemas.microsoft.com/office/drawing/2014/main" id="{14993AD5-1F67-4A98-852C-4084A57313B5}"/>
              </a:ext>
            </a:extLst>
          </p:cNvPr>
          <p:cNvSpPr>
            <a:spLocks noGrp="1"/>
          </p:cNvSpPr>
          <p:nvPr/>
        </p:nvSpPr>
        <p:spPr>
          <a:xfrm>
            <a:off x="3543300" y="4648200"/>
            <a:ext cx="2162175" cy="800100"/>
          </a:xfrm>
          <a:prstGeom prst="rect">
            <a:avLst/>
          </a:prstGeom>
        </p:spPr>
        <p:txBody>
          <a:bodyPr wrap="square" lIns="0" tIns="0" rIns="0" bIns="0" anchor="t">
            <a:normAutofit/>
          </a:bodyPr>
          <a:lstStyle/>
          <a:p>
            <a:pPr algn="l">
              <a:defRPr sz="1350" b="0">
                <a:solidFill>
                  <a:srgbClr val="000000"/>
                </a:solidFill>
                <a:latin typeface="Helvetica Neue"/>
                <a:ea typeface="Helvetica Neue"/>
                <a:cs typeface="Helvetica Neue"/>
              </a:defRPr>
            </a:pPr>
            <a:r>
              <a:t>Prompt adapters now; agents later</a:t>
            </a:r>
          </a:p>
        </p:txBody>
      </p:sp>
      <p:sp>
        <p:nvSpPr>
          <p:cNvPr id="23" name="shape-294">
            <a:extLst>
              <a:ext uri="{FF2B5EF4-FFF2-40B4-BE49-F238E27FC236}">
                <a16:creationId xmlns:a16="http://schemas.microsoft.com/office/drawing/2014/main" id="{1B34A9C0-48E4-4161-9AF7-0E1844AE4C88}"/>
              </a:ext>
            </a:extLst>
          </p:cNvPr>
          <p:cNvSpPr>
            <a:spLocks noGrp="1"/>
          </p:cNvSpPr>
          <p:nvPr/>
        </p:nvSpPr>
        <p:spPr>
          <a:xfrm>
            <a:off x="6276975" y="3905250"/>
            <a:ext cx="2581275" cy="1809750"/>
          </a:xfrm>
          <a:prstGeom prst="rect">
            <a:avLst/>
          </a:prstGeom>
          <a:solidFill>
            <a:srgbClr val="EDEDED"/>
          </a:solidFill>
          <a:ln w="9525">
            <a:solidFill>
              <a:srgbClr val="EDEDED"/>
            </a:solidFill>
            <a:prstDash val="solid"/>
          </a:ln>
        </p:spPr>
        <p:txBody>
          <a:bodyPr/>
          <a:lstStyle/>
          <a:p>
            <a:endParaRPr lang="en-DE"/>
          </a:p>
        </p:txBody>
      </p:sp>
      <p:sp>
        <p:nvSpPr>
          <p:cNvPr id="24" name="text-295">
            <a:extLst>
              <a:ext uri="{FF2B5EF4-FFF2-40B4-BE49-F238E27FC236}">
                <a16:creationId xmlns:a16="http://schemas.microsoft.com/office/drawing/2014/main" id="{17247E5A-3143-475A-8243-5AAFA2B632CC}"/>
              </a:ext>
            </a:extLst>
          </p:cNvPr>
          <p:cNvSpPr>
            <a:spLocks noGrp="1"/>
          </p:cNvSpPr>
          <p:nvPr/>
        </p:nvSpPr>
        <p:spPr>
          <a:xfrm>
            <a:off x="6486525" y="4152900"/>
            <a:ext cx="2162175" cy="32385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INFRASTRUCTURE</a:t>
            </a:r>
          </a:p>
        </p:txBody>
      </p:sp>
      <p:sp>
        <p:nvSpPr>
          <p:cNvPr id="25" name="text-296">
            <a:extLst>
              <a:ext uri="{FF2B5EF4-FFF2-40B4-BE49-F238E27FC236}">
                <a16:creationId xmlns:a16="http://schemas.microsoft.com/office/drawing/2014/main" id="{38003929-46D3-4DD8-BFB3-7E46C0D7772E}"/>
              </a:ext>
            </a:extLst>
          </p:cNvPr>
          <p:cNvSpPr>
            <a:spLocks noGrp="1"/>
          </p:cNvSpPr>
          <p:nvPr/>
        </p:nvSpPr>
        <p:spPr>
          <a:xfrm>
            <a:off x="6486525" y="4648200"/>
            <a:ext cx="2162175" cy="800100"/>
          </a:xfrm>
          <a:prstGeom prst="rect">
            <a:avLst/>
          </a:prstGeom>
        </p:spPr>
        <p:txBody>
          <a:bodyPr wrap="square" lIns="0" tIns="0" rIns="0" bIns="0" anchor="t">
            <a:normAutofit/>
          </a:bodyPr>
          <a:lstStyle/>
          <a:p>
            <a:pPr algn="l">
              <a:defRPr sz="1350" b="0">
                <a:solidFill>
                  <a:srgbClr val="000000"/>
                </a:solidFill>
                <a:latin typeface="Helvetica Neue"/>
                <a:ea typeface="Helvetica Neue"/>
                <a:cs typeface="Helvetica Neue"/>
              </a:defRPr>
            </a:pPr>
            <a:r>
              <a:t>YAML, repositories, LLM clients, artifact store</a:t>
            </a:r>
          </a:p>
        </p:txBody>
      </p:sp>
      <p:sp>
        <p:nvSpPr>
          <p:cNvPr id="26" name="shape-297">
            <a:extLst>
              <a:ext uri="{FF2B5EF4-FFF2-40B4-BE49-F238E27FC236}">
                <a16:creationId xmlns:a16="http://schemas.microsoft.com/office/drawing/2014/main" id="{1817A2E1-DEB3-4DFF-9296-26BADAB2373C}"/>
              </a:ext>
            </a:extLst>
          </p:cNvPr>
          <p:cNvSpPr>
            <a:spLocks noGrp="1"/>
          </p:cNvSpPr>
          <p:nvPr/>
        </p:nvSpPr>
        <p:spPr>
          <a:xfrm>
            <a:off x="9220200" y="3905250"/>
            <a:ext cx="2581275" cy="1809750"/>
          </a:xfrm>
          <a:prstGeom prst="rect">
            <a:avLst/>
          </a:prstGeom>
          <a:solidFill>
            <a:srgbClr val="F7F7F7"/>
          </a:solidFill>
          <a:ln w="9525">
            <a:solidFill>
              <a:srgbClr val="F7F7F7"/>
            </a:solidFill>
            <a:prstDash val="solid"/>
          </a:ln>
        </p:spPr>
        <p:txBody>
          <a:bodyPr/>
          <a:lstStyle/>
          <a:p>
            <a:endParaRPr lang="en-DE"/>
          </a:p>
        </p:txBody>
      </p:sp>
      <p:sp>
        <p:nvSpPr>
          <p:cNvPr id="27" name="text-298">
            <a:extLst>
              <a:ext uri="{FF2B5EF4-FFF2-40B4-BE49-F238E27FC236}">
                <a16:creationId xmlns:a16="http://schemas.microsoft.com/office/drawing/2014/main" id="{D532705F-5DAE-48BB-9A1B-A3286FC3966D}"/>
              </a:ext>
            </a:extLst>
          </p:cNvPr>
          <p:cNvSpPr>
            <a:spLocks noGrp="1"/>
          </p:cNvSpPr>
          <p:nvPr/>
        </p:nvSpPr>
        <p:spPr>
          <a:xfrm>
            <a:off x="9429750" y="4152900"/>
            <a:ext cx="2162175" cy="323850"/>
          </a:xfrm>
          <a:prstGeom prst="rect">
            <a:avLst/>
          </a:prstGeom>
        </p:spPr>
        <p:txBody>
          <a:bodyPr wrap="square" lIns="0" tIns="0" rIns="0" bIns="0" anchor="t">
            <a:normAutofit/>
          </a:bodyPr>
          <a:lstStyle/>
          <a:p>
            <a:pPr algn="l">
              <a:defRPr sz="1500" b="1">
                <a:solidFill>
                  <a:srgbClr val="000000"/>
                </a:solidFill>
                <a:latin typeface="Helvetica Neue"/>
                <a:ea typeface="Helvetica Neue"/>
                <a:cs typeface="Helvetica Neue"/>
              </a:defRPr>
            </a:pPr>
            <a:r>
              <a:t>PRESENTATION</a:t>
            </a:r>
          </a:p>
        </p:txBody>
      </p:sp>
      <p:sp>
        <p:nvSpPr>
          <p:cNvPr id="28" name="text-299">
            <a:extLst>
              <a:ext uri="{FF2B5EF4-FFF2-40B4-BE49-F238E27FC236}">
                <a16:creationId xmlns:a16="http://schemas.microsoft.com/office/drawing/2014/main" id="{ADC24542-E21E-4D8A-AB1E-9AC7DDBFF722}"/>
              </a:ext>
            </a:extLst>
          </p:cNvPr>
          <p:cNvSpPr>
            <a:spLocks noGrp="1"/>
          </p:cNvSpPr>
          <p:nvPr/>
        </p:nvSpPr>
        <p:spPr>
          <a:xfrm>
            <a:off x="9429750" y="4648200"/>
            <a:ext cx="2162175" cy="800100"/>
          </a:xfrm>
          <a:prstGeom prst="rect">
            <a:avLst/>
          </a:prstGeom>
        </p:spPr>
        <p:txBody>
          <a:bodyPr wrap="square" lIns="0" tIns="0" rIns="0" bIns="0" anchor="t">
            <a:normAutofit/>
          </a:bodyPr>
          <a:lstStyle/>
          <a:p>
            <a:pPr algn="l">
              <a:defRPr sz="1350" b="0">
                <a:solidFill>
                  <a:srgbClr val="000000"/>
                </a:solidFill>
                <a:latin typeface="Helvetica Neue"/>
                <a:ea typeface="Helvetica Neue"/>
                <a:cs typeface="Helvetica Neue"/>
              </a:defRPr>
            </a:pPr>
            <a:r>
              <a:t>Streamlit and API render results only</a:t>
            </a:r>
          </a:p>
        </p:txBody>
      </p:sp>
      <p:sp>
        <p:nvSpPr>
          <p:cNvPr id="29" name="text-300">
            <a:extLst>
              <a:ext uri="{FF2B5EF4-FFF2-40B4-BE49-F238E27FC236}">
                <a16:creationId xmlns:a16="http://schemas.microsoft.com/office/drawing/2014/main" id="{C3BAB86A-C733-4E9D-9824-717B65601FFB}"/>
              </a:ext>
            </a:extLst>
          </p:cNvPr>
          <p:cNvSpPr>
            <a:spLocks noGrp="1"/>
          </p:cNvSpPr>
          <p:nvPr/>
        </p:nvSpPr>
        <p:spPr>
          <a:xfrm>
            <a:off x="1238250" y="5943600"/>
            <a:ext cx="9715500" cy="285750"/>
          </a:xfrm>
          <a:prstGeom prst="rect">
            <a:avLst/>
          </a:prstGeom>
        </p:spPr>
        <p:txBody>
          <a:bodyPr wrap="square" lIns="0" tIns="0" rIns="0" bIns="0" anchor="t">
            <a:normAutofit/>
          </a:bodyPr>
          <a:lstStyle/>
          <a:p>
            <a:pPr algn="ctr">
              <a:defRPr sz="1650" b="1">
                <a:solidFill>
                  <a:srgbClr val="3D8DFF"/>
                </a:solidFill>
                <a:latin typeface="Helvetica Neue"/>
                <a:ea typeface="Helvetica Neue"/>
                <a:cs typeface="Helvetica Neue"/>
              </a:defRPr>
            </a:pPr>
            <a:r>
              <a:t>Dependency direction protects the deterministic core from UI and model-provider changes.</a:t>
            </a:r>
          </a:p>
        </p:txBody>
      </p:sp>
    </p:spTree>
    <p:extLst>
      <p:ext uri="{BB962C8B-B14F-4D97-AF65-F5344CB8AC3E}">
        <p14:creationId xmlns:p14="http://schemas.microsoft.com/office/powerpoint/2010/main" val="262594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19-title">
            <a:extLst>
              <a:ext uri="{FF2B5EF4-FFF2-40B4-BE49-F238E27FC236}">
                <a16:creationId xmlns:a16="http://schemas.microsoft.com/office/drawing/2014/main" id="{87E593EF-847F-4934-8882-5773589C6080}"/>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Each file format has one job</a:t>
            </a:r>
          </a:p>
        </p:txBody>
      </p:sp>
      <p:cxnSp>
        <p:nvCxnSpPr>
          <p:cNvPr id="23" name="line-323"/>
          <p:cNvCxnSpPr/>
          <p:nvPr/>
        </p:nvCxnSpPr>
        <p:spPr>
          <a:xfrm>
            <a:off x="495300" y="1057275"/>
            <a:ext cx="11296650" cy="9525"/>
          </a:xfrm>
          <a:prstGeom prst="straightConnector1">
            <a:avLst/>
          </a:prstGeom>
          <a:ln w="9525">
            <a:solidFill>
              <a:srgbClr val="B8BCC4"/>
            </a:solidFill>
            <a:prstDash val="solid"/>
          </a:ln>
        </p:spPr>
      </p:cxnSp>
      <p:sp>
        <p:nvSpPr>
          <p:cNvPr id="3" name="slide-19-source">
            <a:extLst>
              <a:ext uri="{FF2B5EF4-FFF2-40B4-BE49-F238E27FC236}">
                <a16:creationId xmlns:a16="http://schemas.microsoft.com/office/drawing/2014/main" id="{3FA5E577-7D7C-4D75-A590-82AC829EDD93}"/>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 mixed-format architecture</a:t>
            </a:r>
          </a:p>
        </p:txBody>
      </p:sp>
      <p:sp>
        <p:nvSpPr>
          <p:cNvPr id="4" name="slide-19-number">
            <a:extLst>
              <a:ext uri="{FF2B5EF4-FFF2-40B4-BE49-F238E27FC236}">
                <a16:creationId xmlns:a16="http://schemas.microsoft.com/office/drawing/2014/main" id="{17980A9C-BD47-476F-B5A8-9A64A4155AE7}"/>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19</a:t>
            </a:r>
          </a:p>
        </p:txBody>
      </p:sp>
      <p:sp>
        <p:nvSpPr>
          <p:cNvPr id="5" name="shape-305">
            <a:extLst>
              <a:ext uri="{FF2B5EF4-FFF2-40B4-BE49-F238E27FC236}">
                <a16:creationId xmlns:a16="http://schemas.microsoft.com/office/drawing/2014/main" id="{BB771E4F-31BC-4CA0-A3C1-F192698EEB62}"/>
              </a:ext>
            </a:extLst>
          </p:cNvPr>
          <p:cNvSpPr>
            <a:spLocks noGrp="1"/>
          </p:cNvSpPr>
          <p:nvPr/>
        </p:nvSpPr>
        <p:spPr>
          <a:xfrm>
            <a:off x="390525" y="1657350"/>
            <a:ext cx="2581275" cy="3714750"/>
          </a:xfrm>
          <a:prstGeom prst="rect">
            <a:avLst/>
          </a:prstGeom>
          <a:solidFill>
            <a:srgbClr val="000000"/>
          </a:solidFill>
          <a:ln w="9525">
            <a:solidFill>
              <a:srgbClr val="000000"/>
            </a:solidFill>
            <a:prstDash val="solid"/>
          </a:ln>
        </p:spPr>
        <p:txBody>
          <a:bodyPr/>
          <a:lstStyle/>
          <a:p>
            <a:endParaRPr lang="en-DE"/>
          </a:p>
        </p:txBody>
      </p:sp>
      <p:sp>
        <p:nvSpPr>
          <p:cNvPr id="6" name="text-306">
            <a:extLst>
              <a:ext uri="{FF2B5EF4-FFF2-40B4-BE49-F238E27FC236}">
                <a16:creationId xmlns:a16="http://schemas.microsoft.com/office/drawing/2014/main" id="{330D2983-401C-41B4-A3B5-8817B42B952A}"/>
              </a:ext>
            </a:extLst>
          </p:cNvPr>
          <p:cNvSpPr>
            <a:spLocks noGrp="1"/>
          </p:cNvSpPr>
          <p:nvPr/>
        </p:nvSpPr>
        <p:spPr>
          <a:xfrm>
            <a:off x="619125" y="1962150"/>
            <a:ext cx="2124075" cy="419100"/>
          </a:xfrm>
          <a:prstGeom prst="rect">
            <a:avLst/>
          </a:prstGeom>
        </p:spPr>
        <p:txBody>
          <a:bodyPr wrap="square" lIns="0" tIns="0" rIns="0" bIns="0" anchor="t">
            <a:normAutofit/>
          </a:bodyPr>
          <a:lstStyle/>
          <a:p>
            <a:pPr algn="l">
              <a:defRPr sz="2025" b="1">
                <a:solidFill>
                  <a:srgbClr val="FFFFFF"/>
                </a:solidFill>
                <a:latin typeface="Helvetica Neue"/>
                <a:ea typeface="Helvetica Neue"/>
                <a:cs typeface="Helvetica Neue"/>
              </a:defRPr>
            </a:pPr>
            <a:r>
              <a:t>PYTHON</a:t>
            </a:r>
          </a:p>
        </p:txBody>
      </p:sp>
      <p:sp>
        <p:nvSpPr>
          <p:cNvPr id="7" name="text-307">
            <a:extLst>
              <a:ext uri="{FF2B5EF4-FFF2-40B4-BE49-F238E27FC236}">
                <a16:creationId xmlns:a16="http://schemas.microsoft.com/office/drawing/2014/main" id="{473288D6-7B52-4CAA-8A79-62A9C21090C9}"/>
              </a:ext>
            </a:extLst>
          </p:cNvPr>
          <p:cNvSpPr>
            <a:spLocks noGrp="1"/>
          </p:cNvSpPr>
          <p:nvPr/>
        </p:nvSpPr>
        <p:spPr>
          <a:xfrm>
            <a:off x="619125" y="2609850"/>
            <a:ext cx="2124075" cy="457200"/>
          </a:xfrm>
          <a:prstGeom prst="rect">
            <a:avLst/>
          </a:prstGeom>
        </p:spPr>
        <p:txBody>
          <a:bodyPr wrap="square" lIns="0" tIns="0" rIns="0" bIns="0" anchor="t">
            <a:normAutofit/>
          </a:bodyPr>
          <a:lstStyle/>
          <a:p>
            <a:pPr algn="l">
              <a:defRPr sz="1500" b="1">
                <a:solidFill>
                  <a:srgbClr val="6DCBF4"/>
                </a:solidFill>
                <a:latin typeface="Helvetica Neue"/>
                <a:ea typeface="Helvetica Neue"/>
                <a:cs typeface="Helvetica Neue"/>
              </a:defRPr>
            </a:pPr>
            <a:r>
              <a:t>Executable behavior</a:t>
            </a:r>
          </a:p>
        </p:txBody>
      </p:sp>
      <p:sp>
        <p:nvSpPr>
          <p:cNvPr id="8" name="text-308">
            <a:extLst>
              <a:ext uri="{FF2B5EF4-FFF2-40B4-BE49-F238E27FC236}">
                <a16:creationId xmlns:a16="http://schemas.microsoft.com/office/drawing/2014/main" id="{85001142-C05B-461B-A367-8515CE45FD18}"/>
              </a:ext>
            </a:extLst>
          </p:cNvPr>
          <p:cNvSpPr>
            <a:spLocks noGrp="1"/>
          </p:cNvSpPr>
          <p:nvPr/>
        </p:nvSpPr>
        <p:spPr>
          <a:xfrm>
            <a:off x="619125" y="3333750"/>
            <a:ext cx="2124075" cy="1428750"/>
          </a:xfrm>
          <a:prstGeom prst="rect">
            <a:avLst/>
          </a:prstGeom>
        </p:spPr>
        <p:txBody>
          <a:bodyPr wrap="square" lIns="0" tIns="0" rIns="0" bIns="0" anchor="t">
            <a:normAutofit/>
          </a:bodyPr>
          <a:lstStyle/>
          <a:p>
            <a:pPr algn="l">
              <a:defRPr sz="1500" b="0">
                <a:solidFill>
                  <a:srgbClr val="FFFFFF"/>
                </a:solidFill>
                <a:latin typeface="Helvetica Neue"/>
                <a:ea typeface="Helvetica Neue"/>
                <a:cs typeface="Helvetica Neue"/>
              </a:defRPr>
            </a:pPr>
            <a:r>
              <a:t>KPI formulas
Rules
Loaders
Orchestration</a:t>
            </a:r>
          </a:p>
        </p:txBody>
      </p:sp>
      <p:sp>
        <p:nvSpPr>
          <p:cNvPr id="9" name="shape-309">
            <a:extLst>
              <a:ext uri="{FF2B5EF4-FFF2-40B4-BE49-F238E27FC236}">
                <a16:creationId xmlns:a16="http://schemas.microsoft.com/office/drawing/2014/main" id="{3E4B9A95-7C26-48D6-AAB1-9154FD24079A}"/>
              </a:ext>
            </a:extLst>
          </p:cNvPr>
          <p:cNvSpPr>
            <a:spLocks noGrp="1"/>
          </p:cNvSpPr>
          <p:nvPr/>
        </p:nvSpPr>
        <p:spPr>
          <a:xfrm>
            <a:off x="3333750" y="1657350"/>
            <a:ext cx="2581275" cy="3714750"/>
          </a:xfrm>
          <a:prstGeom prst="rect">
            <a:avLst/>
          </a:prstGeom>
          <a:solidFill>
            <a:srgbClr val="D0EDFA"/>
          </a:solidFill>
          <a:ln w="9525">
            <a:solidFill>
              <a:srgbClr val="D0EDFA"/>
            </a:solidFill>
            <a:prstDash val="solid"/>
          </a:ln>
        </p:spPr>
        <p:txBody>
          <a:bodyPr/>
          <a:lstStyle/>
          <a:p>
            <a:endParaRPr lang="en-DE"/>
          </a:p>
        </p:txBody>
      </p:sp>
      <p:sp>
        <p:nvSpPr>
          <p:cNvPr id="10" name="text-310">
            <a:extLst>
              <a:ext uri="{FF2B5EF4-FFF2-40B4-BE49-F238E27FC236}">
                <a16:creationId xmlns:a16="http://schemas.microsoft.com/office/drawing/2014/main" id="{3164E9A5-AF71-4E43-BCD5-2FA9DE67E40F}"/>
              </a:ext>
            </a:extLst>
          </p:cNvPr>
          <p:cNvSpPr>
            <a:spLocks noGrp="1"/>
          </p:cNvSpPr>
          <p:nvPr/>
        </p:nvSpPr>
        <p:spPr>
          <a:xfrm>
            <a:off x="3562350" y="1962150"/>
            <a:ext cx="2124075" cy="419100"/>
          </a:xfrm>
          <a:prstGeom prst="rect">
            <a:avLst/>
          </a:prstGeom>
        </p:spPr>
        <p:txBody>
          <a:bodyPr wrap="square" lIns="0" tIns="0" rIns="0" bIns="0" anchor="t">
            <a:normAutofit/>
          </a:bodyPr>
          <a:lstStyle/>
          <a:p>
            <a:pPr algn="l">
              <a:defRPr sz="2025" b="1">
                <a:solidFill>
                  <a:srgbClr val="000000"/>
                </a:solidFill>
                <a:latin typeface="Helvetica Neue"/>
                <a:ea typeface="Helvetica Neue"/>
                <a:cs typeface="Helvetica Neue"/>
              </a:defRPr>
            </a:pPr>
            <a:r>
              <a:t>YAML</a:t>
            </a:r>
          </a:p>
        </p:txBody>
      </p:sp>
      <p:sp>
        <p:nvSpPr>
          <p:cNvPr id="11" name="text-311">
            <a:extLst>
              <a:ext uri="{FF2B5EF4-FFF2-40B4-BE49-F238E27FC236}">
                <a16:creationId xmlns:a16="http://schemas.microsoft.com/office/drawing/2014/main" id="{A8B241CF-CF8D-410C-88BB-672DE46FA361}"/>
              </a:ext>
            </a:extLst>
          </p:cNvPr>
          <p:cNvSpPr>
            <a:spLocks noGrp="1"/>
          </p:cNvSpPr>
          <p:nvPr/>
        </p:nvSpPr>
        <p:spPr>
          <a:xfrm>
            <a:off x="3562350" y="2609850"/>
            <a:ext cx="2124075" cy="457200"/>
          </a:xfrm>
          <a:prstGeom prst="rect">
            <a:avLst/>
          </a:prstGeom>
        </p:spPr>
        <p:txBody>
          <a:bodyPr wrap="square" lIns="0" tIns="0" rIns="0" bIns="0" anchor="t">
            <a:normAutofit/>
          </a:bodyPr>
          <a:lstStyle/>
          <a:p>
            <a:pPr algn="l">
              <a:defRPr sz="1500" b="1">
                <a:solidFill>
                  <a:srgbClr val="3D8DFF"/>
                </a:solidFill>
                <a:latin typeface="Helvetica Neue"/>
                <a:ea typeface="Helvetica Neue"/>
                <a:cs typeface="Helvetica Neue"/>
              </a:defRPr>
            </a:pPr>
            <a:r>
              <a:t>Business policy</a:t>
            </a:r>
          </a:p>
        </p:txBody>
      </p:sp>
      <p:sp>
        <p:nvSpPr>
          <p:cNvPr id="12" name="text-312">
            <a:extLst>
              <a:ext uri="{FF2B5EF4-FFF2-40B4-BE49-F238E27FC236}">
                <a16:creationId xmlns:a16="http://schemas.microsoft.com/office/drawing/2014/main" id="{3A862C0B-C268-4B69-B8C2-BE71DBDCAD78}"/>
              </a:ext>
            </a:extLst>
          </p:cNvPr>
          <p:cNvSpPr>
            <a:spLocks noGrp="1"/>
          </p:cNvSpPr>
          <p:nvPr/>
        </p:nvSpPr>
        <p:spPr>
          <a:xfrm>
            <a:off x="3562350" y="3333750"/>
            <a:ext cx="2124075" cy="1428750"/>
          </a:xfrm>
          <a:prstGeom prst="rect">
            <a:avLst/>
          </a:prstGeom>
        </p:spPr>
        <p:txBody>
          <a:bodyPr wrap="square" lIns="0" tIns="0" rIns="0" bIns="0" anchor="t">
            <a:normAutofit/>
          </a:bodyPr>
          <a:lstStyle/>
          <a:p>
            <a:pPr algn="l">
              <a:defRPr sz="1500" b="0">
                <a:solidFill>
                  <a:srgbClr val="000000"/>
                </a:solidFill>
                <a:latin typeface="Helvetica Neue"/>
                <a:ea typeface="Helvetica Neue"/>
                <a:cs typeface="Helvetica Neue"/>
              </a:defRPr>
            </a:pPr>
            <a:r>
              <a:t>Campaign lookup
Budget method
Evidence rules
Quality gates</a:t>
            </a:r>
          </a:p>
        </p:txBody>
      </p:sp>
      <p:sp>
        <p:nvSpPr>
          <p:cNvPr id="13" name="shape-313">
            <a:extLst>
              <a:ext uri="{FF2B5EF4-FFF2-40B4-BE49-F238E27FC236}">
                <a16:creationId xmlns:a16="http://schemas.microsoft.com/office/drawing/2014/main" id="{1654AFE0-252D-4C23-838D-18066366B72C}"/>
              </a:ext>
            </a:extLst>
          </p:cNvPr>
          <p:cNvSpPr>
            <a:spLocks noGrp="1"/>
          </p:cNvSpPr>
          <p:nvPr/>
        </p:nvSpPr>
        <p:spPr>
          <a:xfrm>
            <a:off x="6276975" y="1657350"/>
            <a:ext cx="2581275" cy="3714750"/>
          </a:xfrm>
          <a:prstGeom prst="rect">
            <a:avLst/>
          </a:prstGeom>
          <a:solidFill>
            <a:srgbClr val="EDEDED"/>
          </a:solidFill>
          <a:ln w="9525">
            <a:solidFill>
              <a:srgbClr val="EDEDED"/>
            </a:solidFill>
            <a:prstDash val="solid"/>
          </a:ln>
        </p:spPr>
        <p:txBody>
          <a:bodyPr/>
          <a:lstStyle/>
          <a:p>
            <a:endParaRPr lang="en-DE"/>
          </a:p>
        </p:txBody>
      </p:sp>
      <p:sp>
        <p:nvSpPr>
          <p:cNvPr id="14" name="text-314">
            <a:extLst>
              <a:ext uri="{FF2B5EF4-FFF2-40B4-BE49-F238E27FC236}">
                <a16:creationId xmlns:a16="http://schemas.microsoft.com/office/drawing/2014/main" id="{136F5807-0E22-4382-BD69-BE012E58FD73}"/>
              </a:ext>
            </a:extLst>
          </p:cNvPr>
          <p:cNvSpPr>
            <a:spLocks noGrp="1"/>
          </p:cNvSpPr>
          <p:nvPr/>
        </p:nvSpPr>
        <p:spPr>
          <a:xfrm>
            <a:off x="6505575" y="1962150"/>
            <a:ext cx="2124075" cy="419100"/>
          </a:xfrm>
          <a:prstGeom prst="rect">
            <a:avLst/>
          </a:prstGeom>
        </p:spPr>
        <p:txBody>
          <a:bodyPr wrap="square" lIns="0" tIns="0" rIns="0" bIns="0" anchor="t">
            <a:normAutofit/>
          </a:bodyPr>
          <a:lstStyle/>
          <a:p>
            <a:pPr algn="l">
              <a:defRPr sz="2025" b="1">
                <a:solidFill>
                  <a:srgbClr val="000000"/>
                </a:solidFill>
                <a:latin typeface="Helvetica Neue"/>
                <a:ea typeface="Helvetica Neue"/>
                <a:cs typeface="Helvetica Neue"/>
              </a:defRPr>
            </a:pPr>
            <a:r>
              <a:t>MARKDOWN</a:t>
            </a:r>
          </a:p>
        </p:txBody>
      </p:sp>
      <p:sp>
        <p:nvSpPr>
          <p:cNvPr id="15" name="text-315">
            <a:extLst>
              <a:ext uri="{FF2B5EF4-FFF2-40B4-BE49-F238E27FC236}">
                <a16:creationId xmlns:a16="http://schemas.microsoft.com/office/drawing/2014/main" id="{FFD40478-8009-43FE-9561-0488241FFAF3}"/>
              </a:ext>
            </a:extLst>
          </p:cNvPr>
          <p:cNvSpPr>
            <a:spLocks noGrp="1"/>
          </p:cNvSpPr>
          <p:nvPr/>
        </p:nvSpPr>
        <p:spPr>
          <a:xfrm>
            <a:off x="6505575" y="2609850"/>
            <a:ext cx="2124075" cy="457200"/>
          </a:xfrm>
          <a:prstGeom prst="rect">
            <a:avLst/>
          </a:prstGeom>
        </p:spPr>
        <p:txBody>
          <a:bodyPr wrap="square" lIns="0" tIns="0" rIns="0" bIns="0" anchor="t">
            <a:normAutofit/>
          </a:bodyPr>
          <a:lstStyle/>
          <a:p>
            <a:pPr algn="l">
              <a:defRPr sz="1500" b="1">
                <a:solidFill>
                  <a:srgbClr val="3D8DFF"/>
                </a:solidFill>
                <a:latin typeface="Helvetica Neue"/>
                <a:ea typeface="Helvetica Neue"/>
                <a:cs typeface="Helvetica Neue"/>
              </a:defRPr>
            </a:pPr>
            <a:r>
              <a:t>Human instructions</a:t>
            </a:r>
          </a:p>
        </p:txBody>
      </p:sp>
      <p:sp>
        <p:nvSpPr>
          <p:cNvPr id="16" name="text-316">
            <a:extLst>
              <a:ext uri="{FF2B5EF4-FFF2-40B4-BE49-F238E27FC236}">
                <a16:creationId xmlns:a16="http://schemas.microsoft.com/office/drawing/2014/main" id="{E3FB9A7D-1E84-4248-A10D-C9554C45729C}"/>
              </a:ext>
            </a:extLst>
          </p:cNvPr>
          <p:cNvSpPr>
            <a:spLocks noGrp="1"/>
          </p:cNvSpPr>
          <p:nvPr/>
        </p:nvSpPr>
        <p:spPr>
          <a:xfrm>
            <a:off x="6505575" y="3333750"/>
            <a:ext cx="2124075" cy="1428750"/>
          </a:xfrm>
          <a:prstGeom prst="rect">
            <a:avLst/>
          </a:prstGeom>
        </p:spPr>
        <p:txBody>
          <a:bodyPr wrap="square" lIns="0" tIns="0" rIns="0" bIns="0" anchor="t">
            <a:normAutofit/>
          </a:bodyPr>
          <a:lstStyle/>
          <a:p>
            <a:pPr algn="l">
              <a:defRPr sz="1500" b="0">
                <a:solidFill>
                  <a:srgbClr val="000000"/>
                </a:solidFill>
                <a:latin typeface="Helvetica Neue"/>
                <a:ea typeface="Helvetica Neue"/>
                <a:cs typeface="Helvetica Neue"/>
              </a:defRPr>
            </a:pPr>
            <a:r>
              <a:t>Campaign prompt
Portfolio prompt
Methodology
Glossary</a:t>
            </a:r>
          </a:p>
        </p:txBody>
      </p:sp>
      <p:sp>
        <p:nvSpPr>
          <p:cNvPr id="17" name="shape-317">
            <a:extLst>
              <a:ext uri="{FF2B5EF4-FFF2-40B4-BE49-F238E27FC236}">
                <a16:creationId xmlns:a16="http://schemas.microsoft.com/office/drawing/2014/main" id="{0F1572F9-ECCF-4A29-A02D-FF9F3DD549DB}"/>
              </a:ext>
            </a:extLst>
          </p:cNvPr>
          <p:cNvSpPr>
            <a:spLocks noGrp="1"/>
          </p:cNvSpPr>
          <p:nvPr/>
        </p:nvSpPr>
        <p:spPr>
          <a:xfrm>
            <a:off x="9220200" y="1657350"/>
            <a:ext cx="2581275" cy="3714750"/>
          </a:xfrm>
          <a:prstGeom prst="rect">
            <a:avLst/>
          </a:prstGeom>
          <a:solidFill>
            <a:srgbClr val="F7F7F7"/>
          </a:solidFill>
          <a:ln w="9525">
            <a:solidFill>
              <a:srgbClr val="F7F7F7"/>
            </a:solidFill>
            <a:prstDash val="solid"/>
          </a:ln>
        </p:spPr>
        <p:txBody>
          <a:bodyPr/>
          <a:lstStyle/>
          <a:p>
            <a:endParaRPr lang="en-DE"/>
          </a:p>
        </p:txBody>
      </p:sp>
      <p:sp>
        <p:nvSpPr>
          <p:cNvPr id="18" name="text-318">
            <a:extLst>
              <a:ext uri="{FF2B5EF4-FFF2-40B4-BE49-F238E27FC236}">
                <a16:creationId xmlns:a16="http://schemas.microsoft.com/office/drawing/2014/main" id="{AFDB4833-56AC-413D-8F2D-8E04FAEB10F1}"/>
              </a:ext>
            </a:extLst>
          </p:cNvPr>
          <p:cNvSpPr>
            <a:spLocks noGrp="1"/>
          </p:cNvSpPr>
          <p:nvPr/>
        </p:nvSpPr>
        <p:spPr>
          <a:xfrm>
            <a:off x="9448800" y="1962150"/>
            <a:ext cx="2124075" cy="419100"/>
          </a:xfrm>
          <a:prstGeom prst="rect">
            <a:avLst/>
          </a:prstGeom>
        </p:spPr>
        <p:txBody>
          <a:bodyPr wrap="square" lIns="0" tIns="0" rIns="0" bIns="0" anchor="t">
            <a:normAutofit/>
          </a:bodyPr>
          <a:lstStyle/>
          <a:p>
            <a:pPr algn="l">
              <a:defRPr sz="2025" b="1">
                <a:solidFill>
                  <a:srgbClr val="000000"/>
                </a:solidFill>
                <a:latin typeface="Helvetica Neue"/>
                <a:ea typeface="Helvetica Neue"/>
                <a:cs typeface="Helvetica Neue"/>
              </a:defRPr>
            </a:pPr>
            <a:r>
              <a:t>JSON</a:t>
            </a:r>
          </a:p>
        </p:txBody>
      </p:sp>
      <p:sp>
        <p:nvSpPr>
          <p:cNvPr id="19" name="text-319">
            <a:extLst>
              <a:ext uri="{FF2B5EF4-FFF2-40B4-BE49-F238E27FC236}">
                <a16:creationId xmlns:a16="http://schemas.microsoft.com/office/drawing/2014/main" id="{B42EA1D5-1A76-491B-8A76-8254CA3D729A}"/>
              </a:ext>
            </a:extLst>
          </p:cNvPr>
          <p:cNvSpPr>
            <a:spLocks noGrp="1"/>
          </p:cNvSpPr>
          <p:nvPr/>
        </p:nvSpPr>
        <p:spPr>
          <a:xfrm>
            <a:off x="9448800" y="2609850"/>
            <a:ext cx="2124075" cy="457200"/>
          </a:xfrm>
          <a:prstGeom prst="rect">
            <a:avLst/>
          </a:prstGeom>
        </p:spPr>
        <p:txBody>
          <a:bodyPr wrap="square" lIns="0" tIns="0" rIns="0" bIns="0" anchor="t">
            <a:normAutofit/>
          </a:bodyPr>
          <a:lstStyle/>
          <a:p>
            <a:pPr algn="l">
              <a:defRPr sz="1500" b="1">
                <a:solidFill>
                  <a:srgbClr val="3D8DFF"/>
                </a:solidFill>
                <a:latin typeface="Helvetica Neue"/>
                <a:ea typeface="Helvetica Neue"/>
                <a:cs typeface="Helvetica Neue"/>
              </a:defRPr>
            </a:pPr>
            <a:r>
              <a:t>Machine records</a:t>
            </a:r>
          </a:p>
        </p:txBody>
      </p:sp>
      <p:sp>
        <p:nvSpPr>
          <p:cNvPr id="20" name="text-320">
            <a:extLst>
              <a:ext uri="{FF2B5EF4-FFF2-40B4-BE49-F238E27FC236}">
                <a16:creationId xmlns:a16="http://schemas.microsoft.com/office/drawing/2014/main" id="{6DBD2BC0-CB7B-4729-BD43-80FDF3E4157C}"/>
              </a:ext>
            </a:extLst>
          </p:cNvPr>
          <p:cNvSpPr>
            <a:spLocks noGrp="1"/>
          </p:cNvSpPr>
          <p:nvPr/>
        </p:nvSpPr>
        <p:spPr>
          <a:xfrm>
            <a:off x="9448800" y="3333750"/>
            <a:ext cx="2124075" cy="1428750"/>
          </a:xfrm>
          <a:prstGeom prst="rect">
            <a:avLst/>
          </a:prstGeom>
        </p:spPr>
        <p:txBody>
          <a:bodyPr wrap="square" lIns="0" tIns="0" rIns="0" bIns="0" anchor="t">
            <a:normAutofit/>
          </a:bodyPr>
          <a:lstStyle/>
          <a:p>
            <a:pPr algn="l">
              <a:defRPr sz="1500" b="0">
                <a:solidFill>
                  <a:srgbClr val="000000"/>
                </a:solidFill>
                <a:latin typeface="Helvetica Neue"/>
                <a:ea typeface="Helvetica Neue"/>
                <a:cs typeface="Helvetica Neue"/>
              </a:defRPr>
            </a:pPr>
            <a:r>
              <a:t>Raw inputs
Assessments
Insights
Budget scenarios</a:t>
            </a:r>
          </a:p>
        </p:txBody>
      </p:sp>
      <p:sp>
        <p:nvSpPr>
          <p:cNvPr id="21" name="text-321">
            <a:extLst>
              <a:ext uri="{FF2B5EF4-FFF2-40B4-BE49-F238E27FC236}">
                <a16:creationId xmlns:a16="http://schemas.microsoft.com/office/drawing/2014/main" id="{A054AA3A-370A-4174-9EFD-D8EB4500D648}"/>
              </a:ext>
            </a:extLst>
          </p:cNvPr>
          <p:cNvSpPr>
            <a:spLocks noGrp="1"/>
          </p:cNvSpPr>
          <p:nvPr/>
        </p:nvSpPr>
        <p:spPr>
          <a:xfrm>
            <a:off x="1238250" y="5848350"/>
            <a:ext cx="9715500" cy="361950"/>
          </a:xfrm>
          <a:prstGeom prst="rect">
            <a:avLst/>
          </a:prstGeom>
        </p:spPr>
        <p:txBody>
          <a:bodyPr wrap="square" lIns="0" tIns="0" rIns="0" bIns="0" anchor="t">
            <a:normAutofit/>
          </a:bodyPr>
          <a:lstStyle/>
          <a:p>
            <a:pPr algn="ctr">
              <a:defRPr sz="1725" b="1">
                <a:solidFill>
                  <a:srgbClr val="3D8DFF"/>
                </a:solidFill>
                <a:latin typeface="Helvetica Neue"/>
                <a:ea typeface="Helvetica Neue"/>
                <a:cs typeface="Helvetica Neue"/>
              </a:defRPr>
            </a:pPr>
            <a:r>
              <a:t>Rule of thumb: edit policy without rewriting code; change code only when behavior changes.</a:t>
            </a:r>
          </a:p>
        </p:txBody>
      </p:sp>
    </p:spTree>
    <p:extLst>
      <p:ext uri="{BB962C8B-B14F-4D97-AF65-F5344CB8AC3E}">
        <p14:creationId xmlns:p14="http://schemas.microsoft.com/office/powerpoint/2010/main" val="1171408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20-title">
            <a:extLst>
              <a:ext uri="{FF2B5EF4-FFF2-40B4-BE49-F238E27FC236}">
                <a16:creationId xmlns:a16="http://schemas.microsoft.com/office/drawing/2014/main" id="{CB319BE5-DCA4-4EDE-8160-02C83F8188DA}"/>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Prompts today, agents tomorrow</a:t>
            </a:r>
          </a:p>
        </p:txBody>
      </p:sp>
      <p:cxnSp>
        <p:nvCxnSpPr>
          <p:cNvPr id="26" name="line-347"/>
          <p:cNvCxnSpPr/>
          <p:nvPr/>
        </p:nvCxnSpPr>
        <p:spPr>
          <a:xfrm>
            <a:off x="495300" y="1057275"/>
            <a:ext cx="11296650" cy="9525"/>
          </a:xfrm>
          <a:prstGeom prst="straightConnector1">
            <a:avLst/>
          </a:prstGeom>
          <a:ln w="9525">
            <a:solidFill>
              <a:srgbClr val="B8BCC4"/>
            </a:solidFill>
            <a:prstDash val="solid"/>
          </a:ln>
        </p:spPr>
      </p:cxnSp>
      <p:sp>
        <p:nvSpPr>
          <p:cNvPr id="3" name="slide-20-source">
            <a:extLst>
              <a:ext uri="{FF2B5EF4-FFF2-40B4-BE49-F238E27FC236}">
                <a16:creationId xmlns:a16="http://schemas.microsoft.com/office/drawing/2014/main" id="{86AD918E-DF82-4236-881A-C36E14E8CD77}"/>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src_2/application/ports.py and contracts</a:t>
            </a:r>
          </a:p>
        </p:txBody>
      </p:sp>
      <p:sp>
        <p:nvSpPr>
          <p:cNvPr id="4" name="slide-20-number">
            <a:extLst>
              <a:ext uri="{FF2B5EF4-FFF2-40B4-BE49-F238E27FC236}">
                <a16:creationId xmlns:a16="http://schemas.microsoft.com/office/drawing/2014/main" id="{1296031C-A1D3-4832-8040-AAA7D142782D}"/>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20</a:t>
            </a:r>
          </a:p>
        </p:txBody>
      </p:sp>
      <p:cxnSp>
        <p:nvCxnSpPr>
          <p:cNvPr id="29" name="line-326"/>
          <p:cNvCxnSpPr/>
          <p:nvPr/>
        </p:nvCxnSpPr>
        <p:spPr>
          <a:xfrm>
            <a:off x="2781300" y="2571750"/>
            <a:ext cx="1314450" cy="9525"/>
          </a:xfrm>
          <a:prstGeom prst="straightConnector1">
            <a:avLst/>
          </a:prstGeom>
          <a:ln w="28575">
            <a:solidFill>
              <a:srgbClr val="B8BCC4"/>
            </a:solidFill>
            <a:prstDash val="solid"/>
          </a:ln>
        </p:spPr>
      </p:cxnSp>
      <p:cxnSp>
        <p:nvCxnSpPr>
          <p:cNvPr id="30" name="line-327"/>
          <p:cNvCxnSpPr/>
          <p:nvPr/>
        </p:nvCxnSpPr>
        <p:spPr>
          <a:xfrm>
            <a:off x="7239000" y="1905000"/>
            <a:ext cx="1066800" cy="666750"/>
          </a:xfrm>
          <a:prstGeom prst="straightConnector1">
            <a:avLst/>
          </a:prstGeom>
          <a:ln w="28575">
            <a:solidFill>
              <a:srgbClr val="B8BCC4"/>
            </a:solidFill>
            <a:prstDash val="solid"/>
          </a:ln>
        </p:spPr>
      </p:cxnSp>
      <p:cxnSp>
        <p:nvCxnSpPr>
          <p:cNvPr id="31" name="line-328"/>
          <p:cNvCxnSpPr/>
          <p:nvPr/>
        </p:nvCxnSpPr>
        <p:spPr>
          <a:xfrm>
            <a:off x="7239000" y="2571750"/>
            <a:ext cx="1066800" cy="952500"/>
          </a:xfrm>
          <a:prstGeom prst="straightConnector1">
            <a:avLst/>
          </a:prstGeom>
          <a:ln w="28575">
            <a:solidFill>
              <a:srgbClr val="B8BCC4"/>
            </a:solidFill>
            <a:prstDash val="solid"/>
          </a:ln>
        </p:spPr>
      </p:cxnSp>
      <p:cxnSp>
        <p:nvCxnSpPr>
          <p:cNvPr id="32" name="line-329"/>
          <p:cNvCxnSpPr/>
          <p:nvPr/>
        </p:nvCxnSpPr>
        <p:spPr>
          <a:xfrm>
            <a:off x="5667375" y="4171950"/>
            <a:ext cx="9525" cy="857250"/>
          </a:xfrm>
          <a:prstGeom prst="straightConnector1">
            <a:avLst/>
          </a:prstGeom>
          <a:ln w="28575">
            <a:solidFill>
              <a:srgbClr val="3D8DFF"/>
            </a:solidFill>
            <a:prstDash val="solid"/>
          </a:ln>
        </p:spPr>
      </p:cxnSp>
      <p:sp>
        <p:nvSpPr>
          <p:cNvPr id="9" name="shape-330">
            <a:extLst>
              <a:ext uri="{FF2B5EF4-FFF2-40B4-BE49-F238E27FC236}">
                <a16:creationId xmlns:a16="http://schemas.microsoft.com/office/drawing/2014/main" id="{462D7EF3-67D1-48AB-A363-1791E47971C7}"/>
              </a:ext>
            </a:extLst>
          </p:cNvPr>
          <p:cNvSpPr>
            <a:spLocks noGrp="1"/>
          </p:cNvSpPr>
          <p:nvPr/>
        </p:nvSpPr>
        <p:spPr>
          <a:xfrm>
            <a:off x="390525" y="1790700"/>
            <a:ext cx="2390775" cy="1562100"/>
          </a:xfrm>
          <a:prstGeom prst="rect">
            <a:avLst/>
          </a:prstGeom>
          <a:solidFill>
            <a:srgbClr val="F7F7F7"/>
          </a:solidFill>
          <a:ln w="9525">
            <a:solidFill>
              <a:srgbClr val="B8BCC4"/>
            </a:solidFill>
            <a:prstDash val="solid"/>
          </a:ln>
        </p:spPr>
        <p:txBody>
          <a:bodyPr/>
          <a:lstStyle/>
          <a:p>
            <a:endParaRPr lang="en-DE"/>
          </a:p>
        </p:txBody>
      </p:sp>
      <p:sp>
        <p:nvSpPr>
          <p:cNvPr id="10" name="shape-331">
            <a:extLst>
              <a:ext uri="{FF2B5EF4-FFF2-40B4-BE49-F238E27FC236}">
                <a16:creationId xmlns:a16="http://schemas.microsoft.com/office/drawing/2014/main" id="{23D9C51E-8EBB-4171-937A-2D6E645E0D8D}"/>
              </a:ext>
            </a:extLst>
          </p:cNvPr>
          <p:cNvSpPr>
            <a:spLocks noGrp="1"/>
          </p:cNvSpPr>
          <p:nvPr/>
        </p:nvSpPr>
        <p:spPr>
          <a:xfrm>
            <a:off x="4095750" y="1790700"/>
            <a:ext cx="3143250" cy="1562100"/>
          </a:xfrm>
          <a:prstGeom prst="rect">
            <a:avLst/>
          </a:prstGeom>
          <a:solidFill>
            <a:srgbClr val="000000"/>
          </a:solidFill>
          <a:ln w="9525">
            <a:solidFill>
              <a:srgbClr val="000000"/>
            </a:solidFill>
            <a:prstDash val="solid"/>
          </a:ln>
        </p:spPr>
        <p:txBody>
          <a:bodyPr/>
          <a:lstStyle/>
          <a:p>
            <a:endParaRPr lang="en-DE"/>
          </a:p>
        </p:txBody>
      </p:sp>
      <p:sp>
        <p:nvSpPr>
          <p:cNvPr id="11" name="shape-332">
            <a:extLst>
              <a:ext uri="{FF2B5EF4-FFF2-40B4-BE49-F238E27FC236}">
                <a16:creationId xmlns:a16="http://schemas.microsoft.com/office/drawing/2014/main" id="{5345B6D5-CE7C-407D-9C21-5708F40454C3}"/>
              </a:ext>
            </a:extLst>
          </p:cNvPr>
          <p:cNvSpPr>
            <a:spLocks noGrp="1"/>
          </p:cNvSpPr>
          <p:nvPr/>
        </p:nvSpPr>
        <p:spPr>
          <a:xfrm>
            <a:off x="8305800" y="1219200"/>
            <a:ext cx="3495675" cy="1562100"/>
          </a:xfrm>
          <a:prstGeom prst="rect">
            <a:avLst/>
          </a:prstGeom>
          <a:solidFill>
            <a:srgbClr val="D0EDFA"/>
          </a:solidFill>
          <a:ln w="9525">
            <a:solidFill>
              <a:srgbClr val="B8BCC4"/>
            </a:solidFill>
            <a:prstDash val="solid"/>
          </a:ln>
        </p:spPr>
        <p:txBody>
          <a:bodyPr/>
          <a:lstStyle/>
          <a:p>
            <a:endParaRPr lang="en-DE"/>
          </a:p>
        </p:txBody>
      </p:sp>
      <p:sp>
        <p:nvSpPr>
          <p:cNvPr id="12" name="shape-333">
            <a:extLst>
              <a:ext uri="{FF2B5EF4-FFF2-40B4-BE49-F238E27FC236}">
                <a16:creationId xmlns:a16="http://schemas.microsoft.com/office/drawing/2014/main" id="{7EA43DFB-F671-4CBD-95E8-60785BF661F2}"/>
              </a:ext>
            </a:extLst>
          </p:cNvPr>
          <p:cNvSpPr>
            <a:spLocks noGrp="1"/>
          </p:cNvSpPr>
          <p:nvPr/>
        </p:nvSpPr>
        <p:spPr>
          <a:xfrm>
            <a:off x="8305800" y="3143250"/>
            <a:ext cx="3495675" cy="1562100"/>
          </a:xfrm>
          <a:prstGeom prst="rect">
            <a:avLst/>
          </a:prstGeom>
          <a:solidFill>
            <a:srgbClr val="F7F7F7"/>
          </a:solidFill>
          <a:ln w="9525">
            <a:solidFill>
              <a:srgbClr val="B8BCC4"/>
            </a:solidFill>
            <a:prstDash val="solid"/>
          </a:ln>
        </p:spPr>
        <p:txBody>
          <a:bodyPr/>
          <a:lstStyle/>
          <a:p>
            <a:endParaRPr lang="en-DE"/>
          </a:p>
        </p:txBody>
      </p:sp>
      <p:sp>
        <p:nvSpPr>
          <p:cNvPr id="13" name="shape-334">
            <a:extLst>
              <a:ext uri="{FF2B5EF4-FFF2-40B4-BE49-F238E27FC236}">
                <a16:creationId xmlns:a16="http://schemas.microsoft.com/office/drawing/2014/main" id="{081787AC-042B-4125-94C0-E45EDF2A7032}"/>
              </a:ext>
            </a:extLst>
          </p:cNvPr>
          <p:cNvSpPr>
            <a:spLocks noGrp="1"/>
          </p:cNvSpPr>
          <p:nvPr/>
        </p:nvSpPr>
        <p:spPr>
          <a:xfrm>
            <a:off x="4095750" y="5029200"/>
            <a:ext cx="3143250" cy="990600"/>
          </a:xfrm>
          <a:prstGeom prst="rect">
            <a:avLst/>
          </a:prstGeom>
          <a:solidFill>
            <a:srgbClr val="6DCBF4"/>
          </a:solidFill>
          <a:ln w="9525">
            <a:solidFill>
              <a:srgbClr val="6DCBF4"/>
            </a:solidFill>
            <a:prstDash val="solid"/>
          </a:ln>
        </p:spPr>
        <p:txBody>
          <a:bodyPr/>
          <a:lstStyle/>
          <a:p>
            <a:endParaRPr lang="en-DE"/>
          </a:p>
        </p:txBody>
      </p:sp>
      <p:sp>
        <p:nvSpPr>
          <p:cNvPr id="14" name="text-335">
            <a:extLst>
              <a:ext uri="{FF2B5EF4-FFF2-40B4-BE49-F238E27FC236}">
                <a16:creationId xmlns:a16="http://schemas.microsoft.com/office/drawing/2014/main" id="{3CB75B5F-AC48-4A83-86E7-7692D8A1905D}"/>
              </a:ext>
            </a:extLst>
          </p:cNvPr>
          <p:cNvSpPr>
            <a:spLocks noGrp="1"/>
          </p:cNvSpPr>
          <p:nvPr/>
        </p:nvSpPr>
        <p:spPr>
          <a:xfrm>
            <a:off x="619125" y="2152650"/>
            <a:ext cx="1933575" cy="419100"/>
          </a:xfrm>
          <a:prstGeom prst="rect">
            <a:avLst/>
          </a:prstGeom>
        </p:spPr>
        <p:txBody>
          <a:bodyPr wrap="square" lIns="0" tIns="0" rIns="0" bIns="0" anchor="t">
            <a:normAutofit fontScale="96998"/>
          </a:bodyPr>
          <a:lstStyle/>
          <a:p>
            <a:pPr algn="ctr">
              <a:defRPr sz="1650" b="1">
                <a:solidFill>
                  <a:srgbClr val="000000"/>
                </a:solidFill>
                <a:latin typeface="Helvetica Neue"/>
                <a:ea typeface="Helvetica Neue"/>
                <a:cs typeface="Helvetica Neue"/>
              </a:defRPr>
            </a:pPr>
            <a:r>
              <a:t>Campaign Evidence</a:t>
            </a:r>
          </a:p>
        </p:txBody>
      </p:sp>
      <p:sp>
        <p:nvSpPr>
          <p:cNvPr id="15" name="text-336">
            <a:extLst>
              <a:ext uri="{FF2B5EF4-FFF2-40B4-BE49-F238E27FC236}">
                <a16:creationId xmlns:a16="http://schemas.microsoft.com/office/drawing/2014/main" id="{95415D20-D6D7-4DEC-ABDA-E80465AEDEF4}"/>
              </a:ext>
            </a:extLst>
          </p:cNvPr>
          <p:cNvSpPr>
            <a:spLocks noGrp="1"/>
          </p:cNvSpPr>
          <p:nvPr/>
        </p:nvSpPr>
        <p:spPr>
          <a:xfrm>
            <a:off x="619125" y="2781300"/>
            <a:ext cx="1933575" cy="304800"/>
          </a:xfrm>
          <a:prstGeom prst="rect">
            <a:avLst/>
          </a:prstGeom>
        </p:spPr>
        <p:txBody>
          <a:bodyPr wrap="square" lIns="0" tIns="0" rIns="0" bIns="0" anchor="t">
            <a:normAutofit/>
          </a:bodyPr>
          <a:lstStyle/>
          <a:p>
            <a:pPr algn="ctr">
              <a:defRPr sz="1275" b="0">
                <a:solidFill>
                  <a:srgbClr val="5F6368"/>
                </a:solidFill>
                <a:latin typeface="Helvetica Neue"/>
                <a:ea typeface="Helvetica Neue"/>
                <a:cs typeface="Helvetica Neue"/>
              </a:defRPr>
            </a:pPr>
            <a:r>
              <a:t>Calculated facts only</a:t>
            </a:r>
          </a:p>
        </p:txBody>
      </p:sp>
      <p:sp>
        <p:nvSpPr>
          <p:cNvPr id="16" name="text-337">
            <a:extLst>
              <a:ext uri="{FF2B5EF4-FFF2-40B4-BE49-F238E27FC236}">
                <a16:creationId xmlns:a16="http://schemas.microsoft.com/office/drawing/2014/main" id="{1C08B07B-A54F-4251-89EE-2AE5781947F8}"/>
              </a:ext>
            </a:extLst>
          </p:cNvPr>
          <p:cNvSpPr>
            <a:spLocks noGrp="1"/>
          </p:cNvSpPr>
          <p:nvPr/>
        </p:nvSpPr>
        <p:spPr>
          <a:xfrm>
            <a:off x="4438650" y="2152650"/>
            <a:ext cx="2457450" cy="419100"/>
          </a:xfrm>
          <a:prstGeom prst="rect">
            <a:avLst/>
          </a:prstGeom>
        </p:spPr>
        <p:txBody>
          <a:bodyPr wrap="square" lIns="0" tIns="0" rIns="0" bIns="0" anchor="t">
            <a:normAutofit fontScale="97976"/>
          </a:bodyPr>
          <a:lstStyle/>
          <a:p>
            <a:pPr algn="ctr">
              <a:defRPr sz="1725" b="1">
                <a:solidFill>
                  <a:srgbClr val="FFFFFF"/>
                </a:solidFill>
                <a:latin typeface="Helvetica Neue"/>
                <a:ea typeface="Helvetica Neue"/>
                <a:cs typeface="Helvetica Neue"/>
              </a:defRPr>
            </a:pPr>
            <a:r>
              <a:t>CampaignAnalyst PORT</a:t>
            </a:r>
          </a:p>
        </p:txBody>
      </p:sp>
      <p:sp>
        <p:nvSpPr>
          <p:cNvPr id="17" name="text-338">
            <a:extLst>
              <a:ext uri="{FF2B5EF4-FFF2-40B4-BE49-F238E27FC236}">
                <a16:creationId xmlns:a16="http://schemas.microsoft.com/office/drawing/2014/main" id="{81BF681D-401E-4943-BA97-C6DFD7BCAAE3}"/>
              </a:ext>
            </a:extLst>
          </p:cNvPr>
          <p:cNvSpPr>
            <a:spLocks noGrp="1"/>
          </p:cNvSpPr>
          <p:nvPr/>
        </p:nvSpPr>
        <p:spPr>
          <a:xfrm>
            <a:off x="4438650" y="2762250"/>
            <a:ext cx="2457450" cy="342900"/>
          </a:xfrm>
          <a:prstGeom prst="rect">
            <a:avLst/>
          </a:prstGeom>
        </p:spPr>
        <p:txBody>
          <a:bodyPr wrap="square" lIns="0" tIns="0" rIns="0" bIns="0" anchor="t">
            <a:normAutofit fontScale="89026"/>
          </a:bodyPr>
          <a:lstStyle/>
          <a:p>
            <a:pPr algn="ctr">
              <a:defRPr sz="1275" b="0">
                <a:solidFill>
                  <a:srgbClr val="FFFFFF"/>
                </a:solidFill>
                <a:latin typeface="Helvetica Neue"/>
                <a:ea typeface="Helvetica Neue"/>
                <a:cs typeface="Helvetica Neue"/>
              </a:defRPr>
            </a:pPr>
            <a:r>
              <a:t>Input and output contract stays stable</a:t>
            </a:r>
          </a:p>
        </p:txBody>
      </p:sp>
      <p:sp>
        <p:nvSpPr>
          <p:cNvPr id="18" name="text-339">
            <a:extLst>
              <a:ext uri="{FF2B5EF4-FFF2-40B4-BE49-F238E27FC236}">
                <a16:creationId xmlns:a16="http://schemas.microsoft.com/office/drawing/2014/main" id="{5A88179C-F912-42F2-95C6-981DFD003D01}"/>
              </a:ext>
            </a:extLst>
          </p:cNvPr>
          <p:cNvSpPr>
            <a:spLocks noGrp="1"/>
          </p:cNvSpPr>
          <p:nvPr/>
        </p:nvSpPr>
        <p:spPr>
          <a:xfrm>
            <a:off x="8629650" y="1504950"/>
            <a:ext cx="2847975" cy="285750"/>
          </a:xfrm>
          <a:prstGeom prst="rect">
            <a:avLst/>
          </a:prstGeom>
        </p:spPr>
        <p:txBody>
          <a:bodyPr wrap="square" lIns="0" tIns="0" rIns="0" bIns="0" anchor="t">
            <a:normAutofit/>
          </a:bodyPr>
          <a:lstStyle/>
          <a:p>
            <a:pPr algn="l">
              <a:defRPr sz="1350" b="1">
                <a:solidFill>
                  <a:srgbClr val="3D8DFF"/>
                </a:solidFill>
                <a:latin typeface="Helvetica Neue"/>
                <a:ea typeface="Helvetica Neue"/>
                <a:cs typeface="Helvetica Neue"/>
              </a:defRPr>
            </a:pPr>
            <a:r>
              <a:t>TODAY</a:t>
            </a:r>
          </a:p>
        </p:txBody>
      </p:sp>
      <p:sp>
        <p:nvSpPr>
          <p:cNvPr id="19" name="text-340">
            <a:extLst>
              <a:ext uri="{FF2B5EF4-FFF2-40B4-BE49-F238E27FC236}">
                <a16:creationId xmlns:a16="http://schemas.microsoft.com/office/drawing/2014/main" id="{D05DC021-5D91-4769-9FC6-E6F78B59785E}"/>
              </a:ext>
            </a:extLst>
          </p:cNvPr>
          <p:cNvSpPr>
            <a:spLocks noGrp="1"/>
          </p:cNvSpPr>
          <p:nvPr/>
        </p:nvSpPr>
        <p:spPr>
          <a:xfrm>
            <a:off x="8629650" y="1962150"/>
            <a:ext cx="2847975" cy="419100"/>
          </a:xfrm>
          <a:prstGeom prst="rect">
            <a:avLst/>
          </a:prstGeom>
        </p:spPr>
        <p:txBody>
          <a:bodyPr wrap="square" lIns="0" tIns="0" rIns="0" bIns="0" anchor="t">
            <a:normAutofit fontScale="87533"/>
          </a:bodyPr>
          <a:lstStyle/>
          <a:p>
            <a:pPr algn="l">
              <a:defRPr sz="1725" b="1">
                <a:solidFill>
                  <a:srgbClr val="000000"/>
                </a:solidFill>
                <a:latin typeface="Helvetica Neue"/>
                <a:ea typeface="Helvetica Neue"/>
                <a:cs typeface="Helvetica Neue"/>
              </a:defRPr>
            </a:pPr>
            <a:r>
              <a:t>SinglePromptCampaignAnalyst</a:t>
            </a:r>
          </a:p>
        </p:txBody>
      </p:sp>
      <p:sp>
        <p:nvSpPr>
          <p:cNvPr id="20" name="text-341">
            <a:extLst>
              <a:ext uri="{FF2B5EF4-FFF2-40B4-BE49-F238E27FC236}">
                <a16:creationId xmlns:a16="http://schemas.microsoft.com/office/drawing/2014/main" id="{4E7DC3F4-478B-4C97-8481-6E05A329FF8F}"/>
              </a:ext>
            </a:extLst>
          </p:cNvPr>
          <p:cNvSpPr>
            <a:spLocks noGrp="1"/>
          </p:cNvSpPr>
          <p:nvPr/>
        </p:nvSpPr>
        <p:spPr>
          <a:xfrm>
            <a:off x="8629650" y="3429000"/>
            <a:ext cx="2847975" cy="285750"/>
          </a:xfrm>
          <a:prstGeom prst="rect">
            <a:avLst/>
          </a:prstGeom>
        </p:spPr>
        <p:txBody>
          <a:bodyPr wrap="square" lIns="0" tIns="0" rIns="0" bIns="0" anchor="t">
            <a:normAutofit/>
          </a:bodyPr>
          <a:lstStyle/>
          <a:p>
            <a:pPr algn="l">
              <a:defRPr sz="1350" b="1">
                <a:solidFill>
                  <a:srgbClr val="3D8DFF"/>
                </a:solidFill>
                <a:latin typeface="Helvetica Neue"/>
                <a:ea typeface="Helvetica Neue"/>
                <a:cs typeface="Helvetica Neue"/>
              </a:defRPr>
            </a:pPr>
            <a:r>
              <a:t>LATER</a:t>
            </a:r>
          </a:p>
        </p:txBody>
      </p:sp>
      <p:sp>
        <p:nvSpPr>
          <p:cNvPr id="21" name="text-342">
            <a:extLst>
              <a:ext uri="{FF2B5EF4-FFF2-40B4-BE49-F238E27FC236}">
                <a16:creationId xmlns:a16="http://schemas.microsoft.com/office/drawing/2014/main" id="{8D18CED5-6C35-4FA6-9835-14FFC1D05A49}"/>
              </a:ext>
            </a:extLst>
          </p:cNvPr>
          <p:cNvSpPr>
            <a:spLocks noGrp="1"/>
          </p:cNvSpPr>
          <p:nvPr/>
        </p:nvSpPr>
        <p:spPr>
          <a:xfrm>
            <a:off x="8629650" y="3886200"/>
            <a:ext cx="2847975" cy="419100"/>
          </a:xfrm>
          <a:prstGeom prst="rect">
            <a:avLst/>
          </a:prstGeom>
        </p:spPr>
        <p:txBody>
          <a:bodyPr wrap="square" lIns="0" tIns="0" rIns="0" bIns="0" anchor="t">
            <a:normAutofit/>
          </a:bodyPr>
          <a:lstStyle/>
          <a:p>
            <a:pPr algn="l">
              <a:defRPr sz="1725" b="1">
                <a:solidFill>
                  <a:srgbClr val="000000"/>
                </a:solidFill>
                <a:latin typeface="Helvetica Neue"/>
                <a:ea typeface="Helvetica Neue"/>
                <a:cs typeface="Helvetica Neue"/>
              </a:defRPr>
            </a:pPr>
            <a:r>
              <a:t>CampaignAnalysisAgent</a:t>
            </a:r>
          </a:p>
        </p:txBody>
      </p:sp>
      <p:sp>
        <p:nvSpPr>
          <p:cNvPr id="22" name="text-343">
            <a:extLst>
              <a:ext uri="{FF2B5EF4-FFF2-40B4-BE49-F238E27FC236}">
                <a16:creationId xmlns:a16="http://schemas.microsoft.com/office/drawing/2014/main" id="{56010136-393B-4DAF-BFAA-2D0758FF18A5}"/>
              </a:ext>
            </a:extLst>
          </p:cNvPr>
          <p:cNvSpPr>
            <a:spLocks noGrp="1"/>
          </p:cNvSpPr>
          <p:nvPr/>
        </p:nvSpPr>
        <p:spPr>
          <a:xfrm>
            <a:off x="4438650" y="5295900"/>
            <a:ext cx="2457450" cy="323850"/>
          </a:xfrm>
          <a:prstGeom prst="rect">
            <a:avLst/>
          </a:prstGeom>
        </p:spPr>
        <p:txBody>
          <a:bodyPr wrap="square" lIns="0" tIns="0" rIns="0" bIns="0" anchor="t">
            <a:normAutofit/>
          </a:bodyPr>
          <a:lstStyle/>
          <a:p>
            <a:pPr algn="ctr">
              <a:defRPr sz="1800" b="1">
                <a:solidFill>
                  <a:srgbClr val="000000"/>
                </a:solidFill>
                <a:latin typeface="Helvetica Neue"/>
                <a:ea typeface="Helvetica Neue"/>
                <a:cs typeface="Helvetica Neue"/>
              </a:defRPr>
            </a:pPr>
            <a:r>
              <a:t>CampaignInsight</a:t>
            </a:r>
          </a:p>
        </p:txBody>
      </p:sp>
      <p:sp>
        <p:nvSpPr>
          <p:cNvPr id="23" name="text-344">
            <a:extLst>
              <a:ext uri="{FF2B5EF4-FFF2-40B4-BE49-F238E27FC236}">
                <a16:creationId xmlns:a16="http://schemas.microsoft.com/office/drawing/2014/main" id="{EFE38668-3615-435B-96BE-21A38B6885B4}"/>
              </a:ext>
            </a:extLst>
          </p:cNvPr>
          <p:cNvSpPr>
            <a:spLocks noGrp="1"/>
          </p:cNvSpPr>
          <p:nvPr/>
        </p:nvSpPr>
        <p:spPr>
          <a:xfrm>
            <a:off x="4438650" y="5657850"/>
            <a:ext cx="2457450" cy="228600"/>
          </a:xfrm>
          <a:prstGeom prst="rect">
            <a:avLst/>
          </a:prstGeom>
        </p:spPr>
        <p:txBody>
          <a:bodyPr wrap="square" lIns="0" tIns="0" rIns="0" bIns="0" anchor="t">
            <a:normAutofit/>
          </a:bodyPr>
          <a:lstStyle/>
          <a:p>
            <a:pPr algn="ctr">
              <a:defRPr sz="1200" b="0">
                <a:solidFill>
                  <a:srgbClr val="000000"/>
                </a:solidFill>
                <a:latin typeface="Helvetica Neue"/>
                <a:ea typeface="Helvetica Neue"/>
                <a:cs typeface="Helvetica Neue"/>
              </a:defRPr>
            </a:pPr>
            <a:r>
              <a:t>Validated structured output</a:t>
            </a:r>
          </a:p>
        </p:txBody>
      </p:sp>
      <p:sp>
        <p:nvSpPr>
          <p:cNvPr id="24" name="text-345">
            <a:extLst>
              <a:ext uri="{FF2B5EF4-FFF2-40B4-BE49-F238E27FC236}">
                <a16:creationId xmlns:a16="http://schemas.microsoft.com/office/drawing/2014/main" id="{ED59B13C-5EED-4B0C-A379-1D9E1F5A9A8D}"/>
              </a:ext>
            </a:extLst>
          </p:cNvPr>
          <p:cNvSpPr>
            <a:spLocks noGrp="1"/>
          </p:cNvSpPr>
          <p:nvPr/>
        </p:nvSpPr>
        <p:spPr>
          <a:xfrm>
            <a:off x="390525" y="5219700"/>
            <a:ext cx="3238500" cy="762000"/>
          </a:xfrm>
          <a:prstGeom prst="rect">
            <a:avLst/>
          </a:prstGeom>
        </p:spPr>
        <p:txBody>
          <a:bodyPr wrap="square" lIns="0" tIns="0" rIns="0" bIns="0" anchor="t">
            <a:normAutofit/>
          </a:bodyPr>
          <a:lstStyle/>
          <a:p>
            <a:pPr algn="l">
              <a:defRPr sz="1575" b="1">
                <a:solidFill>
                  <a:srgbClr val="3D8DFF"/>
                </a:solidFill>
                <a:latin typeface="Helvetica Neue"/>
                <a:ea typeface="Helvetica Neue"/>
                <a:cs typeface="Helvetica Neue"/>
              </a:defRPr>
            </a:pPr>
            <a:r>
              <a:t>Agents may query evidence tools; deterministic services remain the source of numbers and actions.</a:t>
            </a:r>
          </a:p>
        </p:txBody>
      </p:sp>
    </p:spTree>
    <p:extLst>
      <p:ext uri="{BB962C8B-B14F-4D97-AF65-F5344CB8AC3E}">
        <p14:creationId xmlns:p14="http://schemas.microsoft.com/office/powerpoint/2010/main" val="500656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21-title">
            <a:extLst>
              <a:ext uri="{FF2B5EF4-FFF2-40B4-BE49-F238E27FC236}">
                <a16:creationId xmlns:a16="http://schemas.microsoft.com/office/drawing/2014/main" id="{4E41DB8E-2A8F-4841-9A8A-C3B7C1F688E0}"/>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150" b="1">
                <a:solidFill>
                  <a:srgbClr val="000000"/>
                </a:solidFill>
                <a:latin typeface="Helvetica Neue"/>
                <a:ea typeface="Helvetica Neue"/>
                <a:cs typeface="Helvetica Neue"/>
              </a:defRPr>
            </a:pPr>
            <a:r>
              <a:t>One evidence base, three stakeholder views</a:t>
            </a:r>
          </a:p>
        </p:txBody>
      </p:sp>
      <p:cxnSp>
        <p:nvCxnSpPr>
          <p:cNvPr id="19" name="line-364"/>
          <p:cNvCxnSpPr/>
          <p:nvPr/>
        </p:nvCxnSpPr>
        <p:spPr>
          <a:xfrm>
            <a:off x="495300" y="1057275"/>
            <a:ext cx="11296650" cy="9525"/>
          </a:xfrm>
          <a:prstGeom prst="straightConnector1">
            <a:avLst/>
          </a:prstGeom>
          <a:ln w="9525">
            <a:solidFill>
              <a:srgbClr val="B8BCC4"/>
            </a:solidFill>
            <a:prstDash val="solid"/>
          </a:ln>
        </p:spPr>
      </p:cxnSp>
      <p:sp>
        <p:nvSpPr>
          <p:cNvPr id="3" name="slide-21-source">
            <a:extLst>
              <a:ext uri="{FF2B5EF4-FFF2-40B4-BE49-F238E27FC236}">
                <a16:creationId xmlns:a16="http://schemas.microsoft.com/office/drawing/2014/main" id="{DB9C6B57-CDB0-45BF-93BB-6D276E5D9A0E}"/>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agreed stakeholder report design</a:t>
            </a:r>
          </a:p>
        </p:txBody>
      </p:sp>
      <p:sp>
        <p:nvSpPr>
          <p:cNvPr id="4" name="slide-21-number">
            <a:extLst>
              <a:ext uri="{FF2B5EF4-FFF2-40B4-BE49-F238E27FC236}">
                <a16:creationId xmlns:a16="http://schemas.microsoft.com/office/drawing/2014/main" id="{DD95529D-1DC0-4571-AC0D-D76120C9F4A7}"/>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21</a:t>
            </a:r>
          </a:p>
        </p:txBody>
      </p:sp>
      <p:sp>
        <p:nvSpPr>
          <p:cNvPr id="5" name="shape-350">
            <a:extLst>
              <a:ext uri="{FF2B5EF4-FFF2-40B4-BE49-F238E27FC236}">
                <a16:creationId xmlns:a16="http://schemas.microsoft.com/office/drawing/2014/main" id="{4888B467-377C-4F4F-A7AE-902DF40DDE97}"/>
              </a:ext>
            </a:extLst>
          </p:cNvPr>
          <p:cNvSpPr>
            <a:spLocks noGrp="1"/>
          </p:cNvSpPr>
          <p:nvPr/>
        </p:nvSpPr>
        <p:spPr>
          <a:xfrm>
            <a:off x="390525" y="1657350"/>
            <a:ext cx="3562350" cy="3943350"/>
          </a:xfrm>
          <a:prstGeom prst="rect">
            <a:avLst/>
          </a:prstGeom>
          <a:solidFill>
            <a:srgbClr val="000000"/>
          </a:solidFill>
          <a:ln w="9525">
            <a:solidFill>
              <a:srgbClr val="000000"/>
            </a:solidFill>
            <a:prstDash val="solid"/>
          </a:ln>
        </p:spPr>
        <p:txBody>
          <a:bodyPr/>
          <a:lstStyle/>
          <a:p>
            <a:endParaRPr lang="en-DE"/>
          </a:p>
        </p:txBody>
      </p:sp>
      <p:sp>
        <p:nvSpPr>
          <p:cNvPr id="6" name="shape-351">
            <a:extLst>
              <a:ext uri="{FF2B5EF4-FFF2-40B4-BE49-F238E27FC236}">
                <a16:creationId xmlns:a16="http://schemas.microsoft.com/office/drawing/2014/main" id="{7FD93992-71C0-49ED-8516-B8EDFD08667C}"/>
              </a:ext>
            </a:extLst>
          </p:cNvPr>
          <p:cNvSpPr>
            <a:spLocks noGrp="1"/>
          </p:cNvSpPr>
          <p:nvPr/>
        </p:nvSpPr>
        <p:spPr>
          <a:xfrm>
            <a:off x="4314825" y="1657350"/>
            <a:ext cx="3562350" cy="3943350"/>
          </a:xfrm>
          <a:prstGeom prst="rect">
            <a:avLst/>
          </a:prstGeom>
          <a:solidFill>
            <a:srgbClr val="D0EDFA"/>
          </a:solidFill>
          <a:ln w="9525">
            <a:solidFill>
              <a:srgbClr val="B8BCC4"/>
            </a:solidFill>
            <a:prstDash val="solid"/>
          </a:ln>
        </p:spPr>
        <p:txBody>
          <a:bodyPr/>
          <a:lstStyle/>
          <a:p>
            <a:endParaRPr lang="en-DE"/>
          </a:p>
        </p:txBody>
      </p:sp>
      <p:sp>
        <p:nvSpPr>
          <p:cNvPr id="7" name="shape-352">
            <a:extLst>
              <a:ext uri="{FF2B5EF4-FFF2-40B4-BE49-F238E27FC236}">
                <a16:creationId xmlns:a16="http://schemas.microsoft.com/office/drawing/2014/main" id="{DE8875B2-FB8C-402F-90C8-BD77EC198AA7}"/>
              </a:ext>
            </a:extLst>
          </p:cNvPr>
          <p:cNvSpPr>
            <a:spLocks noGrp="1"/>
          </p:cNvSpPr>
          <p:nvPr/>
        </p:nvSpPr>
        <p:spPr>
          <a:xfrm>
            <a:off x="8239125" y="1657350"/>
            <a:ext cx="3562350" cy="3943350"/>
          </a:xfrm>
          <a:prstGeom prst="rect">
            <a:avLst/>
          </a:prstGeom>
          <a:solidFill>
            <a:srgbClr val="F7F7F7"/>
          </a:solidFill>
          <a:ln w="9525">
            <a:solidFill>
              <a:srgbClr val="B8BCC4"/>
            </a:solidFill>
            <a:prstDash val="solid"/>
          </a:ln>
        </p:spPr>
        <p:txBody>
          <a:bodyPr/>
          <a:lstStyle/>
          <a:p>
            <a:endParaRPr lang="en-DE"/>
          </a:p>
        </p:txBody>
      </p:sp>
      <p:sp>
        <p:nvSpPr>
          <p:cNvPr id="8" name="text-353">
            <a:extLst>
              <a:ext uri="{FF2B5EF4-FFF2-40B4-BE49-F238E27FC236}">
                <a16:creationId xmlns:a16="http://schemas.microsoft.com/office/drawing/2014/main" id="{760F3AEC-5995-4363-8DE5-38B46355D628}"/>
              </a:ext>
            </a:extLst>
          </p:cNvPr>
          <p:cNvSpPr>
            <a:spLocks noGrp="1"/>
          </p:cNvSpPr>
          <p:nvPr/>
        </p:nvSpPr>
        <p:spPr>
          <a:xfrm>
            <a:off x="723900" y="2019300"/>
            <a:ext cx="2895600" cy="381000"/>
          </a:xfrm>
          <a:prstGeom prst="rect">
            <a:avLst/>
          </a:prstGeom>
        </p:spPr>
        <p:txBody>
          <a:bodyPr wrap="square" lIns="0" tIns="0" rIns="0" bIns="0" anchor="t">
            <a:normAutofit/>
          </a:bodyPr>
          <a:lstStyle/>
          <a:p>
            <a:pPr algn="l">
              <a:defRPr sz="1875" b="1">
                <a:solidFill>
                  <a:srgbClr val="FFFFFF"/>
                </a:solidFill>
                <a:latin typeface="Helvetica Neue"/>
                <a:ea typeface="Helvetica Neue"/>
                <a:cs typeface="Helvetica Neue"/>
              </a:defRPr>
            </a:pPr>
            <a:r>
              <a:t>BUSINESS OWNER</a:t>
            </a:r>
          </a:p>
        </p:txBody>
      </p:sp>
      <p:sp>
        <p:nvSpPr>
          <p:cNvPr id="9" name="text-354">
            <a:extLst>
              <a:ext uri="{FF2B5EF4-FFF2-40B4-BE49-F238E27FC236}">
                <a16:creationId xmlns:a16="http://schemas.microsoft.com/office/drawing/2014/main" id="{82E7273F-7611-486D-9C8D-60430E2CD0A3}"/>
              </a:ext>
            </a:extLst>
          </p:cNvPr>
          <p:cNvSpPr>
            <a:spLocks noGrp="1"/>
          </p:cNvSpPr>
          <p:nvPr/>
        </p:nvSpPr>
        <p:spPr>
          <a:xfrm>
            <a:off x="723900" y="2647950"/>
            <a:ext cx="2895600" cy="285750"/>
          </a:xfrm>
          <a:prstGeom prst="rect">
            <a:avLst/>
          </a:prstGeom>
        </p:spPr>
        <p:txBody>
          <a:bodyPr wrap="square" lIns="0" tIns="0" rIns="0" bIns="0" anchor="t">
            <a:normAutofit/>
          </a:bodyPr>
          <a:lstStyle/>
          <a:p>
            <a:pPr algn="l">
              <a:defRPr sz="1350" b="1">
                <a:solidFill>
                  <a:srgbClr val="6DCBF4"/>
                </a:solidFill>
                <a:latin typeface="Helvetica Neue"/>
                <a:ea typeface="Helvetica Neue"/>
                <a:cs typeface="Helvetica Neue"/>
              </a:defRPr>
            </a:pPr>
            <a:r>
              <a:t>Needs decisions</a:t>
            </a:r>
          </a:p>
        </p:txBody>
      </p:sp>
      <p:sp>
        <p:nvSpPr>
          <p:cNvPr id="10" name="text-355">
            <a:extLst>
              <a:ext uri="{FF2B5EF4-FFF2-40B4-BE49-F238E27FC236}">
                <a16:creationId xmlns:a16="http://schemas.microsoft.com/office/drawing/2014/main" id="{D3D58A94-2A81-4447-A723-AA444C4B564B}"/>
              </a:ext>
            </a:extLst>
          </p:cNvPr>
          <p:cNvSpPr>
            <a:spLocks noGrp="1"/>
          </p:cNvSpPr>
          <p:nvPr/>
        </p:nvSpPr>
        <p:spPr>
          <a:xfrm>
            <a:off x="723900" y="3086100"/>
            <a:ext cx="2895600" cy="1981200"/>
          </a:xfrm>
          <a:prstGeom prst="rect">
            <a:avLst/>
          </a:prstGeom>
        </p:spPr>
        <p:txBody>
          <a:bodyPr wrap="square" lIns="0" tIns="0" rIns="0" bIns="0" anchor="t">
            <a:normAutofit/>
          </a:bodyPr>
          <a:lstStyle/>
          <a:p>
            <a:pPr algn="l">
              <a:defRPr sz="1575" b="0">
                <a:solidFill>
                  <a:srgbClr val="FFFFFF"/>
                </a:solidFill>
                <a:latin typeface="Helvetica Neue"/>
                <a:ea typeface="Helvetica Neue"/>
                <a:cs typeface="Helvetica Neue"/>
              </a:defRPr>
            </a:pPr>
            <a:r>
              <a:t>Spend and observed revenue
Profit-proxy caveat
Winners and risks
Normalized scenarios
Confidence status</a:t>
            </a:r>
          </a:p>
        </p:txBody>
      </p:sp>
      <p:sp>
        <p:nvSpPr>
          <p:cNvPr id="11" name="text-356">
            <a:extLst>
              <a:ext uri="{FF2B5EF4-FFF2-40B4-BE49-F238E27FC236}">
                <a16:creationId xmlns:a16="http://schemas.microsoft.com/office/drawing/2014/main" id="{3A13BFDC-15F4-4006-86F6-8A93DCEF5E81}"/>
              </a:ext>
            </a:extLst>
          </p:cNvPr>
          <p:cNvSpPr>
            <a:spLocks noGrp="1"/>
          </p:cNvSpPr>
          <p:nvPr/>
        </p:nvSpPr>
        <p:spPr>
          <a:xfrm>
            <a:off x="4648200" y="2019300"/>
            <a:ext cx="2895600" cy="381000"/>
          </a:xfrm>
          <a:prstGeom prst="rect">
            <a:avLst/>
          </a:prstGeom>
        </p:spPr>
        <p:txBody>
          <a:bodyPr wrap="square" lIns="0" tIns="0" rIns="0" bIns="0" anchor="t">
            <a:normAutofit/>
          </a:bodyPr>
          <a:lstStyle/>
          <a:p>
            <a:pPr algn="l">
              <a:defRPr sz="1875" b="1">
                <a:solidFill>
                  <a:srgbClr val="000000"/>
                </a:solidFill>
                <a:latin typeface="Helvetica Neue"/>
                <a:ea typeface="Helvetica Neue"/>
                <a:cs typeface="Helvetica Neue"/>
              </a:defRPr>
            </a:pPr>
            <a:r>
              <a:t>MARKETING DIRECTOR</a:t>
            </a:r>
          </a:p>
        </p:txBody>
      </p:sp>
      <p:sp>
        <p:nvSpPr>
          <p:cNvPr id="12" name="text-357">
            <a:extLst>
              <a:ext uri="{FF2B5EF4-FFF2-40B4-BE49-F238E27FC236}">
                <a16:creationId xmlns:a16="http://schemas.microsoft.com/office/drawing/2014/main" id="{A728018C-250D-475A-B123-23923AAA24BC}"/>
              </a:ext>
            </a:extLst>
          </p:cNvPr>
          <p:cNvSpPr>
            <a:spLocks noGrp="1"/>
          </p:cNvSpPr>
          <p:nvPr/>
        </p:nvSpPr>
        <p:spPr>
          <a:xfrm>
            <a:off x="4648200" y="2647950"/>
            <a:ext cx="2895600" cy="285750"/>
          </a:xfrm>
          <a:prstGeom prst="rect">
            <a:avLst/>
          </a:prstGeom>
        </p:spPr>
        <p:txBody>
          <a:bodyPr wrap="square" lIns="0" tIns="0" rIns="0" bIns="0" anchor="t">
            <a:normAutofit/>
          </a:bodyPr>
          <a:lstStyle/>
          <a:p>
            <a:pPr algn="l">
              <a:defRPr sz="1350" b="1">
                <a:solidFill>
                  <a:srgbClr val="3D8DFF"/>
                </a:solidFill>
                <a:latin typeface="Helvetica Neue"/>
                <a:ea typeface="Helvetica Neue"/>
                <a:cs typeface="Helvetica Neue"/>
              </a:defRPr>
            </a:pPr>
            <a:r>
              <a:t>Needs strategy</a:t>
            </a:r>
          </a:p>
        </p:txBody>
      </p:sp>
      <p:sp>
        <p:nvSpPr>
          <p:cNvPr id="13" name="text-358">
            <a:extLst>
              <a:ext uri="{FF2B5EF4-FFF2-40B4-BE49-F238E27FC236}">
                <a16:creationId xmlns:a16="http://schemas.microsoft.com/office/drawing/2014/main" id="{1A2B8D2E-585F-45C7-BF94-552E4D234523}"/>
              </a:ext>
            </a:extLst>
          </p:cNvPr>
          <p:cNvSpPr>
            <a:spLocks noGrp="1"/>
          </p:cNvSpPr>
          <p:nvPr/>
        </p:nvSpPr>
        <p:spPr>
          <a:xfrm>
            <a:off x="4648200" y="3086100"/>
            <a:ext cx="2895600" cy="1981200"/>
          </a:xfrm>
          <a:prstGeom prst="rect">
            <a:avLst/>
          </a:prstGeom>
        </p:spPr>
        <p:txBody>
          <a:bodyPr wrap="square" lIns="0" tIns="0" rIns="0" bIns="0" anchor="t">
            <a:normAutofit/>
          </a:bodyPr>
          <a:lstStyle/>
          <a:p>
            <a:pPr algn="l">
              <a:defRPr sz="1575" b="0">
                <a:solidFill>
                  <a:srgbClr val="000000"/>
                </a:solidFill>
                <a:latin typeface="Helvetica Neue"/>
                <a:ea typeface="Helvetica Neue"/>
                <a:cs typeface="Helvetica Neue"/>
              </a:defRPr>
            </a:pPr>
            <a:r>
              <a:t>Objective achievement
Portfolio by campaign type
Budget envelopes
Repeated lessons
Next controlled tests</a:t>
            </a:r>
          </a:p>
        </p:txBody>
      </p:sp>
      <p:sp>
        <p:nvSpPr>
          <p:cNvPr id="14" name="text-359">
            <a:extLst>
              <a:ext uri="{FF2B5EF4-FFF2-40B4-BE49-F238E27FC236}">
                <a16:creationId xmlns:a16="http://schemas.microsoft.com/office/drawing/2014/main" id="{194A8C9B-F7A9-437A-A12F-17A647EDEABD}"/>
              </a:ext>
            </a:extLst>
          </p:cNvPr>
          <p:cNvSpPr>
            <a:spLocks noGrp="1"/>
          </p:cNvSpPr>
          <p:nvPr/>
        </p:nvSpPr>
        <p:spPr>
          <a:xfrm>
            <a:off x="8572500" y="2019300"/>
            <a:ext cx="2895600" cy="381000"/>
          </a:xfrm>
          <a:prstGeom prst="rect">
            <a:avLst/>
          </a:prstGeom>
        </p:spPr>
        <p:txBody>
          <a:bodyPr wrap="square" lIns="0" tIns="0" rIns="0" bIns="0" anchor="t">
            <a:normAutofit fontScale="91654"/>
          </a:bodyPr>
          <a:lstStyle/>
          <a:p>
            <a:pPr algn="l">
              <a:defRPr sz="1875" b="1">
                <a:solidFill>
                  <a:srgbClr val="000000"/>
                </a:solidFill>
                <a:latin typeface="Helvetica Neue"/>
                <a:ea typeface="Helvetica Neue"/>
                <a:cs typeface="Helvetica Neue"/>
              </a:defRPr>
            </a:pPr>
            <a:r>
              <a:t>PERFORMANCE MANAGER</a:t>
            </a:r>
          </a:p>
        </p:txBody>
      </p:sp>
      <p:sp>
        <p:nvSpPr>
          <p:cNvPr id="15" name="text-360">
            <a:extLst>
              <a:ext uri="{FF2B5EF4-FFF2-40B4-BE49-F238E27FC236}">
                <a16:creationId xmlns:a16="http://schemas.microsoft.com/office/drawing/2014/main" id="{5A8FCBDF-9391-4FAA-BFDF-2382FC9F7BA2}"/>
              </a:ext>
            </a:extLst>
          </p:cNvPr>
          <p:cNvSpPr>
            <a:spLocks noGrp="1"/>
          </p:cNvSpPr>
          <p:nvPr/>
        </p:nvSpPr>
        <p:spPr>
          <a:xfrm>
            <a:off x="8572500" y="2647950"/>
            <a:ext cx="2895600" cy="285750"/>
          </a:xfrm>
          <a:prstGeom prst="rect">
            <a:avLst/>
          </a:prstGeom>
        </p:spPr>
        <p:txBody>
          <a:bodyPr wrap="square" lIns="0" tIns="0" rIns="0" bIns="0" anchor="t">
            <a:normAutofit/>
          </a:bodyPr>
          <a:lstStyle/>
          <a:p>
            <a:pPr algn="l">
              <a:defRPr sz="1350" b="1">
                <a:solidFill>
                  <a:srgbClr val="3D8DFF"/>
                </a:solidFill>
                <a:latin typeface="Helvetica Neue"/>
                <a:ea typeface="Helvetica Neue"/>
                <a:cs typeface="Helvetica Neue"/>
              </a:defRPr>
            </a:pPr>
            <a:r>
              <a:t>Needs execution</a:t>
            </a:r>
          </a:p>
        </p:txBody>
      </p:sp>
      <p:sp>
        <p:nvSpPr>
          <p:cNvPr id="16" name="text-361">
            <a:extLst>
              <a:ext uri="{FF2B5EF4-FFF2-40B4-BE49-F238E27FC236}">
                <a16:creationId xmlns:a16="http://schemas.microsoft.com/office/drawing/2014/main" id="{B242F2D7-EF13-45CB-B002-E131A29F363C}"/>
              </a:ext>
            </a:extLst>
          </p:cNvPr>
          <p:cNvSpPr>
            <a:spLocks noGrp="1"/>
          </p:cNvSpPr>
          <p:nvPr/>
        </p:nvSpPr>
        <p:spPr>
          <a:xfrm>
            <a:off x="8572500" y="3086100"/>
            <a:ext cx="2895600" cy="1981200"/>
          </a:xfrm>
          <a:prstGeom prst="rect">
            <a:avLst/>
          </a:prstGeom>
        </p:spPr>
        <p:txBody>
          <a:bodyPr wrap="square" lIns="0" tIns="0" rIns="0" bIns="0" anchor="t">
            <a:normAutofit/>
          </a:bodyPr>
          <a:lstStyle/>
          <a:p>
            <a:pPr algn="l">
              <a:defRPr sz="1575" b="0">
                <a:solidFill>
                  <a:srgbClr val="000000"/>
                </a:solidFill>
                <a:latin typeface="Helvetica Neue"/>
                <a:ea typeface="Helvetica Neue"/>
                <a:cs typeface="Helvetica Neue"/>
              </a:defRPr>
            </a:pPr>
            <a:r>
              <a:t>Campaign action
Adset and audience evidence
Ad and creative evidence
Parent gates
Monitoring thresholds</a:t>
            </a:r>
          </a:p>
        </p:txBody>
      </p:sp>
      <p:sp>
        <p:nvSpPr>
          <p:cNvPr id="17" name="text-362">
            <a:extLst>
              <a:ext uri="{FF2B5EF4-FFF2-40B4-BE49-F238E27FC236}">
                <a16:creationId xmlns:a16="http://schemas.microsoft.com/office/drawing/2014/main" id="{3E56CE8D-801C-4DAC-ABB6-EC452BCEA204}"/>
              </a:ext>
            </a:extLst>
          </p:cNvPr>
          <p:cNvSpPr>
            <a:spLocks noGrp="1"/>
          </p:cNvSpPr>
          <p:nvPr/>
        </p:nvSpPr>
        <p:spPr>
          <a:xfrm>
            <a:off x="1333500" y="5905500"/>
            <a:ext cx="9525000" cy="304800"/>
          </a:xfrm>
          <a:prstGeom prst="rect">
            <a:avLst/>
          </a:prstGeom>
        </p:spPr>
        <p:txBody>
          <a:bodyPr wrap="square" lIns="0" tIns="0" rIns="0" bIns="0" anchor="t">
            <a:normAutofit/>
          </a:bodyPr>
          <a:lstStyle/>
          <a:p>
            <a:pPr algn="ctr">
              <a:defRPr sz="1650" b="1">
                <a:solidFill>
                  <a:srgbClr val="3D8DFF"/>
                </a:solidFill>
                <a:latin typeface="Helvetica Neue"/>
                <a:ea typeface="Helvetica Neue"/>
                <a:cs typeface="Helvetica Neue"/>
              </a:defRPr>
            </a:pPr>
            <a:r>
              <a:t>The values do not change by audience; only the explanation and decision depth change.</a:t>
            </a:r>
          </a:p>
        </p:txBody>
      </p:sp>
    </p:spTree>
    <p:extLst>
      <p:ext uri="{BB962C8B-B14F-4D97-AF65-F5344CB8AC3E}">
        <p14:creationId xmlns:p14="http://schemas.microsoft.com/office/powerpoint/2010/main" val="845663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22-title">
            <a:extLst>
              <a:ext uri="{FF2B5EF4-FFF2-40B4-BE49-F238E27FC236}">
                <a16:creationId xmlns:a16="http://schemas.microsoft.com/office/drawing/2014/main" id="{550CFF45-82E4-4509-B017-AB1FF88D6DCC}"/>
              </a:ext>
            </a:extLst>
          </p:cNvPr>
          <p:cNvSpPr>
            <a:spLocks noGrp="1"/>
          </p:cNvSpPr>
          <p:nvPr/>
        </p:nvSpPr>
        <p:spPr>
          <a:xfrm>
            <a:off x="495300" y="323850"/>
            <a:ext cx="11296650" cy="628650"/>
          </a:xfrm>
          <a:prstGeom prst="rect">
            <a:avLst/>
          </a:prstGeom>
        </p:spPr>
        <p:txBody>
          <a:bodyPr wrap="square" lIns="0" tIns="0" rIns="0" bIns="0" anchor="ctr">
            <a:noAutofit/>
          </a:bodyPr>
          <a:lstStyle/>
          <a:p>
            <a:pPr algn="l">
              <a:defRPr sz="3450" b="1">
                <a:solidFill>
                  <a:srgbClr val="000000"/>
                </a:solidFill>
                <a:latin typeface="Helvetica Neue"/>
                <a:ea typeface="Helvetica Neue"/>
                <a:cs typeface="Helvetica Neue"/>
              </a:defRPr>
            </a:pPr>
            <a:r>
              <a:t>What exists now and what comes next</a:t>
            </a:r>
          </a:p>
        </p:txBody>
      </p:sp>
      <p:cxnSp>
        <p:nvCxnSpPr>
          <p:cNvPr id="13" name="line-375"/>
          <p:cNvCxnSpPr/>
          <p:nvPr/>
        </p:nvCxnSpPr>
        <p:spPr>
          <a:xfrm>
            <a:off x="495300" y="1057275"/>
            <a:ext cx="11296650" cy="9525"/>
          </a:xfrm>
          <a:prstGeom prst="straightConnector1">
            <a:avLst/>
          </a:prstGeom>
          <a:ln w="9525">
            <a:solidFill>
              <a:srgbClr val="B8BCC4"/>
            </a:solidFill>
            <a:prstDash val="solid"/>
          </a:ln>
        </p:spPr>
      </p:cxnSp>
      <p:sp>
        <p:nvSpPr>
          <p:cNvPr id="3" name="slide-22-source">
            <a:extLst>
              <a:ext uri="{FF2B5EF4-FFF2-40B4-BE49-F238E27FC236}">
                <a16:creationId xmlns:a16="http://schemas.microsoft.com/office/drawing/2014/main" id="{EA550FAD-3C22-4A7B-9A36-A75575D48AA6}"/>
              </a:ext>
            </a:extLst>
          </p:cNvPr>
          <p:cNvSpPr>
            <a:spLocks noGrp="1"/>
          </p:cNvSpPr>
          <p:nvPr/>
        </p:nvSpPr>
        <p:spPr>
          <a:xfrm>
            <a:off x="390525" y="6419850"/>
            <a:ext cx="9906000" cy="190500"/>
          </a:xfrm>
          <a:prstGeom prst="rect">
            <a:avLst/>
          </a:prstGeom>
        </p:spPr>
        <p:txBody>
          <a:bodyPr wrap="square" lIns="0" tIns="0" rIns="0" bIns="0" anchor="b">
            <a:normAutofit/>
          </a:bodyPr>
          <a:lstStyle/>
          <a:p>
            <a:pPr algn="l">
              <a:defRPr sz="900" b="0">
                <a:solidFill>
                  <a:srgbClr val="5F6368"/>
                </a:solidFill>
                <a:latin typeface="Helvetica Neue"/>
                <a:ea typeface="Helvetica Neue"/>
                <a:cs typeface="Helvetica Neue"/>
              </a:defRPr>
            </a:pPr>
            <a:r>
              <a:t>Source: src_2 current scaffold and test suite</a:t>
            </a:r>
          </a:p>
        </p:txBody>
      </p:sp>
      <p:sp>
        <p:nvSpPr>
          <p:cNvPr id="4" name="slide-22-number">
            <a:extLst>
              <a:ext uri="{FF2B5EF4-FFF2-40B4-BE49-F238E27FC236}">
                <a16:creationId xmlns:a16="http://schemas.microsoft.com/office/drawing/2014/main" id="{EDB9E14F-08BC-4A55-966A-25181659D19D}"/>
              </a:ext>
            </a:extLst>
          </p:cNvPr>
          <p:cNvSpPr>
            <a:spLocks noGrp="1"/>
          </p:cNvSpPr>
          <p:nvPr/>
        </p:nvSpPr>
        <p:spPr>
          <a:xfrm>
            <a:off x="11277600" y="6381750"/>
            <a:ext cx="514350" cy="228600"/>
          </a:xfrm>
          <a:prstGeom prst="rect">
            <a:avLst/>
          </a:prstGeom>
        </p:spPr>
        <p:txBody>
          <a:bodyPr wrap="square" lIns="0" tIns="0" rIns="0" bIns="0" anchor="b">
            <a:normAutofit/>
          </a:bodyPr>
          <a:lstStyle/>
          <a:p>
            <a:pPr algn="r">
              <a:defRPr sz="975" b="0">
                <a:solidFill>
                  <a:srgbClr val="000000"/>
                </a:solidFill>
                <a:latin typeface="Helvetica Neue"/>
                <a:ea typeface="Helvetica Neue"/>
                <a:cs typeface="Helvetica Neue"/>
              </a:defRPr>
            </a:pPr>
            <a:r>
              <a:t>22</a:t>
            </a:r>
          </a:p>
        </p:txBody>
      </p:sp>
      <p:sp>
        <p:nvSpPr>
          <p:cNvPr id="5" name="shape-367">
            <a:extLst>
              <a:ext uri="{FF2B5EF4-FFF2-40B4-BE49-F238E27FC236}">
                <a16:creationId xmlns:a16="http://schemas.microsoft.com/office/drawing/2014/main" id="{F8871C60-CA86-4DF6-B1A0-55326EDD09C0}"/>
              </a:ext>
            </a:extLst>
          </p:cNvPr>
          <p:cNvSpPr>
            <a:spLocks noGrp="1"/>
          </p:cNvSpPr>
          <p:nvPr/>
        </p:nvSpPr>
        <p:spPr>
          <a:xfrm>
            <a:off x="390525" y="1619250"/>
            <a:ext cx="5534025" cy="4038600"/>
          </a:xfrm>
          <a:prstGeom prst="rect">
            <a:avLst/>
          </a:prstGeom>
          <a:solidFill>
            <a:srgbClr val="D0EDFA"/>
          </a:solidFill>
          <a:ln w="9525">
            <a:solidFill>
              <a:srgbClr val="B8BCC4"/>
            </a:solidFill>
            <a:prstDash val="solid"/>
          </a:ln>
        </p:spPr>
        <p:txBody>
          <a:bodyPr/>
          <a:lstStyle/>
          <a:p>
            <a:endParaRPr lang="en-DE"/>
          </a:p>
        </p:txBody>
      </p:sp>
      <p:sp>
        <p:nvSpPr>
          <p:cNvPr id="6" name="shape-368">
            <a:extLst>
              <a:ext uri="{FF2B5EF4-FFF2-40B4-BE49-F238E27FC236}">
                <a16:creationId xmlns:a16="http://schemas.microsoft.com/office/drawing/2014/main" id="{31B5F390-0CFF-4C43-BC89-DAE22F068EE8}"/>
              </a:ext>
            </a:extLst>
          </p:cNvPr>
          <p:cNvSpPr>
            <a:spLocks noGrp="1"/>
          </p:cNvSpPr>
          <p:nvPr/>
        </p:nvSpPr>
        <p:spPr>
          <a:xfrm>
            <a:off x="6267450" y="1619250"/>
            <a:ext cx="5534025" cy="4038600"/>
          </a:xfrm>
          <a:prstGeom prst="rect">
            <a:avLst/>
          </a:prstGeom>
          <a:solidFill>
            <a:srgbClr val="F7F7F7"/>
          </a:solidFill>
          <a:ln w="9525">
            <a:solidFill>
              <a:srgbClr val="B8BCC4"/>
            </a:solidFill>
            <a:prstDash val="solid"/>
          </a:ln>
        </p:spPr>
        <p:txBody>
          <a:bodyPr/>
          <a:lstStyle/>
          <a:p>
            <a:endParaRPr lang="en-DE"/>
          </a:p>
        </p:txBody>
      </p:sp>
      <p:sp>
        <p:nvSpPr>
          <p:cNvPr id="7" name="text-369">
            <a:extLst>
              <a:ext uri="{FF2B5EF4-FFF2-40B4-BE49-F238E27FC236}">
                <a16:creationId xmlns:a16="http://schemas.microsoft.com/office/drawing/2014/main" id="{CEC80C76-4E24-44AB-A668-79D9715D39C2}"/>
              </a:ext>
            </a:extLst>
          </p:cNvPr>
          <p:cNvSpPr>
            <a:spLocks noGrp="1"/>
          </p:cNvSpPr>
          <p:nvPr/>
        </p:nvSpPr>
        <p:spPr>
          <a:xfrm>
            <a:off x="723900" y="1962150"/>
            <a:ext cx="4867275" cy="381000"/>
          </a:xfrm>
          <a:prstGeom prst="rect">
            <a:avLst/>
          </a:prstGeom>
        </p:spPr>
        <p:txBody>
          <a:bodyPr wrap="square" lIns="0" tIns="0" rIns="0" bIns="0" anchor="t">
            <a:normAutofit/>
          </a:bodyPr>
          <a:lstStyle/>
          <a:p>
            <a:pPr algn="l">
              <a:defRPr sz="1875" b="1">
                <a:solidFill>
                  <a:srgbClr val="3D8DFF"/>
                </a:solidFill>
                <a:latin typeface="Helvetica Neue"/>
                <a:ea typeface="Helvetica Neue"/>
                <a:cs typeface="Helvetica Neue"/>
              </a:defRPr>
            </a:pPr>
            <a:r>
              <a:t>IMPLEMENTED IN src_2</a:t>
            </a:r>
          </a:p>
        </p:txBody>
      </p:sp>
      <p:sp>
        <p:nvSpPr>
          <p:cNvPr id="8" name="text-370">
            <a:extLst>
              <a:ext uri="{FF2B5EF4-FFF2-40B4-BE49-F238E27FC236}">
                <a16:creationId xmlns:a16="http://schemas.microsoft.com/office/drawing/2014/main" id="{E384E000-D10B-469E-98F3-2E1F44D19ACC}"/>
              </a:ext>
            </a:extLst>
          </p:cNvPr>
          <p:cNvSpPr>
            <a:spLocks noGrp="1"/>
          </p:cNvSpPr>
          <p:nvPr/>
        </p:nvSpPr>
        <p:spPr>
          <a:xfrm>
            <a:off x="723900" y="2628900"/>
            <a:ext cx="4867275" cy="2552700"/>
          </a:xfrm>
          <a:prstGeom prst="rect">
            <a:avLst/>
          </a:prstGeom>
        </p:spPr>
        <p:txBody>
          <a:bodyPr wrap="square" lIns="0" tIns="0" rIns="0" bIns="0" anchor="t">
            <a:normAutofit/>
          </a:bodyPr>
          <a:lstStyle/>
          <a:p>
            <a:pPr algn="l">
              <a:defRPr sz="1575" b="0">
                <a:solidFill>
                  <a:srgbClr val="000000"/>
                </a:solidFill>
                <a:latin typeface="Helvetica Neue"/>
                <a:ea typeface="Helvetica Neue"/>
                <a:cs typeface="Helvetica Neue"/>
              </a:defRPr>
            </a:pPr>
            <a:r>
              <a:t>+ Package boundaries and paths
+ Copied Sample 2 input
+ Eight campaign YAML policies
+ Pydantic contracts
+ Pure KPI helpers
+ Rule-based target and action gates
+ Three focused prompts
+ Full suite: 94 tests passed</a:t>
            </a:r>
          </a:p>
        </p:txBody>
      </p:sp>
      <p:sp>
        <p:nvSpPr>
          <p:cNvPr id="9" name="text-371">
            <a:extLst>
              <a:ext uri="{FF2B5EF4-FFF2-40B4-BE49-F238E27FC236}">
                <a16:creationId xmlns:a16="http://schemas.microsoft.com/office/drawing/2014/main" id="{C7857CC8-90DA-4637-A6C5-E8AF62413F7F}"/>
              </a:ext>
            </a:extLst>
          </p:cNvPr>
          <p:cNvSpPr>
            <a:spLocks noGrp="1"/>
          </p:cNvSpPr>
          <p:nvPr/>
        </p:nvSpPr>
        <p:spPr>
          <a:xfrm>
            <a:off x="6600825" y="1962150"/>
            <a:ext cx="4867275" cy="381000"/>
          </a:xfrm>
          <a:prstGeom prst="rect">
            <a:avLst/>
          </a:prstGeom>
        </p:spPr>
        <p:txBody>
          <a:bodyPr wrap="square" lIns="0" tIns="0" rIns="0" bIns="0" anchor="t">
            <a:normAutofit/>
          </a:bodyPr>
          <a:lstStyle/>
          <a:p>
            <a:pPr algn="l">
              <a:defRPr sz="1875" b="1">
                <a:solidFill>
                  <a:srgbClr val="000000"/>
                </a:solidFill>
                <a:latin typeface="Helvetica Neue"/>
                <a:ea typeface="Helvetica Neue"/>
                <a:cs typeface="Helvetica Neue"/>
              </a:defRPr>
            </a:pPr>
            <a:r>
              <a:t>NEXT DETERMINISTIC INCREMENT</a:t>
            </a:r>
          </a:p>
        </p:txBody>
      </p:sp>
      <p:sp>
        <p:nvSpPr>
          <p:cNvPr id="10" name="text-372">
            <a:extLst>
              <a:ext uri="{FF2B5EF4-FFF2-40B4-BE49-F238E27FC236}">
                <a16:creationId xmlns:a16="http://schemas.microsoft.com/office/drawing/2014/main" id="{0B178754-5A0B-42A8-8A4A-AF50E6D1FBF0}"/>
              </a:ext>
            </a:extLst>
          </p:cNvPr>
          <p:cNvSpPr>
            <a:spLocks noGrp="1"/>
          </p:cNvSpPr>
          <p:nvPr/>
        </p:nvSpPr>
        <p:spPr>
          <a:xfrm>
            <a:off x="6600825" y="2628900"/>
            <a:ext cx="4867275" cy="2552700"/>
          </a:xfrm>
          <a:prstGeom prst="rect">
            <a:avLst/>
          </a:prstGeom>
        </p:spPr>
        <p:txBody>
          <a:bodyPr wrap="square" lIns="0" tIns="0" rIns="0" bIns="0" anchor="t">
            <a:normAutofit/>
          </a:bodyPr>
          <a:lstStyle/>
          <a:p>
            <a:pPr algn="l">
              <a:defRPr sz="1575" b="0">
                <a:solidFill>
                  <a:srgbClr val="000000"/>
                </a:solidFill>
                <a:latin typeface="Helvetica Neue"/>
                <a:ea typeface="Helvetica Neue"/>
                <a:cs typeface="Helvetica Neue"/>
              </a:defRPr>
            </a:pPr>
            <a:r>
              <a:t>1  Canonical normalizer
2  Entity aggregation views
3  Benchmark provenance
4  Evidence-pack builder
5  Parent-aware allocator
6  Artifact persistence
7  Baseline parity comparison
8  Streamlit integration</a:t>
            </a:r>
          </a:p>
        </p:txBody>
      </p:sp>
      <p:sp>
        <p:nvSpPr>
          <p:cNvPr id="11" name="text-373">
            <a:extLst>
              <a:ext uri="{FF2B5EF4-FFF2-40B4-BE49-F238E27FC236}">
                <a16:creationId xmlns:a16="http://schemas.microsoft.com/office/drawing/2014/main" id="{D2402F76-EDED-47C9-9B21-50D726CF48B2}"/>
              </a:ext>
            </a:extLst>
          </p:cNvPr>
          <p:cNvSpPr>
            <a:spLocks noGrp="1"/>
          </p:cNvSpPr>
          <p:nvPr/>
        </p:nvSpPr>
        <p:spPr>
          <a:xfrm>
            <a:off x="1238250" y="5905500"/>
            <a:ext cx="9715500" cy="323850"/>
          </a:xfrm>
          <a:prstGeom prst="rect">
            <a:avLst/>
          </a:prstGeom>
        </p:spPr>
        <p:txBody>
          <a:bodyPr wrap="square" lIns="0" tIns="0" rIns="0" bIns="0" anchor="t">
            <a:normAutofit/>
          </a:bodyPr>
          <a:lstStyle/>
          <a:p>
            <a:pPr algn="ctr">
              <a:defRPr sz="1725" b="1">
                <a:solidFill>
                  <a:srgbClr val="3D8DFF"/>
                </a:solidFill>
                <a:latin typeface="Helvetica Neue"/>
                <a:ea typeface="Helvetica Neue"/>
                <a:cs typeface="Helvetica Neue"/>
              </a:defRPr>
            </a:pPr>
            <a:r>
              <a:t>Agent implementation starts after the deterministic evidence path reaches parity.</a:t>
            </a:r>
          </a:p>
        </p:txBody>
      </p:sp>
    </p:spTree>
    <p:extLst>
      <p:ext uri="{BB962C8B-B14F-4D97-AF65-F5344CB8AC3E}">
        <p14:creationId xmlns:p14="http://schemas.microsoft.com/office/powerpoint/2010/main" val="754496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378">
            <a:extLst>
              <a:ext uri="{FF2B5EF4-FFF2-40B4-BE49-F238E27FC236}">
                <a16:creationId xmlns:a16="http://schemas.microsoft.com/office/drawing/2014/main" id="{A644AF6D-CC86-4FDD-80D7-A88661D58867}"/>
              </a:ext>
            </a:extLst>
          </p:cNvPr>
          <p:cNvSpPr>
            <a:spLocks noGrp="1"/>
          </p:cNvSpPr>
          <p:nvPr/>
        </p:nvSpPr>
        <p:spPr>
          <a:xfrm>
            <a:off x="390525" y="390525"/>
            <a:ext cx="4953000" cy="361950"/>
          </a:xfrm>
          <a:prstGeom prst="rect">
            <a:avLst/>
          </a:prstGeom>
        </p:spPr>
        <p:txBody>
          <a:bodyPr wrap="square" lIns="0" tIns="0" rIns="0" bIns="0" anchor="t">
            <a:normAutofit/>
          </a:bodyPr>
          <a:lstStyle/>
          <a:p>
            <a:pPr algn="l">
              <a:defRPr sz="1650" b="1">
                <a:solidFill>
                  <a:srgbClr val="3D8DFF"/>
                </a:solidFill>
                <a:latin typeface="Helvetica Neue"/>
                <a:ea typeface="Helvetica Neue"/>
                <a:cs typeface="Helvetica Neue"/>
              </a:defRPr>
            </a:pPr>
            <a:r>
              <a:t>THE OPERATING PRINCIPLE</a:t>
            </a:r>
          </a:p>
        </p:txBody>
      </p:sp>
      <p:sp>
        <p:nvSpPr>
          <p:cNvPr id="2" name="text-379">
            <a:extLst>
              <a:ext uri="{FF2B5EF4-FFF2-40B4-BE49-F238E27FC236}">
                <a16:creationId xmlns:a16="http://schemas.microsoft.com/office/drawing/2014/main" id="{2BB29EF1-C5DC-4D43-BD1F-8EDD08E0EBD5}"/>
              </a:ext>
            </a:extLst>
          </p:cNvPr>
          <p:cNvSpPr>
            <a:spLocks noGrp="1"/>
          </p:cNvSpPr>
          <p:nvPr/>
        </p:nvSpPr>
        <p:spPr>
          <a:xfrm>
            <a:off x="390525" y="1581150"/>
            <a:ext cx="10001250" cy="2800350"/>
          </a:xfrm>
          <a:prstGeom prst="rect">
            <a:avLst/>
          </a:prstGeom>
        </p:spPr>
        <p:txBody>
          <a:bodyPr wrap="square" lIns="0" tIns="0" rIns="0" bIns="0" anchor="b">
            <a:normAutofit/>
          </a:bodyPr>
          <a:lstStyle/>
          <a:p>
            <a:pPr algn="l">
              <a:defRPr sz="4950" b="1">
                <a:solidFill>
                  <a:srgbClr val="000000"/>
                </a:solidFill>
                <a:latin typeface="Helvetica Neue"/>
                <a:ea typeface="Helvetica Neue"/>
                <a:cs typeface="Helvetica Neue"/>
              </a:defRPr>
            </a:pPr>
            <a:r>
              <a:t>Trust the math.
Challenge the assumptions.
Keep AI reviewable.</a:t>
            </a:r>
          </a:p>
        </p:txBody>
      </p:sp>
      <p:cxnSp>
        <p:nvCxnSpPr>
          <p:cNvPr id="12" name="line-380"/>
          <p:cNvCxnSpPr/>
          <p:nvPr/>
        </p:nvCxnSpPr>
        <p:spPr>
          <a:xfrm>
            <a:off x="390525" y="4857750"/>
            <a:ext cx="11410950" cy="9525"/>
          </a:xfrm>
          <a:prstGeom prst="straightConnector1">
            <a:avLst/>
          </a:prstGeom>
          <a:ln w="9525">
            <a:solidFill>
              <a:srgbClr val="B8BCC4"/>
            </a:solidFill>
            <a:prstDash val="solid"/>
          </a:ln>
        </p:spPr>
      </p:cxnSp>
      <p:sp>
        <p:nvSpPr>
          <p:cNvPr id="4" name="text-381">
            <a:extLst>
              <a:ext uri="{FF2B5EF4-FFF2-40B4-BE49-F238E27FC236}">
                <a16:creationId xmlns:a16="http://schemas.microsoft.com/office/drawing/2014/main" id="{04D869D6-7E7D-45ED-B883-12A7D1FE9B8F}"/>
              </a:ext>
            </a:extLst>
          </p:cNvPr>
          <p:cNvSpPr>
            <a:spLocks noGrp="1"/>
          </p:cNvSpPr>
          <p:nvPr/>
        </p:nvSpPr>
        <p:spPr>
          <a:xfrm>
            <a:off x="390525" y="5257800"/>
            <a:ext cx="3143250" cy="323850"/>
          </a:xfrm>
          <a:prstGeom prst="rect">
            <a:avLst/>
          </a:prstGeom>
        </p:spPr>
        <p:txBody>
          <a:bodyPr wrap="square" lIns="0" tIns="0" rIns="0" bIns="0" anchor="t">
            <a:normAutofit/>
          </a:bodyPr>
          <a:lstStyle/>
          <a:p>
            <a:pPr algn="l">
              <a:defRPr sz="1725" b="1">
                <a:solidFill>
                  <a:srgbClr val="000000"/>
                </a:solidFill>
                <a:latin typeface="Helvetica Neue"/>
                <a:ea typeface="Helvetica Neue"/>
                <a:cs typeface="Helvetica Neue"/>
              </a:defRPr>
            </a:pPr>
            <a:r>
              <a:t>Deterministic evidence</a:t>
            </a:r>
          </a:p>
        </p:txBody>
      </p:sp>
      <p:sp>
        <p:nvSpPr>
          <p:cNvPr id="5" name="text-382">
            <a:extLst>
              <a:ext uri="{FF2B5EF4-FFF2-40B4-BE49-F238E27FC236}">
                <a16:creationId xmlns:a16="http://schemas.microsoft.com/office/drawing/2014/main" id="{2D95E626-F990-4D12-9624-982B6E57AC09}"/>
              </a:ext>
            </a:extLst>
          </p:cNvPr>
          <p:cNvSpPr>
            <a:spLocks noGrp="1"/>
          </p:cNvSpPr>
          <p:nvPr/>
        </p:nvSpPr>
        <p:spPr>
          <a:xfrm>
            <a:off x="4333875" y="5257800"/>
            <a:ext cx="3143250" cy="323850"/>
          </a:xfrm>
          <a:prstGeom prst="rect">
            <a:avLst/>
          </a:prstGeom>
        </p:spPr>
        <p:txBody>
          <a:bodyPr wrap="square" lIns="0" tIns="0" rIns="0" bIns="0" anchor="t">
            <a:normAutofit/>
          </a:bodyPr>
          <a:lstStyle/>
          <a:p>
            <a:pPr algn="l">
              <a:defRPr sz="1725" b="1">
                <a:solidFill>
                  <a:srgbClr val="000000"/>
                </a:solidFill>
                <a:latin typeface="Helvetica Neue"/>
                <a:ea typeface="Helvetica Neue"/>
                <a:cs typeface="Helvetica Neue"/>
              </a:defRPr>
            </a:pPr>
            <a:r>
              <a:t>Human-editable policy</a:t>
            </a:r>
          </a:p>
        </p:txBody>
      </p:sp>
      <p:sp>
        <p:nvSpPr>
          <p:cNvPr id="6" name="text-383">
            <a:extLst>
              <a:ext uri="{FF2B5EF4-FFF2-40B4-BE49-F238E27FC236}">
                <a16:creationId xmlns:a16="http://schemas.microsoft.com/office/drawing/2014/main" id="{C9152280-5068-4003-8F44-4C532325BCBD}"/>
              </a:ext>
            </a:extLst>
          </p:cNvPr>
          <p:cNvSpPr>
            <a:spLocks noGrp="1"/>
          </p:cNvSpPr>
          <p:nvPr/>
        </p:nvSpPr>
        <p:spPr>
          <a:xfrm>
            <a:off x="8277225" y="5257800"/>
            <a:ext cx="3143250" cy="323850"/>
          </a:xfrm>
          <a:prstGeom prst="rect">
            <a:avLst/>
          </a:prstGeom>
        </p:spPr>
        <p:txBody>
          <a:bodyPr wrap="square" lIns="0" tIns="0" rIns="0" bIns="0" anchor="t">
            <a:normAutofit/>
          </a:bodyPr>
          <a:lstStyle/>
          <a:p>
            <a:pPr algn="l">
              <a:defRPr sz="1725" b="1">
                <a:solidFill>
                  <a:srgbClr val="000000"/>
                </a:solidFill>
                <a:latin typeface="Helvetica Neue"/>
                <a:ea typeface="Helvetica Neue"/>
                <a:cs typeface="Helvetica Neue"/>
              </a:defRPr>
            </a:pPr>
            <a:r>
              <a:t>Replaceable intelligence</a:t>
            </a:r>
          </a:p>
        </p:txBody>
      </p:sp>
      <p:sp>
        <p:nvSpPr>
          <p:cNvPr id="7" name="text-384">
            <a:extLst>
              <a:ext uri="{FF2B5EF4-FFF2-40B4-BE49-F238E27FC236}">
                <a16:creationId xmlns:a16="http://schemas.microsoft.com/office/drawing/2014/main" id="{E93FCE83-D46C-4E68-BB16-B6262515E786}"/>
              </a:ext>
            </a:extLst>
          </p:cNvPr>
          <p:cNvSpPr>
            <a:spLocks noGrp="1"/>
          </p:cNvSpPr>
          <p:nvPr/>
        </p:nvSpPr>
        <p:spPr>
          <a:xfrm>
            <a:off x="390525" y="5715000"/>
            <a:ext cx="3143250" cy="457200"/>
          </a:xfrm>
          <a:prstGeom prst="rect">
            <a:avLst/>
          </a:prstGeom>
        </p:spPr>
        <p:txBody>
          <a:bodyPr wrap="square" lIns="0" tIns="0" rIns="0" bIns="0" anchor="t">
            <a:normAutofit/>
          </a:bodyPr>
          <a:lstStyle/>
          <a:p>
            <a:pPr algn="l">
              <a:defRPr sz="1350" b="0">
                <a:solidFill>
                  <a:srgbClr val="5F6368"/>
                </a:solidFill>
                <a:latin typeface="Helvetica Neue"/>
                <a:ea typeface="Helvetica Neue"/>
                <a:cs typeface="Helvetica Neue"/>
              </a:defRPr>
            </a:pPr>
            <a:r>
              <a:t>Same inputs produce the same facts</a:t>
            </a:r>
          </a:p>
        </p:txBody>
      </p:sp>
      <p:sp>
        <p:nvSpPr>
          <p:cNvPr id="8" name="text-385">
            <a:extLst>
              <a:ext uri="{FF2B5EF4-FFF2-40B4-BE49-F238E27FC236}">
                <a16:creationId xmlns:a16="http://schemas.microsoft.com/office/drawing/2014/main" id="{4A8F12E1-6AF1-4971-AC34-BAD4B958606E}"/>
              </a:ext>
            </a:extLst>
          </p:cNvPr>
          <p:cNvSpPr>
            <a:spLocks noGrp="1"/>
          </p:cNvSpPr>
          <p:nvPr/>
        </p:nvSpPr>
        <p:spPr>
          <a:xfrm>
            <a:off x="4333875" y="5715000"/>
            <a:ext cx="3143250" cy="457200"/>
          </a:xfrm>
          <a:prstGeom prst="rect">
            <a:avLst/>
          </a:prstGeom>
        </p:spPr>
        <p:txBody>
          <a:bodyPr wrap="square" lIns="0" tIns="0" rIns="0" bIns="0" anchor="t">
            <a:normAutofit/>
          </a:bodyPr>
          <a:lstStyle/>
          <a:p>
            <a:pPr algn="l">
              <a:defRPr sz="1350" b="0">
                <a:solidFill>
                  <a:srgbClr val="5F6368"/>
                </a:solidFill>
                <a:latin typeface="Helvetica Neue"/>
                <a:ea typeface="Helvetica Neue"/>
                <a:cs typeface="Helvetica Neue"/>
              </a:defRPr>
            </a:pPr>
            <a:r>
              <a:t>Business choices stay visible</a:t>
            </a:r>
          </a:p>
        </p:txBody>
      </p:sp>
      <p:sp>
        <p:nvSpPr>
          <p:cNvPr id="9" name="text-386">
            <a:extLst>
              <a:ext uri="{FF2B5EF4-FFF2-40B4-BE49-F238E27FC236}">
                <a16:creationId xmlns:a16="http://schemas.microsoft.com/office/drawing/2014/main" id="{8325C7D6-C5F9-4BCA-9A88-AE7D2B09BE80}"/>
              </a:ext>
            </a:extLst>
          </p:cNvPr>
          <p:cNvSpPr>
            <a:spLocks noGrp="1"/>
          </p:cNvSpPr>
          <p:nvPr/>
        </p:nvSpPr>
        <p:spPr>
          <a:xfrm>
            <a:off x="8277225" y="5715000"/>
            <a:ext cx="3143250" cy="457200"/>
          </a:xfrm>
          <a:prstGeom prst="rect">
            <a:avLst/>
          </a:prstGeom>
        </p:spPr>
        <p:txBody>
          <a:bodyPr wrap="square" lIns="0" tIns="0" rIns="0" bIns="0" anchor="t">
            <a:normAutofit/>
          </a:bodyPr>
          <a:lstStyle/>
          <a:p>
            <a:pPr algn="l">
              <a:defRPr sz="1350" b="0">
                <a:solidFill>
                  <a:srgbClr val="5F6368"/>
                </a:solidFill>
                <a:latin typeface="Helvetica Neue"/>
                <a:ea typeface="Helvetica Neue"/>
                <a:cs typeface="Helvetica Neue"/>
              </a:defRPr>
            </a:pPr>
            <a:r>
              <a:t>Prompts can become agents safely</a:t>
            </a:r>
          </a:p>
        </p:txBody>
      </p:sp>
    </p:spTree>
    <p:extLst>
      <p:ext uri="{BB962C8B-B14F-4D97-AF65-F5344CB8AC3E}">
        <p14:creationId xmlns:p14="http://schemas.microsoft.com/office/powerpoint/2010/main" val="10039969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549ac42a-3eb4-4074-b885-aea26bd6241e}" enabled="1" method="Standard" siteId="{9274ee3f-9425-4109-a27f-9fb15c10675d}" contentBits="0" removed="0"/>
</clbl:labelList>
</file>

<file path=docProps/app.xml><?xml version="1.0" encoding="utf-8"?>
<Properties xmlns="http://schemas.openxmlformats.org/officeDocument/2006/extended-properties" xmlns:vt="http://schemas.openxmlformats.org/officeDocument/2006/docPropsVTypes">
  <TotalTime>0</TotalTime>
  <Words>2780</Words>
  <Application>Microsoft Macintosh PowerPoint</Application>
  <DocSecurity>0</DocSecurity>
  <PresentationFormat>Widescreen</PresentationFormat>
  <Paragraphs>364</Paragraphs>
  <Slides>23</Slides>
  <Notes>23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vt:i4>
      </vt:variant>
    </vt:vector>
  </HeadingPairs>
  <TitlesOfParts>
    <vt:vector size="25"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Abdelmoaaty, Osama (LNG-PSG)</cp:lastModifiedBy>
  <cp:revision>1</cp:revision>
  <dcterms:created xsi:type="dcterms:W3CDTF">2026-07-20T12:17:51Z</dcterms:created>
  <dcterms:modified xsi:type="dcterms:W3CDTF">2026-07-20T15:10:54Z</dcterms:modified>
</cp:coreProperties>
</file>