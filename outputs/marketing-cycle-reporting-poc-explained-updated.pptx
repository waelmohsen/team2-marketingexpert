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8" r:id="rId3"/>
    <p:sldId id="259" r:id="rId4"/>
    <p:sldId id="260" r:id="rId5"/>
    <p:sldId id="261" r:id="rId6"/>
    <p:sldId id="262" r:id="rId7"/>
    <p:sldId id="263" r:id="rId8"/>
    <p:sldId id="264" r:id="rId9"/>
    <p:sldId id="265" r:id="rId10"/>
    <p:sldId id="267" r:id="rId11"/>
    <p:sldId id="268" r:id="rId12"/>
    <p:sldId id="269" r:id="rId13"/>
    <p:sldId id="270" r:id="rId14"/>
    <p:sldId id="271" r:id="rId15"/>
    <p:sldId id="280" r:id="rId16"/>
    <p:sldId id="281" r:id="rId17"/>
    <p:sldId id="282" r:id="rId1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8"/>
    <p:restoredTop sz="94639"/>
  </p:normalViewPr>
  <p:slideViewPr>
    <p:cSldViewPr snapToGrid="0">
      <p:cViewPr varScale="1">
        <p:scale>
          <a:sx n="149" d="100"/>
          <a:sy n="149" d="100"/>
        </p:scale>
        <p:origin x="192"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Net ROAS</c:v>
          </c:tx>
          <c:spPr>
            <a:solidFill>
              <a:srgbClr val="6DCBF4"/>
            </a:solidFill>
          </c:spPr>
          <c:invertIfNegative val="1"/>
          <c:dPt>
            <c:idx val="0"/>
            <c:invertIfNegative val="1"/>
            <c:bubble3D val="0"/>
            <c:spPr>
              <a:solidFill>
                <a:srgbClr val="D0EDFA"/>
              </a:solidFill>
            </c:spPr>
            <c:extLst>
              <c:ext xmlns:c16="http://schemas.microsoft.com/office/drawing/2014/chart" uri="{C3380CC4-5D6E-409C-BE32-E72D297353CC}">
                <c16:uniqueId val="{00000001-E9BB-4445-8A33-CDC141389600}"/>
              </c:ext>
            </c:extLst>
          </c:dPt>
          <c:dPt>
            <c:idx val="1"/>
            <c:invertIfNegative val="1"/>
            <c:bubble3D val="0"/>
            <c:spPr>
              <a:solidFill>
                <a:srgbClr val="3D8DFF"/>
              </a:solidFill>
            </c:spPr>
            <c:extLst>
              <c:ext xmlns:c16="http://schemas.microsoft.com/office/drawing/2014/chart" uri="{C3380CC4-5D6E-409C-BE32-E72D297353CC}">
                <c16:uniqueId val="{00000003-E9BB-4445-8A33-CDC141389600}"/>
              </c:ext>
            </c:extLst>
          </c:dPt>
          <c:dLbls>
            <c:spPr>
              <a:noFill/>
              <a:ln>
                <a:noFill/>
              </a:ln>
            </c:spPr>
            <c:txPr>
              <a:bodyPr anchorCtr="1"/>
              <a:lstStyle/>
              <a:p>
                <a:pPr>
                  <a:defRPr sz="1050" b="1">
                    <a:solidFill>
                      <a:srgbClr val="000000"/>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1% LAL</c:v>
              </c:pt>
              <c:pt idx="1">
                <c:v>Broad</c:v>
              </c:pt>
            </c:strLit>
          </c:cat>
          <c:val>
            <c:numLit>
              <c:formatCode>General</c:formatCode>
              <c:ptCount val="2"/>
              <c:pt idx="0">
                <c:v>2.2599999999999998</c:v>
              </c:pt>
              <c:pt idx="1">
                <c:v>5.53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E9BB-4445-8A33-CDC141389600}"/>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EDEDED"/>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00">
                <a:solidFill>
                  <a:srgbClr val="5F6368"/>
                </a:solidFill>
                <a:latin typeface="Helvetica Neue"/>
                <a:ea typeface="Helvetica Neue"/>
                <a:cs typeface="Helvetica Neue"/>
              </a:defRPr>
            </a:pPr>
            <a:endParaRPr lang="en-DE"/>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975">
                <a:solidFill>
                  <a:srgbClr val="000000"/>
                </a:solidFill>
                <a:latin typeface="Helvetica Neue"/>
                <a:ea typeface="Helvetica Neue"/>
                <a:cs typeface="Helvetica Neue"/>
              </a:defRPr>
            </a:pPr>
            <a:endParaRPr lang="en-DE"/>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Net ROAS</c:v>
          </c:tx>
          <c:spPr>
            <a:solidFill>
              <a:srgbClr val="6DCBF4"/>
            </a:solidFill>
          </c:spPr>
          <c:invertIfNegative val="1"/>
          <c:dPt>
            <c:idx val="0"/>
            <c:invertIfNegative val="1"/>
            <c:bubble3D val="0"/>
            <c:spPr>
              <a:solidFill>
                <a:srgbClr val="D0EDFA"/>
              </a:solidFill>
            </c:spPr>
            <c:extLst>
              <c:ext xmlns:c16="http://schemas.microsoft.com/office/drawing/2014/chart" uri="{C3380CC4-5D6E-409C-BE32-E72D297353CC}">
                <c16:uniqueId val="{00000001-0146-B54D-B371-F3C2CC56DD96}"/>
              </c:ext>
            </c:extLst>
          </c:dPt>
          <c:dPt>
            <c:idx val="2"/>
            <c:invertIfNegative val="1"/>
            <c:bubble3D val="0"/>
            <c:spPr>
              <a:solidFill>
                <a:srgbClr val="3D8DFF"/>
              </a:solidFill>
            </c:spPr>
            <c:extLst>
              <c:ext xmlns:c16="http://schemas.microsoft.com/office/drawing/2014/chart" uri="{C3380CC4-5D6E-409C-BE32-E72D297353CC}">
                <c16:uniqueId val="{00000003-0146-B54D-B371-F3C2CC56DD96}"/>
              </c:ext>
            </c:extLst>
          </c:dPt>
          <c:dLbls>
            <c:spPr>
              <a:noFill/>
              <a:ln>
                <a:noFill/>
              </a:ln>
            </c:spPr>
            <c:txPr>
              <a:bodyPr anchorCtr="1"/>
              <a:lstStyle/>
              <a:p>
                <a:pPr>
                  <a:defRPr sz="1050" b="1">
                    <a:solidFill>
                      <a:srgbClr val="000000"/>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Suh.</c:v>
              </c:pt>
              <c:pt idx="1">
                <c:v>Iftar</c:v>
              </c:pt>
              <c:pt idx="2">
                <c:v>Eid</c:v>
              </c:pt>
            </c:strLit>
          </c:cat>
          <c:val>
            <c:numLit>
              <c:formatCode>General</c:formatCode>
              <c:ptCount val="3"/>
              <c:pt idx="0">
                <c:v>1.18</c:v>
              </c:pt>
              <c:pt idx="1">
                <c:v>1.35</c:v>
              </c:pt>
              <c:pt idx="2">
                <c:v>4.34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0146-B54D-B371-F3C2CC56DD96}"/>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EDEDED"/>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00">
                <a:solidFill>
                  <a:srgbClr val="5F6368"/>
                </a:solidFill>
                <a:latin typeface="Helvetica Neue"/>
                <a:ea typeface="Helvetica Neue"/>
                <a:cs typeface="Helvetica Neue"/>
              </a:defRPr>
            </a:pPr>
            <a:endParaRPr lang="en-DE"/>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975">
                <a:solidFill>
                  <a:srgbClr val="000000"/>
                </a:solidFill>
                <a:latin typeface="Helvetica Neue"/>
                <a:ea typeface="Helvetica Neue"/>
                <a:cs typeface="Helvetica Neue"/>
              </a:defRPr>
            </a:pPr>
            <a:endParaRPr lang="en-DE"/>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Spend share</c:v>
          </c:tx>
          <c:spPr>
            <a:solidFill>
              <a:srgbClr val="6DCBF4"/>
            </a:solidFill>
          </c:spPr>
          <c:invertIfNegative val="1"/>
          <c:dPt>
            <c:idx val="2"/>
            <c:invertIfNegative val="1"/>
            <c:bubble3D val="0"/>
            <c:spPr>
              <a:solidFill>
                <a:srgbClr val="3D8DFF"/>
              </a:solidFill>
            </c:spPr>
            <c:extLst>
              <c:ext xmlns:c16="http://schemas.microsoft.com/office/drawing/2014/chart" uri="{C3380CC4-5D6E-409C-BE32-E72D297353CC}">
                <c16:uniqueId val="{00000001-BD33-9143-91A3-4E8340E80086}"/>
              </c:ext>
            </c:extLst>
          </c:dPt>
          <c:dLbls>
            <c:spPr>
              <a:noFill/>
              <a:ln>
                <a:noFill/>
              </a:ln>
            </c:spPr>
            <c:txPr>
              <a:bodyPr anchorCtr="1"/>
              <a:lstStyle/>
              <a:p>
                <a:pPr>
                  <a:defRPr sz="1050" b="1">
                    <a:solidFill>
                      <a:srgbClr val="000000"/>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8"/>
              <c:pt idx="0">
                <c:v>Awareness</c:v>
              </c:pt>
              <c:pt idx="1">
                <c:v>Retention</c:v>
              </c:pt>
              <c:pt idx="2">
                <c:v>Experimental</c:v>
              </c:pt>
              <c:pt idx="3">
                <c:v>Scale</c:v>
              </c:pt>
              <c:pt idx="4">
                <c:v>Promotional</c:v>
              </c:pt>
              <c:pt idx="5">
                <c:v>Launch</c:v>
              </c:pt>
              <c:pt idx="6">
                <c:v>Seasonal</c:v>
              </c:pt>
              <c:pt idx="7">
                <c:v>Always-on</c:v>
              </c:pt>
            </c:strLit>
          </c:cat>
          <c:val>
            <c:numLit>
              <c:formatCode>General</c:formatCode>
              <c:ptCount val="8"/>
              <c:pt idx="0">
                <c:v>1.48</c:v>
              </c:pt>
              <c:pt idx="1">
                <c:v>2.2400000000000002</c:v>
              </c:pt>
              <c:pt idx="2">
                <c:v>2.63</c:v>
              </c:pt>
              <c:pt idx="3">
                <c:v>7.82</c:v>
              </c:pt>
              <c:pt idx="4">
                <c:v>7.83</c:v>
              </c:pt>
              <c:pt idx="5">
                <c:v>17.05</c:v>
              </c:pt>
              <c:pt idx="6">
                <c:v>25.94</c:v>
              </c:pt>
              <c:pt idx="7">
                <c:v>35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BD33-9143-91A3-4E8340E80086}"/>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EDEDED"/>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00">
                <a:solidFill>
                  <a:srgbClr val="5F6368"/>
                </a:solidFill>
                <a:latin typeface="Helvetica Neue"/>
                <a:ea typeface="Helvetica Neue"/>
                <a:cs typeface="Helvetica Neue"/>
              </a:defRPr>
            </a:pPr>
            <a:endParaRPr lang="en-DE"/>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975">
                <a:solidFill>
                  <a:srgbClr val="000000"/>
                </a:solidFill>
                <a:latin typeface="Helvetica Neue"/>
                <a:ea typeface="Helvetica Neue"/>
                <a:cs typeface="Helvetica Neue"/>
              </a:defRPr>
            </a:pPr>
            <a:endParaRPr lang="en-DE"/>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Net ROAS</c:v>
          </c:tx>
          <c:spPr>
            <a:solidFill>
              <a:srgbClr val="6DCBF4"/>
            </a:solidFill>
          </c:spPr>
          <c:invertIfNegative val="1"/>
          <c:dPt>
            <c:idx val="0"/>
            <c:invertIfNegative val="1"/>
            <c:bubble3D val="0"/>
            <c:spPr>
              <a:solidFill>
                <a:srgbClr val="D0EDFA"/>
              </a:solidFill>
            </c:spPr>
            <c:extLst>
              <c:ext xmlns:c16="http://schemas.microsoft.com/office/drawing/2014/chart" uri="{C3380CC4-5D6E-409C-BE32-E72D297353CC}">
                <c16:uniqueId val="{00000001-300C-3140-BFEA-42F8AC211E2F}"/>
              </c:ext>
            </c:extLst>
          </c:dPt>
          <c:dPt>
            <c:idx val="2"/>
            <c:invertIfNegative val="1"/>
            <c:bubble3D val="0"/>
            <c:spPr>
              <a:solidFill>
                <a:srgbClr val="3D8DFF"/>
              </a:solidFill>
            </c:spPr>
            <c:extLst>
              <c:ext xmlns:c16="http://schemas.microsoft.com/office/drawing/2014/chart" uri="{C3380CC4-5D6E-409C-BE32-E72D297353CC}">
                <c16:uniqueId val="{00000003-300C-3140-BFEA-42F8AC211E2F}"/>
              </c:ext>
            </c:extLst>
          </c:dPt>
          <c:dLbls>
            <c:spPr>
              <a:noFill/>
              <a:ln>
                <a:noFill/>
              </a:ln>
            </c:spPr>
            <c:txPr>
              <a:bodyPr anchorCtr="1"/>
              <a:lstStyle/>
              <a:p>
                <a:pPr>
                  <a:defRPr sz="1050" b="1">
                    <a:solidFill>
                      <a:srgbClr val="000000"/>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Suh.</c:v>
              </c:pt>
              <c:pt idx="1">
                <c:v>Iftar</c:v>
              </c:pt>
              <c:pt idx="2">
                <c:v>Eid</c:v>
              </c:pt>
            </c:strLit>
          </c:cat>
          <c:val>
            <c:numLit>
              <c:formatCode>General</c:formatCode>
              <c:ptCount val="3"/>
              <c:pt idx="0">
                <c:v>1.18</c:v>
              </c:pt>
              <c:pt idx="1">
                <c:v>1.35</c:v>
              </c:pt>
              <c:pt idx="2">
                <c:v>4.34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300C-3140-BFEA-42F8AC211E2F}"/>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EDEDED"/>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00">
                <a:solidFill>
                  <a:srgbClr val="5F6368"/>
                </a:solidFill>
                <a:latin typeface="Helvetica Neue"/>
                <a:ea typeface="Helvetica Neue"/>
                <a:cs typeface="Helvetica Neue"/>
              </a:defRPr>
            </a:pPr>
            <a:endParaRPr lang="en-DE"/>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975">
                <a:solidFill>
                  <a:srgbClr val="000000"/>
                </a:solidFill>
                <a:latin typeface="Helvetica Neue"/>
                <a:ea typeface="Helvetica Neue"/>
                <a:cs typeface="Helvetica Neue"/>
              </a:defRPr>
            </a:pPr>
            <a:endParaRPr lang="en-DE"/>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Spend share</c:v>
          </c:tx>
          <c:spPr>
            <a:solidFill>
              <a:srgbClr val="6DCBF4"/>
            </a:solidFill>
          </c:spPr>
          <c:invertIfNegative val="1"/>
          <c:dPt>
            <c:idx val="2"/>
            <c:invertIfNegative val="1"/>
            <c:bubble3D val="0"/>
            <c:spPr>
              <a:solidFill>
                <a:srgbClr val="3D8DFF"/>
              </a:solidFill>
            </c:spPr>
            <c:extLst>
              <c:ext xmlns:c16="http://schemas.microsoft.com/office/drawing/2014/chart" uri="{C3380CC4-5D6E-409C-BE32-E72D297353CC}">
                <c16:uniqueId val="{00000001-F546-8643-AAF8-1E2D75788BC6}"/>
              </c:ext>
            </c:extLst>
          </c:dPt>
          <c:dLbls>
            <c:spPr>
              <a:noFill/>
              <a:ln>
                <a:noFill/>
              </a:ln>
            </c:spPr>
            <c:txPr>
              <a:bodyPr anchorCtr="1"/>
              <a:lstStyle/>
              <a:p>
                <a:pPr>
                  <a:defRPr sz="1050" b="1">
                    <a:solidFill>
                      <a:srgbClr val="000000"/>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Unallocated</c:v>
              </c:pt>
              <c:pt idx="1">
                <c:v>Eid Gifting</c:v>
              </c:pt>
              <c:pt idx="2">
                <c:v>Summer</c:v>
              </c:pt>
              <c:pt idx="3">
                <c:v>Lookalike</c:v>
              </c:pt>
              <c:pt idx="4">
                <c:v>Other funded</c:v>
              </c:pt>
              <c:pt idx="5">
                <c:v>Suhoor Specials</c:v>
              </c:pt>
              <c:pt idx="6">
                <c:v>Pre-Ramadan</c:v>
              </c:pt>
            </c:strLit>
          </c:cat>
          <c:val>
            <c:numLit>
              <c:formatCode>0.00</c:formatCode>
              <c:ptCount val="7"/>
              <c:pt idx="0">
                <c:v>37.235900000000001</c:v>
              </c:pt>
              <c:pt idx="1">
                <c:v>20.0745</c:v>
              </c:pt>
              <c:pt idx="2">
                <c:v>17.052</c:v>
              </c:pt>
              <c:pt idx="3">
                <c:v>7.8220000000000001</c:v>
              </c:pt>
              <c:pt idx="4">
                <c:v>7.1835000000000004</c:v>
              </c:pt>
              <c:pt idx="5">
                <c:v>5.8692000000000002</c:v>
              </c:pt>
              <c:pt idx="6">
                <c:v>4.7629000000000001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546-8643-AAF8-1E2D75788BC6}"/>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EDEDED"/>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00">
                <a:solidFill>
                  <a:srgbClr val="5F6368"/>
                </a:solidFill>
                <a:latin typeface="Helvetica Neue"/>
                <a:ea typeface="Helvetica Neue"/>
                <a:cs typeface="Helvetica Neue"/>
              </a:defRPr>
            </a:pPr>
            <a:endParaRPr lang="en-DE"/>
          </a:p>
        </c:txPr>
        <c:crossAx val="48672768"/>
        <c:crosses val="autoZero"/>
        <c:auto val="1"/>
        <c:lblAlgn val="ctr"/>
        <c:lblOffset val="100"/>
        <c:noMultiLvlLbl val="0"/>
      </c:catAx>
      <c:valAx>
        <c:axId val="48672768"/>
        <c:scaling>
          <c:orientation val="minMax"/>
        </c:scaling>
        <c:delete val="0"/>
        <c:axPos val="b"/>
        <c:numFmt formatCode="0.00" sourceLinked="1"/>
        <c:majorTickMark val="none"/>
        <c:minorTickMark val="none"/>
        <c:tickLblPos val="nextTo"/>
        <c:spPr>
          <a:ln w="0">
            <a:solidFill>
              <a:srgbClr val="FFFFFF"/>
            </a:solidFill>
            <a:prstDash val="solid"/>
          </a:ln>
        </c:spPr>
        <c:txPr>
          <a:bodyPr anchorCtr="1"/>
          <a:lstStyle/>
          <a:p>
            <a:pPr>
              <a:defRPr sz="975">
                <a:solidFill>
                  <a:srgbClr val="000000"/>
                </a:solidFill>
                <a:latin typeface="Helvetica Neue"/>
                <a:ea typeface="Helvetica Neue"/>
                <a:cs typeface="Helvetica Neue"/>
              </a:defRPr>
            </a:pPr>
            <a:endParaRPr lang="en-DE"/>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deck explains the business problem, the data model, deterministic calculations, decisions already taken in src_2, and how prompt implementations can later be replaced by agents. The existing src baseline and the src_2 target architecture are deliberately kept separate.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Campaign is the strategic container. Adset is where Meta targeting and optimization live. Audience is therefore an adset characteristic. An ad carries a creative, but ad performance also includes the adset context. The v2 policy will enforce parent-child eligibility.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not a fully reconciled conversion funnel. Meta reports attributed conversation-start actions; the WhatsApp file contains unique supplied conversation records. We can follow the 617 observed records into orders, but we cannot assume they represent all Meta-attributed starts.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giant flat join would multiply daily Meta rows by conversation rows and double-count spend or revenue. The v2 design keeps fact tables at natural grain and joins only after aggregation. Campaign and ad IDs are the conformed keys; adset is derivable from ad ownership.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join logic is working for the records we received. The unresolved issue is completeness and event semantics. This is why src_2 models evidence readiness separately and downgrades an apparent scale action to a controlled test when evidence is limited.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Meta metrics explain how efficiently media was delivered and whether it generated response. WhatsApp metrics describe downstream business quality. Net revenue and ROAS remain profit proxies because margin and fulfilment cost are absent.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word conversion is context dependent. Always name the denominator and the next step. ROAS is not profit because cost of goods, fulfilment, payment fees, and overhead are missing. AOV measures order size, not customer profitability.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Campaign type changes the success question. An awareness campaign should not be judged as though its primary purpose were immediate revenue. The YAML lookup supplies one primary KPI, supporting diagnostics, guardrails, allocation metric, and analysis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Weights are useful only when the business approves the trade-offs. For the POC, src_2 makes the primary objective explicit, uses supporting KPIs to explain it, and lets guardrails restrict a decision. This is easier to audit and teach.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Scale requires the allocation metric and critical guardrails to pass with ready evidence. Limited evidence deliberately downgrades a potential scale to keep as test. Positive spend with zero delivered orders becomes do not fund.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is not currently an independent causal entity; it is an adset attribute. Creative rollups can aggregate a creative ID across ads, but timing and audience differences remain confounders. The hierarchy provides diagnostic depth, not experimental proof.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observed association is useful: broad Gift-buyer targeting plus the Hostess Gift message is a strong next-cycle hypothesis. But the audience cannot be credited alone because the lookalike adset received a different creative and delivery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Eid is the strongest observed seasonal campaign by ROAS. The existing src engine also recommends the largest share of the seasonal envelope. The v2 decision adds an evidence-readiness gate, so this remains a scenario rather than an executable instruction.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Without business priorities, the POC should not decide whether awareness is more important than retention. It preserves the historical type mix. Experimental spend was EGP 10,579.62 out of EGP 402,274.64, giving 2.63 units. No maximum campaign concentration rule is applied.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Pydantic provides a structural contract, not a truth machine. It can require campaign_id, evidence_status, lists of findings, and valid enum values. It cannot by itself prove that a finding is supported by the supplied metrics. Production hardening should add semantic validators that reconcile IDs, confirm cited metrics exist in the evidence pack, and evaluate whether conclusions remain faithful to deterministic assessments.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Eid Gifting Premium is a concrete example. Its observed net revenue is EGP 64,990, with 28 delivered orders, AOV EGP 2,235, and observed ROAS 4.34x. The campaign analyst may explain why that is strong relative to seasonal peers and mention the evidence limitation. It does not choose the action. The deterministic engine downgrades scale to keep as test because the global outcome population is unreconciled, then assigns 20.07 illustrative units inside the seasonal envelope.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budget scenario is computed before portfolio synthesis and recommendation narration. Of 100 normalized units, 62.76 are assigned and 37.24 remain unallocated. Eid receives 20.07, Summer Premium Launch 17.05, and Lookalike Scale Cycle 3 receives 7.82. Unallocated units are deliberate: campaigns or type envelopes blocked by deterministic rules are not silently redistributed. The narrator must explain this scenario without rewriting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1">
            <a:extLst>
              <a:ext uri="{FF2B5EF4-FFF2-40B4-BE49-F238E27FC236}">
                <a16:creationId xmlns:a16="http://schemas.microsoft.com/office/drawing/2014/main" id="{54E4860D-AC43-4951-B8A1-29C957EE71B1}"/>
              </a:ext>
            </a:extLst>
          </p:cNvPr>
          <p:cNvSpPr>
            <a:spLocks noGrp="1"/>
          </p:cNvSpPr>
          <p:nvPr/>
        </p:nvSpPr>
        <p:spPr>
          <a:xfrm>
            <a:off x="390525" y="390525"/>
            <a:ext cx="4953000" cy="361950"/>
          </a:xfrm>
          <a:prstGeom prst="rect">
            <a:avLst/>
          </a:prstGeom>
        </p:spPr>
        <p:txBody>
          <a:bodyPr wrap="square" lIns="0" tIns="0" rIns="0" bIns="0" anchor="t">
            <a:normAutofit/>
          </a:bodyPr>
          <a:lstStyle/>
          <a:p>
            <a:pPr algn="l">
              <a:buNone/>
              <a:defRPr sz="1650" b="1">
                <a:solidFill>
                  <a:srgbClr val="3D8DFF"/>
                </a:solidFill>
                <a:latin typeface="Helvetica Neue"/>
                <a:ea typeface="Helvetica Neue"/>
                <a:cs typeface="Helvetica Neue"/>
              </a:defRPr>
            </a:pPr>
            <a:r>
              <a:t>TEAM 2 | MARKETING REPORTING</a:t>
            </a:r>
          </a:p>
        </p:txBody>
      </p:sp>
      <p:sp>
        <p:nvSpPr>
          <p:cNvPr id="2" name="text-2">
            <a:extLst>
              <a:ext uri="{FF2B5EF4-FFF2-40B4-BE49-F238E27FC236}">
                <a16:creationId xmlns:a16="http://schemas.microsoft.com/office/drawing/2014/main" id="{70D2DF2C-D6FB-4E48-B48B-2D09B0BA45FC}"/>
              </a:ext>
            </a:extLst>
          </p:cNvPr>
          <p:cNvSpPr>
            <a:spLocks noGrp="1"/>
          </p:cNvSpPr>
          <p:nvPr/>
        </p:nvSpPr>
        <p:spPr>
          <a:xfrm>
            <a:off x="390525" y="1581150"/>
            <a:ext cx="8096250" cy="2381250"/>
          </a:xfrm>
          <a:prstGeom prst="rect">
            <a:avLst/>
          </a:prstGeom>
        </p:spPr>
        <p:txBody>
          <a:bodyPr wrap="square" lIns="0" tIns="0" rIns="0" bIns="0" anchor="b">
            <a:noAutofit/>
          </a:bodyPr>
          <a:lstStyle/>
          <a:p>
            <a:pPr algn="l">
              <a:buNone/>
              <a:defRPr sz="5850" b="1">
                <a:solidFill>
                  <a:srgbClr val="000000"/>
                </a:solidFill>
                <a:latin typeface="Helvetica Neue"/>
                <a:ea typeface="Helvetica Neue"/>
                <a:cs typeface="Helvetica Neue"/>
              </a:defRPr>
            </a:pPr>
            <a:r>
              <a:t>Marketing Cycle
Reporting POC</a:t>
            </a:r>
          </a:p>
        </p:txBody>
      </p:sp>
      <p:sp>
        <p:nvSpPr>
          <p:cNvPr id="3" name="shape-3">
            <a:extLst>
              <a:ext uri="{FF2B5EF4-FFF2-40B4-BE49-F238E27FC236}">
                <a16:creationId xmlns:a16="http://schemas.microsoft.com/office/drawing/2014/main" id="{BECB1A58-E346-48DE-9E05-B0F6A4AB6429}"/>
              </a:ext>
            </a:extLst>
          </p:cNvPr>
          <p:cNvSpPr>
            <a:spLocks noGrp="1"/>
          </p:cNvSpPr>
          <p:nvPr/>
        </p:nvSpPr>
        <p:spPr>
          <a:xfrm>
            <a:off x="9067800" y="1581150"/>
            <a:ext cx="2724150" cy="2381250"/>
          </a:xfrm>
          <a:prstGeom prst="rect">
            <a:avLst/>
          </a:prstGeom>
          <a:solidFill>
            <a:srgbClr val="D0EDFA"/>
          </a:solidFill>
          <a:ln w="9525">
            <a:solidFill>
              <a:srgbClr val="D0EDFA"/>
            </a:solidFill>
            <a:prstDash val="solid"/>
          </a:ln>
        </p:spPr>
        <p:txBody>
          <a:bodyPr/>
          <a:lstStyle/>
          <a:p>
            <a:endParaRPr/>
          </a:p>
        </p:txBody>
      </p:sp>
      <p:sp>
        <p:nvSpPr>
          <p:cNvPr id="4" name="text-4">
            <a:extLst>
              <a:ext uri="{FF2B5EF4-FFF2-40B4-BE49-F238E27FC236}">
                <a16:creationId xmlns:a16="http://schemas.microsoft.com/office/drawing/2014/main" id="{2B3D860F-36B7-45E1-817D-8EC0AC194C93}"/>
              </a:ext>
            </a:extLst>
          </p:cNvPr>
          <p:cNvSpPr>
            <a:spLocks noGrp="1"/>
          </p:cNvSpPr>
          <p:nvPr/>
        </p:nvSpPr>
        <p:spPr>
          <a:xfrm>
            <a:off x="9401175" y="2047875"/>
            <a:ext cx="2095500" cy="1524000"/>
          </a:xfrm>
          <a:prstGeom prst="rect">
            <a:avLst/>
          </a:prstGeom>
        </p:spPr>
        <p:txBody>
          <a:bodyPr wrap="square" lIns="0" tIns="0" rIns="0" bIns="0" anchor="ctr">
            <a:normAutofit/>
          </a:bodyPr>
          <a:lstStyle/>
          <a:p>
            <a:pPr algn="ctr">
              <a:buNone/>
              <a:defRPr sz="2550" b="1">
                <a:solidFill>
                  <a:srgbClr val="000000"/>
                </a:solidFill>
                <a:latin typeface="Helvetica Neue"/>
                <a:ea typeface="Helvetica Neue"/>
                <a:cs typeface="Helvetica Neue"/>
              </a:defRPr>
            </a:pPr>
            <a:r>
              <a:t>META
+
WHATSAPP</a:t>
            </a:r>
          </a:p>
        </p:txBody>
      </p:sp>
      <p:sp>
        <p:nvSpPr>
          <p:cNvPr id="5" name="text-5">
            <a:extLst>
              <a:ext uri="{FF2B5EF4-FFF2-40B4-BE49-F238E27FC236}">
                <a16:creationId xmlns:a16="http://schemas.microsoft.com/office/drawing/2014/main" id="{D7CE11AD-F28D-484E-A6C6-20B3ACB045D5}"/>
              </a:ext>
            </a:extLst>
          </p:cNvPr>
          <p:cNvSpPr>
            <a:spLocks noGrp="1"/>
          </p:cNvSpPr>
          <p:nvPr/>
        </p:nvSpPr>
        <p:spPr>
          <a:xfrm>
            <a:off x="390525" y="4552950"/>
            <a:ext cx="8001000" cy="914400"/>
          </a:xfrm>
          <a:prstGeom prst="rect">
            <a:avLst/>
          </a:prstGeom>
        </p:spPr>
        <p:txBody>
          <a:bodyPr wrap="square" lIns="0" tIns="0" rIns="0" bIns="0" anchor="t">
            <a:normAutofit/>
          </a:bodyPr>
          <a:lstStyle/>
          <a:p>
            <a:pPr algn="l">
              <a:buNone/>
              <a:defRPr sz="2100" b="0">
                <a:solidFill>
                  <a:srgbClr val="5F6368"/>
                </a:solidFill>
                <a:latin typeface="Helvetica Neue"/>
                <a:ea typeface="Helvetica Neue"/>
                <a:cs typeface="Helvetica Neue"/>
              </a:defRPr>
            </a:pPr>
            <a:r>
              <a:t>How the code turns media delivery and observed business outcomes into explainable next-cycle scenarios</a:t>
            </a:r>
          </a:p>
        </p:txBody>
      </p:sp>
      <p:sp>
        <p:nvSpPr>
          <p:cNvPr id="6" name="text-6">
            <a:extLst>
              <a:ext uri="{FF2B5EF4-FFF2-40B4-BE49-F238E27FC236}">
                <a16:creationId xmlns:a16="http://schemas.microsoft.com/office/drawing/2014/main" id="{35D73EE1-2716-4C0A-A790-13A08220A29A}"/>
              </a:ext>
            </a:extLst>
          </p:cNvPr>
          <p:cNvSpPr>
            <a:spLocks noGrp="1"/>
          </p:cNvSpPr>
          <p:nvPr/>
        </p:nvSpPr>
        <p:spPr>
          <a:xfrm>
            <a:off x="390525" y="5981700"/>
            <a:ext cx="5905500" cy="285750"/>
          </a:xfrm>
          <a:prstGeom prst="rect">
            <a:avLst/>
          </a:prstGeom>
        </p:spPr>
        <p:txBody>
          <a:bodyPr wrap="square" lIns="0" tIns="0" rIns="0" bIns="0" anchor="t">
            <a:normAutofit/>
          </a:bodyPr>
          <a:lstStyle/>
          <a:p>
            <a:pPr algn="l">
              <a:buNone/>
              <a:defRPr sz="1350" b="1">
                <a:solidFill>
                  <a:srgbClr val="000000"/>
                </a:solidFill>
                <a:latin typeface="Helvetica Neue"/>
                <a:ea typeface="Helvetica Neue"/>
                <a:cs typeface="Helvetica Neue"/>
              </a:defRPr>
            </a:pPr>
            <a:r>
              <a:t>For data scientists new to marketing</a:t>
            </a:r>
          </a:p>
        </p:txBody>
      </p:sp>
    </p:spTree>
    <p:extLst>
      <p:ext uri="{BB962C8B-B14F-4D97-AF65-F5344CB8AC3E}">
        <p14:creationId xmlns:p14="http://schemas.microsoft.com/office/powerpoint/2010/main" val="886475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3-title">
            <a:extLst>
              <a:ext uri="{FF2B5EF4-FFF2-40B4-BE49-F238E27FC236}">
                <a16:creationId xmlns:a16="http://schemas.microsoft.com/office/drawing/2014/main" id="{F8857701-C36C-4030-A36C-3D885490786C}"/>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Marketing decisions follow a hierarchy</a:t>
            </a:r>
          </a:p>
        </p:txBody>
      </p:sp>
      <p:cxnSp>
        <p:nvCxnSpPr>
          <p:cNvPr id="42" name="line-45"/>
          <p:cNvCxnSpPr/>
          <p:nvPr/>
        </p:nvCxnSpPr>
        <p:spPr>
          <a:xfrm>
            <a:off x="495300" y="1057275"/>
            <a:ext cx="11296650" cy="9525"/>
          </a:xfrm>
          <a:prstGeom prst="straightConnector1">
            <a:avLst/>
          </a:prstGeom>
          <a:ln w="9525">
            <a:solidFill>
              <a:srgbClr val="B8BCC4"/>
            </a:solidFill>
            <a:prstDash val="solid"/>
          </a:ln>
        </p:spPr>
      </p:cxnSp>
      <p:sp>
        <p:nvSpPr>
          <p:cNvPr id="3" name="slide-3-source">
            <a:extLst>
              <a:ext uri="{FF2B5EF4-FFF2-40B4-BE49-F238E27FC236}">
                <a16:creationId xmlns:a16="http://schemas.microsoft.com/office/drawing/2014/main" id="{1A9D67B7-8586-40EA-82D1-296E25795F92}"/>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Sample 2 Meta hierarchy; src_2 domain models</a:t>
            </a:r>
          </a:p>
        </p:txBody>
      </p:sp>
      <p:sp>
        <p:nvSpPr>
          <p:cNvPr id="4" name="slide-3-number">
            <a:extLst>
              <a:ext uri="{FF2B5EF4-FFF2-40B4-BE49-F238E27FC236}">
                <a16:creationId xmlns:a16="http://schemas.microsoft.com/office/drawing/2014/main" id="{17E61B1A-FA7D-42B7-BFE4-03BE57C830CF}"/>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03</a:t>
            </a:r>
          </a:p>
        </p:txBody>
      </p:sp>
      <p:cxnSp>
        <p:nvCxnSpPr>
          <p:cNvPr id="45" name="line-24"/>
          <p:cNvCxnSpPr/>
          <p:nvPr/>
        </p:nvCxnSpPr>
        <p:spPr>
          <a:xfrm>
            <a:off x="2352675" y="3009900"/>
            <a:ext cx="990600" cy="9525"/>
          </a:xfrm>
          <a:prstGeom prst="straightConnector1">
            <a:avLst/>
          </a:prstGeom>
          <a:ln w="28575">
            <a:solidFill>
              <a:srgbClr val="3D8DFF"/>
            </a:solidFill>
            <a:prstDash val="solid"/>
          </a:ln>
        </p:spPr>
      </p:cxnSp>
      <p:cxnSp>
        <p:nvCxnSpPr>
          <p:cNvPr id="46" name="line-25"/>
          <p:cNvCxnSpPr/>
          <p:nvPr/>
        </p:nvCxnSpPr>
        <p:spPr>
          <a:xfrm>
            <a:off x="5305425" y="3009900"/>
            <a:ext cx="990600" cy="9525"/>
          </a:xfrm>
          <a:prstGeom prst="straightConnector1">
            <a:avLst/>
          </a:prstGeom>
          <a:ln w="28575">
            <a:solidFill>
              <a:srgbClr val="3D8DFF"/>
            </a:solidFill>
            <a:prstDash val="solid"/>
          </a:ln>
        </p:spPr>
      </p:cxnSp>
      <p:cxnSp>
        <p:nvCxnSpPr>
          <p:cNvPr id="47" name="line-26"/>
          <p:cNvCxnSpPr/>
          <p:nvPr/>
        </p:nvCxnSpPr>
        <p:spPr>
          <a:xfrm>
            <a:off x="8258175" y="3009900"/>
            <a:ext cx="990600" cy="9525"/>
          </a:xfrm>
          <a:prstGeom prst="straightConnector1">
            <a:avLst/>
          </a:prstGeom>
          <a:ln w="28575">
            <a:solidFill>
              <a:srgbClr val="3D8DFF"/>
            </a:solidFill>
            <a:prstDash val="solid"/>
          </a:ln>
        </p:spPr>
      </p:cxnSp>
      <p:cxnSp>
        <p:nvCxnSpPr>
          <p:cNvPr id="48" name="line-27"/>
          <p:cNvCxnSpPr/>
          <p:nvPr/>
        </p:nvCxnSpPr>
        <p:spPr>
          <a:xfrm>
            <a:off x="4324350" y="3943350"/>
            <a:ext cx="9525" cy="723900"/>
          </a:xfrm>
          <a:prstGeom prst="straightConnector1">
            <a:avLst/>
          </a:prstGeom>
          <a:ln w="19050">
            <a:solidFill>
              <a:srgbClr val="B8BCC4"/>
            </a:solidFill>
            <a:prstDash val="solid"/>
          </a:ln>
        </p:spPr>
      </p:cxnSp>
      <p:sp>
        <p:nvSpPr>
          <p:cNvPr id="9" name="shape-28">
            <a:extLst>
              <a:ext uri="{FF2B5EF4-FFF2-40B4-BE49-F238E27FC236}">
                <a16:creationId xmlns:a16="http://schemas.microsoft.com/office/drawing/2014/main" id="{80C01F4C-61BC-4BC1-8E0B-9A38FDC487B7}"/>
              </a:ext>
            </a:extLst>
          </p:cNvPr>
          <p:cNvSpPr>
            <a:spLocks noGrp="1"/>
          </p:cNvSpPr>
          <p:nvPr/>
        </p:nvSpPr>
        <p:spPr>
          <a:xfrm>
            <a:off x="390525" y="2247900"/>
            <a:ext cx="1962150" cy="1524000"/>
          </a:xfrm>
          <a:prstGeom prst="rect">
            <a:avLst/>
          </a:prstGeom>
          <a:solidFill>
            <a:srgbClr val="000000"/>
          </a:solidFill>
          <a:ln w="9525">
            <a:solidFill>
              <a:srgbClr val="000000"/>
            </a:solidFill>
            <a:prstDash val="solid"/>
          </a:ln>
        </p:spPr>
        <p:txBody>
          <a:bodyPr/>
          <a:lstStyle/>
          <a:p>
            <a:endParaRPr/>
          </a:p>
        </p:txBody>
      </p:sp>
      <p:sp>
        <p:nvSpPr>
          <p:cNvPr id="10" name="shape-29">
            <a:extLst>
              <a:ext uri="{FF2B5EF4-FFF2-40B4-BE49-F238E27FC236}">
                <a16:creationId xmlns:a16="http://schemas.microsoft.com/office/drawing/2014/main" id="{11889382-D652-4F07-B518-58F1B3E5E151}"/>
              </a:ext>
            </a:extLst>
          </p:cNvPr>
          <p:cNvSpPr>
            <a:spLocks noGrp="1"/>
          </p:cNvSpPr>
          <p:nvPr/>
        </p:nvSpPr>
        <p:spPr>
          <a:xfrm>
            <a:off x="3343275" y="2247900"/>
            <a:ext cx="1962150" cy="1524000"/>
          </a:xfrm>
          <a:prstGeom prst="rect">
            <a:avLst/>
          </a:prstGeom>
          <a:solidFill>
            <a:srgbClr val="D0EDFA"/>
          </a:solidFill>
          <a:ln w="9525">
            <a:solidFill>
              <a:srgbClr val="D0EDFA"/>
            </a:solidFill>
            <a:prstDash val="solid"/>
          </a:ln>
        </p:spPr>
        <p:txBody>
          <a:bodyPr/>
          <a:lstStyle/>
          <a:p>
            <a:endParaRPr/>
          </a:p>
        </p:txBody>
      </p:sp>
      <p:sp>
        <p:nvSpPr>
          <p:cNvPr id="11" name="shape-30">
            <a:extLst>
              <a:ext uri="{FF2B5EF4-FFF2-40B4-BE49-F238E27FC236}">
                <a16:creationId xmlns:a16="http://schemas.microsoft.com/office/drawing/2014/main" id="{0126AF1F-30EF-4516-9890-94759E9F42A4}"/>
              </a:ext>
            </a:extLst>
          </p:cNvPr>
          <p:cNvSpPr>
            <a:spLocks noGrp="1"/>
          </p:cNvSpPr>
          <p:nvPr/>
        </p:nvSpPr>
        <p:spPr>
          <a:xfrm>
            <a:off x="6296025" y="2247900"/>
            <a:ext cx="1962150" cy="1524000"/>
          </a:xfrm>
          <a:prstGeom prst="rect">
            <a:avLst/>
          </a:prstGeom>
          <a:solidFill>
            <a:srgbClr val="EDEDED"/>
          </a:solidFill>
          <a:ln w="9525">
            <a:solidFill>
              <a:srgbClr val="EDEDED"/>
            </a:solidFill>
            <a:prstDash val="solid"/>
          </a:ln>
        </p:spPr>
        <p:txBody>
          <a:bodyPr/>
          <a:lstStyle/>
          <a:p>
            <a:endParaRPr/>
          </a:p>
        </p:txBody>
      </p:sp>
      <p:sp>
        <p:nvSpPr>
          <p:cNvPr id="12" name="shape-31">
            <a:extLst>
              <a:ext uri="{FF2B5EF4-FFF2-40B4-BE49-F238E27FC236}">
                <a16:creationId xmlns:a16="http://schemas.microsoft.com/office/drawing/2014/main" id="{B253F150-CEA5-4B04-814D-2B7DD502F093}"/>
              </a:ext>
            </a:extLst>
          </p:cNvPr>
          <p:cNvSpPr>
            <a:spLocks noGrp="1"/>
          </p:cNvSpPr>
          <p:nvPr/>
        </p:nvSpPr>
        <p:spPr>
          <a:xfrm>
            <a:off x="9248775" y="2247900"/>
            <a:ext cx="1962150" cy="1524000"/>
          </a:xfrm>
          <a:prstGeom prst="rect">
            <a:avLst/>
          </a:prstGeom>
          <a:solidFill>
            <a:srgbClr val="F7F7F7"/>
          </a:solidFill>
          <a:ln w="9525">
            <a:solidFill>
              <a:srgbClr val="B8BCC4"/>
            </a:solidFill>
            <a:prstDash val="solid"/>
          </a:ln>
        </p:spPr>
        <p:txBody>
          <a:bodyPr/>
          <a:lstStyle/>
          <a:p>
            <a:endParaRPr/>
          </a:p>
        </p:txBody>
      </p:sp>
      <p:sp>
        <p:nvSpPr>
          <p:cNvPr id="13" name="shape-32">
            <a:extLst>
              <a:ext uri="{FF2B5EF4-FFF2-40B4-BE49-F238E27FC236}">
                <a16:creationId xmlns:a16="http://schemas.microsoft.com/office/drawing/2014/main" id="{38884D3D-13E0-414A-82BF-7B8291CEF870}"/>
              </a:ext>
            </a:extLst>
          </p:cNvPr>
          <p:cNvSpPr>
            <a:spLocks noGrp="1"/>
          </p:cNvSpPr>
          <p:nvPr/>
        </p:nvSpPr>
        <p:spPr>
          <a:xfrm>
            <a:off x="3343275" y="4667250"/>
            <a:ext cx="1962150" cy="1047750"/>
          </a:xfrm>
          <a:prstGeom prst="rect">
            <a:avLst/>
          </a:prstGeom>
          <a:solidFill>
            <a:srgbClr val="6DCBF4"/>
          </a:solidFill>
          <a:ln w="9525">
            <a:solidFill>
              <a:srgbClr val="6DCBF4"/>
            </a:solidFill>
            <a:prstDash val="solid"/>
          </a:ln>
        </p:spPr>
        <p:txBody>
          <a:bodyPr/>
          <a:lstStyle/>
          <a:p>
            <a:endParaRPr/>
          </a:p>
        </p:txBody>
      </p:sp>
      <p:sp>
        <p:nvSpPr>
          <p:cNvPr id="14" name="text-33">
            <a:extLst>
              <a:ext uri="{FF2B5EF4-FFF2-40B4-BE49-F238E27FC236}">
                <a16:creationId xmlns:a16="http://schemas.microsoft.com/office/drawing/2014/main" id="{AFD17B1F-65F4-44D2-A6A8-EF3C416D7DBF}"/>
              </a:ext>
            </a:extLst>
          </p:cNvPr>
          <p:cNvSpPr>
            <a:spLocks noGrp="1"/>
          </p:cNvSpPr>
          <p:nvPr/>
        </p:nvSpPr>
        <p:spPr>
          <a:xfrm>
            <a:off x="666750" y="2514600"/>
            <a:ext cx="1409700" cy="342900"/>
          </a:xfrm>
          <a:prstGeom prst="rect">
            <a:avLst/>
          </a:prstGeom>
        </p:spPr>
        <p:txBody>
          <a:bodyPr wrap="square" lIns="0" tIns="0" rIns="0" bIns="0" anchor="t">
            <a:normAutofit/>
          </a:bodyPr>
          <a:lstStyle/>
          <a:p>
            <a:pPr algn="ctr">
              <a:buNone/>
              <a:defRPr sz="1725" b="1">
                <a:solidFill>
                  <a:srgbClr val="FFFFFF"/>
                </a:solidFill>
                <a:latin typeface="Helvetica Neue"/>
                <a:ea typeface="Helvetica Neue"/>
                <a:cs typeface="Helvetica Neue"/>
              </a:defRPr>
            </a:pPr>
            <a:r>
              <a:t>CAMPAIGN</a:t>
            </a:r>
          </a:p>
        </p:txBody>
      </p:sp>
      <p:sp>
        <p:nvSpPr>
          <p:cNvPr id="15" name="text-34">
            <a:extLst>
              <a:ext uri="{FF2B5EF4-FFF2-40B4-BE49-F238E27FC236}">
                <a16:creationId xmlns:a16="http://schemas.microsoft.com/office/drawing/2014/main" id="{16BCD3F5-25BB-4E45-B081-C5DCC963B83A}"/>
              </a:ext>
            </a:extLst>
          </p:cNvPr>
          <p:cNvSpPr>
            <a:spLocks noGrp="1"/>
          </p:cNvSpPr>
          <p:nvPr/>
        </p:nvSpPr>
        <p:spPr>
          <a:xfrm>
            <a:off x="666750" y="3028950"/>
            <a:ext cx="1409700" cy="552450"/>
          </a:xfrm>
          <a:prstGeom prst="rect">
            <a:avLst/>
          </a:prstGeom>
        </p:spPr>
        <p:txBody>
          <a:bodyPr wrap="square" lIns="0" tIns="0" rIns="0" bIns="0" anchor="t">
            <a:normAutofit/>
          </a:bodyPr>
          <a:lstStyle/>
          <a:p>
            <a:pPr algn="ctr">
              <a:buNone/>
              <a:defRPr sz="1350" b="0">
                <a:solidFill>
                  <a:srgbClr val="FFFFFF"/>
                </a:solidFill>
                <a:latin typeface="Helvetica Neue"/>
                <a:ea typeface="Helvetica Neue"/>
                <a:cs typeface="Helvetica Neue"/>
              </a:defRPr>
            </a:pPr>
            <a:r>
              <a:t>Objective and strategic budget</a:t>
            </a:r>
          </a:p>
        </p:txBody>
      </p:sp>
      <p:sp>
        <p:nvSpPr>
          <p:cNvPr id="16" name="text-35">
            <a:extLst>
              <a:ext uri="{FF2B5EF4-FFF2-40B4-BE49-F238E27FC236}">
                <a16:creationId xmlns:a16="http://schemas.microsoft.com/office/drawing/2014/main" id="{F531AFB7-D894-468B-9F82-27766C2ED110}"/>
              </a:ext>
            </a:extLst>
          </p:cNvPr>
          <p:cNvSpPr>
            <a:spLocks noGrp="1"/>
          </p:cNvSpPr>
          <p:nvPr/>
        </p:nvSpPr>
        <p:spPr>
          <a:xfrm>
            <a:off x="3619500" y="2514600"/>
            <a:ext cx="1409700" cy="342900"/>
          </a:xfrm>
          <a:prstGeom prst="rect">
            <a:avLst/>
          </a:prstGeom>
        </p:spPr>
        <p:txBody>
          <a:bodyPr wrap="square" lIns="0" tIns="0" rIns="0" bIns="0" anchor="t">
            <a:normAutofit/>
          </a:bodyPr>
          <a:lstStyle/>
          <a:p>
            <a:pPr algn="ctr">
              <a:buNone/>
              <a:defRPr sz="1725" b="1">
                <a:solidFill>
                  <a:srgbClr val="000000"/>
                </a:solidFill>
                <a:latin typeface="Helvetica Neue"/>
                <a:ea typeface="Helvetica Neue"/>
                <a:cs typeface="Helvetica Neue"/>
              </a:defRPr>
            </a:pPr>
            <a:r>
              <a:t>ADSET</a:t>
            </a:r>
          </a:p>
        </p:txBody>
      </p:sp>
      <p:sp>
        <p:nvSpPr>
          <p:cNvPr id="17" name="text-36">
            <a:extLst>
              <a:ext uri="{FF2B5EF4-FFF2-40B4-BE49-F238E27FC236}">
                <a16:creationId xmlns:a16="http://schemas.microsoft.com/office/drawing/2014/main" id="{6F4BF23A-A57E-469B-A9B8-C394F2B2951C}"/>
              </a:ext>
            </a:extLst>
          </p:cNvPr>
          <p:cNvSpPr>
            <a:spLocks noGrp="1"/>
          </p:cNvSpPr>
          <p:nvPr/>
        </p:nvSpPr>
        <p:spPr>
          <a:xfrm>
            <a:off x="3619500" y="3028950"/>
            <a:ext cx="1409700" cy="571500"/>
          </a:xfrm>
          <a:prstGeom prst="rect">
            <a:avLst/>
          </a:prstGeom>
        </p:spPr>
        <p:txBody>
          <a:bodyPr wrap="square" lIns="0" tIns="0" rIns="0" bIns="0" anchor="t">
            <a:normAutofit fontScale="92593"/>
          </a:bodyPr>
          <a:lstStyle/>
          <a:p>
            <a:pPr algn="ctr">
              <a:buNone/>
              <a:defRPr sz="1350" b="0">
                <a:solidFill>
                  <a:srgbClr val="000000"/>
                </a:solidFill>
                <a:latin typeface="Helvetica Neue"/>
                <a:ea typeface="Helvetica Neue"/>
                <a:cs typeface="Helvetica Neue"/>
              </a:defRPr>
            </a:pPr>
            <a:r>
              <a:t>Audience, bid, budget, optimization</a:t>
            </a:r>
          </a:p>
        </p:txBody>
      </p:sp>
      <p:sp>
        <p:nvSpPr>
          <p:cNvPr id="18" name="text-37">
            <a:extLst>
              <a:ext uri="{FF2B5EF4-FFF2-40B4-BE49-F238E27FC236}">
                <a16:creationId xmlns:a16="http://schemas.microsoft.com/office/drawing/2014/main" id="{F1AFC297-CA60-45E5-8DF3-43321934E1D8}"/>
              </a:ext>
            </a:extLst>
          </p:cNvPr>
          <p:cNvSpPr>
            <a:spLocks noGrp="1"/>
          </p:cNvSpPr>
          <p:nvPr/>
        </p:nvSpPr>
        <p:spPr>
          <a:xfrm>
            <a:off x="6572250" y="2514600"/>
            <a:ext cx="1409700" cy="342900"/>
          </a:xfrm>
          <a:prstGeom prst="rect">
            <a:avLst/>
          </a:prstGeom>
        </p:spPr>
        <p:txBody>
          <a:bodyPr wrap="square" lIns="0" tIns="0" rIns="0" bIns="0" anchor="t">
            <a:normAutofit/>
          </a:bodyPr>
          <a:lstStyle/>
          <a:p>
            <a:pPr algn="ctr">
              <a:buNone/>
              <a:defRPr sz="1725" b="1">
                <a:solidFill>
                  <a:srgbClr val="000000"/>
                </a:solidFill>
                <a:latin typeface="Helvetica Neue"/>
                <a:ea typeface="Helvetica Neue"/>
                <a:cs typeface="Helvetica Neue"/>
              </a:defRPr>
            </a:pPr>
            <a:r>
              <a:t>AD</a:t>
            </a:r>
          </a:p>
        </p:txBody>
      </p:sp>
      <p:sp>
        <p:nvSpPr>
          <p:cNvPr id="19" name="text-38">
            <a:extLst>
              <a:ext uri="{FF2B5EF4-FFF2-40B4-BE49-F238E27FC236}">
                <a16:creationId xmlns:a16="http://schemas.microsoft.com/office/drawing/2014/main" id="{07A955FF-27EC-4740-993B-56872AA249CA}"/>
              </a:ext>
            </a:extLst>
          </p:cNvPr>
          <p:cNvSpPr>
            <a:spLocks noGrp="1"/>
          </p:cNvSpPr>
          <p:nvPr/>
        </p:nvSpPr>
        <p:spPr>
          <a:xfrm>
            <a:off x="6572250" y="3028950"/>
            <a:ext cx="1409700" cy="571500"/>
          </a:xfrm>
          <a:prstGeom prst="rect">
            <a:avLst/>
          </a:prstGeom>
        </p:spPr>
        <p:txBody>
          <a:bodyPr wrap="square" lIns="0" tIns="0" rIns="0" bIns="0" anchor="t">
            <a:normAutofit fontScale="97208"/>
          </a:bodyPr>
          <a:lstStyle/>
          <a:p>
            <a:pPr algn="ctr">
              <a:buNone/>
              <a:defRPr sz="1350" b="0">
                <a:solidFill>
                  <a:srgbClr val="000000"/>
                </a:solidFill>
                <a:latin typeface="Helvetica Neue"/>
                <a:ea typeface="Helvetica Neue"/>
                <a:cs typeface="Helvetica Neue"/>
              </a:defRPr>
            </a:pPr>
            <a:r>
              <a:t>Delivered message inside the adset</a:t>
            </a:r>
          </a:p>
        </p:txBody>
      </p:sp>
      <p:sp>
        <p:nvSpPr>
          <p:cNvPr id="20" name="text-39">
            <a:extLst>
              <a:ext uri="{FF2B5EF4-FFF2-40B4-BE49-F238E27FC236}">
                <a16:creationId xmlns:a16="http://schemas.microsoft.com/office/drawing/2014/main" id="{F2D30E05-919D-42C6-8347-CE6D0A441CC8}"/>
              </a:ext>
            </a:extLst>
          </p:cNvPr>
          <p:cNvSpPr>
            <a:spLocks noGrp="1"/>
          </p:cNvSpPr>
          <p:nvPr/>
        </p:nvSpPr>
        <p:spPr>
          <a:xfrm>
            <a:off x="9525000" y="2514600"/>
            <a:ext cx="1409700" cy="342900"/>
          </a:xfrm>
          <a:prstGeom prst="rect">
            <a:avLst/>
          </a:prstGeom>
        </p:spPr>
        <p:txBody>
          <a:bodyPr wrap="square" lIns="0" tIns="0" rIns="0" bIns="0" anchor="t">
            <a:normAutofit/>
          </a:bodyPr>
          <a:lstStyle/>
          <a:p>
            <a:pPr algn="ctr">
              <a:buNone/>
              <a:defRPr sz="1725" b="1">
                <a:solidFill>
                  <a:srgbClr val="000000"/>
                </a:solidFill>
                <a:latin typeface="Helvetica Neue"/>
                <a:ea typeface="Helvetica Neue"/>
                <a:cs typeface="Helvetica Neue"/>
              </a:defRPr>
            </a:pPr>
            <a:r>
              <a:t>CREATIVE</a:t>
            </a:r>
          </a:p>
        </p:txBody>
      </p:sp>
      <p:sp>
        <p:nvSpPr>
          <p:cNvPr id="21" name="text-40">
            <a:extLst>
              <a:ext uri="{FF2B5EF4-FFF2-40B4-BE49-F238E27FC236}">
                <a16:creationId xmlns:a16="http://schemas.microsoft.com/office/drawing/2014/main" id="{3ACA995A-9038-44C4-89E9-65341AC8FE72}"/>
              </a:ext>
            </a:extLst>
          </p:cNvPr>
          <p:cNvSpPr>
            <a:spLocks noGrp="1"/>
          </p:cNvSpPr>
          <p:nvPr/>
        </p:nvSpPr>
        <p:spPr>
          <a:xfrm>
            <a:off x="9525000" y="3028950"/>
            <a:ext cx="1409700" cy="571500"/>
          </a:xfrm>
          <a:prstGeom prst="rect">
            <a:avLst/>
          </a:prstGeom>
        </p:spPr>
        <p:txBody>
          <a:bodyPr wrap="square" lIns="0" tIns="0" rIns="0" bIns="0" anchor="t">
            <a:normAutofit fontScale="97381"/>
          </a:bodyPr>
          <a:lstStyle/>
          <a:p>
            <a:pPr algn="ctr">
              <a:buNone/>
              <a:defRPr sz="1350" b="0">
                <a:solidFill>
                  <a:srgbClr val="000000"/>
                </a:solidFill>
                <a:latin typeface="Helvetica Neue"/>
                <a:ea typeface="Helvetica Neue"/>
                <a:cs typeface="Helvetica Neue"/>
              </a:defRPr>
            </a:pPr>
            <a:r>
              <a:t>Image or video, copy, theme, angle</a:t>
            </a:r>
          </a:p>
        </p:txBody>
      </p:sp>
      <p:sp>
        <p:nvSpPr>
          <p:cNvPr id="22" name="text-41">
            <a:extLst>
              <a:ext uri="{FF2B5EF4-FFF2-40B4-BE49-F238E27FC236}">
                <a16:creationId xmlns:a16="http://schemas.microsoft.com/office/drawing/2014/main" id="{1B8CBDFE-E8DB-4646-AFD8-33AF31237C6B}"/>
              </a:ext>
            </a:extLst>
          </p:cNvPr>
          <p:cNvSpPr>
            <a:spLocks noGrp="1"/>
          </p:cNvSpPr>
          <p:nvPr/>
        </p:nvSpPr>
        <p:spPr>
          <a:xfrm>
            <a:off x="3619500" y="4914900"/>
            <a:ext cx="1409700" cy="285750"/>
          </a:xfrm>
          <a:prstGeom prst="rect">
            <a:avLst/>
          </a:prstGeom>
        </p:spPr>
        <p:txBody>
          <a:bodyPr wrap="square" lIns="0" tIns="0" rIns="0" bIns="0" anchor="t">
            <a:normAutofit/>
          </a:bodyPr>
          <a:lstStyle/>
          <a:p>
            <a:pPr algn="ctr">
              <a:buNone/>
              <a:defRPr sz="1650" b="1">
                <a:solidFill>
                  <a:srgbClr val="000000"/>
                </a:solidFill>
                <a:latin typeface="Helvetica Neue"/>
                <a:ea typeface="Helvetica Neue"/>
                <a:cs typeface="Helvetica Neue"/>
              </a:defRPr>
            </a:pPr>
            <a:r>
              <a:t>AUDIENCE</a:t>
            </a:r>
          </a:p>
        </p:txBody>
      </p:sp>
      <p:sp>
        <p:nvSpPr>
          <p:cNvPr id="23" name="text-42">
            <a:extLst>
              <a:ext uri="{FF2B5EF4-FFF2-40B4-BE49-F238E27FC236}">
                <a16:creationId xmlns:a16="http://schemas.microsoft.com/office/drawing/2014/main" id="{49CAC49E-0B55-4D83-BD9C-E02BFFA8E0F3}"/>
              </a:ext>
            </a:extLst>
          </p:cNvPr>
          <p:cNvSpPr>
            <a:spLocks noGrp="1"/>
          </p:cNvSpPr>
          <p:nvPr/>
        </p:nvSpPr>
        <p:spPr>
          <a:xfrm>
            <a:off x="3524250" y="5257800"/>
            <a:ext cx="1600200" cy="361950"/>
          </a:xfrm>
          <a:prstGeom prst="rect">
            <a:avLst/>
          </a:prstGeom>
        </p:spPr>
        <p:txBody>
          <a:bodyPr wrap="square" lIns="0" tIns="0" rIns="0" bIns="0" anchor="t">
            <a:normAutofit fontScale="98958"/>
          </a:bodyPr>
          <a:lstStyle/>
          <a:p>
            <a:pPr algn="ctr">
              <a:buNone/>
              <a:defRPr sz="1200" b="0">
                <a:solidFill>
                  <a:srgbClr val="000000"/>
                </a:solidFill>
                <a:latin typeface="Helvetica Neue"/>
                <a:ea typeface="Helvetica Neue"/>
                <a:cs typeface="Helvetica Neue"/>
              </a:defRPr>
            </a:pPr>
            <a:r>
              <a:t>Broad, lookalike, retargeting, custom</a:t>
            </a:r>
          </a:p>
        </p:txBody>
      </p:sp>
      <p:sp>
        <p:nvSpPr>
          <p:cNvPr id="24" name="text-43">
            <a:extLst>
              <a:ext uri="{FF2B5EF4-FFF2-40B4-BE49-F238E27FC236}">
                <a16:creationId xmlns:a16="http://schemas.microsoft.com/office/drawing/2014/main" id="{8883C6E2-15F1-4E8F-8C2B-CF9C9D516F83}"/>
              </a:ext>
            </a:extLst>
          </p:cNvPr>
          <p:cNvSpPr>
            <a:spLocks noGrp="1"/>
          </p:cNvSpPr>
          <p:nvPr/>
        </p:nvSpPr>
        <p:spPr>
          <a:xfrm>
            <a:off x="6296025" y="4648200"/>
            <a:ext cx="4914900" cy="1066800"/>
          </a:xfrm>
          <a:prstGeom prst="rect">
            <a:avLst/>
          </a:prstGeom>
        </p:spPr>
        <p:txBody>
          <a:bodyPr wrap="square" lIns="0" tIns="0" rIns="0" bIns="0" anchor="ctr">
            <a:normAutofit/>
          </a:bodyPr>
          <a:lstStyle/>
          <a:p>
            <a:pPr algn="l">
              <a:buNone/>
              <a:defRPr sz="1950" b="1">
                <a:solidFill>
                  <a:srgbClr val="3D8DFF"/>
                </a:solidFill>
                <a:latin typeface="Helvetica Neue"/>
                <a:ea typeface="Helvetica Neue"/>
                <a:cs typeface="Helvetica Neue"/>
              </a:defRPr>
            </a:pPr>
            <a:r>
              <a:t>Parent rules matter: a winning ad cannot rescue a blocked campaign.</a:t>
            </a:r>
          </a:p>
        </p:txBody>
      </p:sp>
    </p:spTree>
    <p:extLst>
      <p:ext uri="{BB962C8B-B14F-4D97-AF65-F5344CB8AC3E}">
        <p14:creationId xmlns:p14="http://schemas.microsoft.com/office/powerpoint/2010/main" val="2047554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lide-4-title">
            <a:extLst>
              <a:ext uri="{FF2B5EF4-FFF2-40B4-BE49-F238E27FC236}">
                <a16:creationId xmlns:a16="http://schemas.microsoft.com/office/drawing/2014/main" id="{4A01F83E-77A9-4933-9E0D-26DDDCE840C9}"/>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Media response is not business value</a:t>
            </a:r>
          </a:p>
        </p:txBody>
      </p:sp>
      <p:cxnSp>
        <p:nvCxnSpPr>
          <p:cNvPr id="37" name="line-70"/>
          <p:cNvCxnSpPr/>
          <p:nvPr/>
        </p:nvCxnSpPr>
        <p:spPr>
          <a:xfrm>
            <a:off x="495300" y="1057275"/>
            <a:ext cx="11296650" cy="9525"/>
          </a:xfrm>
          <a:prstGeom prst="straightConnector1">
            <a:avLst/>
          </a:prstGeom>
          <a:ln w="9525">
            <a:solidFill>
              <a:srgbClr val="B8BCC4"/>
            </a:solidFill>
            <a:prstDash val="solid"/>
          </a:ln>
        </p:spPr>
      </p:cxnSp>
      <p:sp>
        <p:nvSpPr>
          <p:cNvPr id="3" name="slide-4-source">
            <a:extLst>
              <a:ext uri="{FF2B5EF4-FFF2-40B4-BE49-F238E27FC236}">
                <a16:creationId xmlns:a16="http://schemas.microsoft.com/office/drawing/2014/main" id="{17B48302-32AC-456D-9135-EEF284E740F2}"/>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Sample 2 totals; observed outcomes only</a:t>
            </a:r>
          </a:p>
        </p:txBody>
      </p:sp>
      <p:sp>
        <p:nvSpPr>
          <p:cNvPr id="4" name="slide-4-number">
            <a:extLst>
              <a:ext uri="{FF2B5EF4-FFF2-40B4-BE49-F238E27FC236}">
                <a16:creationId xmlns:a16="http://schemas.microsoft.com/office/drawing/2014/main" id="{569B6634-01A5-4798-8EBF-B2C361748A72}"/>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04</a:t>
            </a:r>
          </a:p>
        </p:txBody>
      </p:sp>
      <p:cxnSp>
        <p:nvCxnSpPr>
          <p:cNvPr id="40" name="line-48"/>
          <p:cNvCxnSpPr/>
          <p:nvPr/>
        </p:nvCxnSpPr>
        <p:spPr>
          <a:xfrm>
            <a:off x="1238250" y="3429000"/>
            <a:ext cx="9620250" cy="9525"/>
          </a:xfrm>
          <a:prstGeom prst="straightConnector1">
            <a:avLst/>
          </a:prstGeom>
          <a:ln w="19050">
            <a:solidFill>
              <a:srgbClr val="B8BCC4"/>
            </a:solidFill>
            <a:prstDash val="solid"/>
          </a:ln>
        </p:spPr>
      </p:cxnSp>
      <p:sp>
        <p:nvSpPr>
          <p:cNvPr id="6" name="shape-49">
            <a:extLst>
              <a:ext uri="{FF2B5EF4-FFF2-40B4-BE49-F238E27FC236}">
                <a16:creationId xmlns:a16="http://schemas.microsoft.com/office/drawing/2014/main" id="{B7BEEC9A-0B46-4F70-919D-F939F759E4A0}"/>
              </a:ext>
            </a:extLst>
          </p:cNvPr>
          <p:cNvSpPr>
            <a:spLocks noGrp="1"/>
          </p:cNvSpPr>
          <p:nvPr/>
        </p:nvSpPr>
        <p:spPr>
          <a:xfrm>
            <a:off x="428625" y="2400300"/>
            <a:ext cx="1714500" cy="2057400"/>
          </a:xfrm>
          <a:prstGeom prst="rect">
            <a:avLst/>
          </a:prstGeom>
          <a:solidFill>
            <a:srgbClr val="F7F7F7"/>
          </a:solidFill>
          <a:ln w="9525">
            <a:solidFill>
              <a:srgbClr val="B8BCC4"/>
            </a:solidFill>
            <a:prstDash val="solid"/>
          </a:ln>
        </p:spPr>
        <p:txBody>
          <a:bodyPr/>
          <a:lstStyle/>
          <a:p>
            <a:endParaRPr/>
          </a:p>
        </p:txBody>
      </p:sp>
      <p:sp>
        <p:nvSpPr>
          <p:cNvPr id="7" name="shape-50">
            <a:extLst>
              <a:ext uri="{FF2B5EF4-FFF2-40B4-BE49-F238E27FC236}">
                <a16:creationId xmlns:a16="http://schemas.microsoft.com/office/drawing/2014/main" id="{EE6E6B66-42D9-407F-85BB-8A796EDD5102}"/>
              </a:ext>
            </a:extLst>
          </p:cNvPr>
          <p:cNvSpPr>
            <a:spLocks noGrp="1"/>
          </p:cNvSpPr>
          <p:nvPr/>
        </p:nvSpPr>
        <p:spPr>
          <a:xfrm>
            <a:off x="2352675" y="2571750"/>
            <a:ext cx="1714500" cy="1714500"/>
          </a:xfrm>
          <a:prstGeom prst="rect">
            <a:avLst/>
          </a:prstGeom>
          <a:solidFill>
            <a:srgbClr val="F7F7F7"/>
          </a:solidFill>
          <a:ln w="9525">
            <a:solidFill>
              <a:srgbClr val="B8BCC4"/>
            </a:solidFill>
            <a:prstDash val="solid"/>
          </a:ln>
        </p:spPr>
        <p:txBody>
          <a:bodyPr/>
          <a:lstStyle/>
          <a:p>
            <a:endParaRPr/>
          </a:p>
        </p:txBody>
      </p:sp>
      <p:sp>
        <p:nvSpPr>
          <p:cNvPr id="8" name="shape-51">
            <a:extLst>
              <a:ext uri="{FF2B5EF4-FFF2-40B4-BE49-F238E27FC236}">
                <a16:creationId xmlns:a16="http://schemas.microsoft.com/office/drawing/2014/main" id="{1070EA55-32DB-43A2-BC57-729AC931069F}"/>
              </a:ext>
            </a:extLst>
          </p:cNvPr>
          <p:cNvSpPr>
            <a:spLocks noGrp="1"/>
          </p:cNvSpPr>
          <p:nvPr/>
        </p:nvSpPr>
        <p:spPr>
          <a:xfrm>
            <a:off x="4276725" y="2743200"/>
            <a:ext cx="1714500" cy="1371600"/>
          </a:xfrm>
          <a:prstGeom prst="rect">
            <a:avLst/>
          </a:prstGeom>
          <a:solidFill>
            <a:srgbClr val="D0EDFA"/>
          </a:solidFill>
          <a:ln w="9525">
            <a:solidFill>
              <a:srgbClr val="B8BCC4"/>
            </a:solidFill>
            <a:prstDash val="solid"/>
          </a:ln>
        </p:spPr>
        <p:txBody>
          <a:bodyPr/>
          <a:lstStyle/>
          <a:p>
            <a:endParaRPr/>
          </a:p>
        </p:txBody>
      </p:sp>
      <p:sp>
        <p:nvSpPr>
          <p:cNvPr id="9" name="shape-52">
            <a:extLst>
              <a:ext uri="{FF2B5EF4-FFF2-40B4-BE49-F238E27FC236}">
                <a16:creationId xmlns:a16="http://schemas.microsoft.com/office/drawing/2014/main" id="{D6935856-D198-4EE9-B1A1-855F06B7BB01}"/>
              </a:ext>
            </a:extLst>
          </p:cNvPr>
          <p:cNvSpPr>
            <a:spLocks noGrp="1"/>
          </p:cNvSpPr>
          <p:nvPr/>
        </p:nvSpPr>
        <p:spPr>
          <a:xfrm>
            <a:off x="6200775" y="2857500"/>
            <a:ext cx="1714500" cy="1143000"/>
          </a:xfrm>
          <a:prstGeom prst="rect">
            <a:avLst/>
          </a:prstGeom>
          <a:solidFill>
            <a:srgbClr val="F4C27A"/>
          </a:solidFill>
          <a:ln w="9525">
            <a:solidFill>
              <a:srgbClr val="F4C27A"/>
            </a:solidFill>
            <a:prstDash val="solid"/>
          </a:ln>
        </p:spPr>
        <p:txBody>
          <a:bodyPr/>
          <a:lstStyle/>
          <a:p>
            <a:endParaRPr/>
          </a:p>
        </p:txBody>
      </p:sp>
      <p:sp>
        <p:nvSpPr>
          <p:cNvPr id="10" name="shape-53">
            <a:extLst>
              <a:ext uri="{FF2B5EF4-FFF2-40B4-BE49-F238E27FC236}">
                <a16:creationId xmlns:a16="http://schemas.microsoft.com/office/drawing/2014/main" id="{3EE70A6C-C720-4884-8926-CD369888F5F7}"/>
              </a:ext>
            </a:extLst>
          </p:cNvPr>
          <p:cNvSpPr>
            <a:spLocks noGrp="1"/>
          </p:cNvSpPr>
          <p:nvPr/>
        </p:nvSpPr>
        <p:spPr>
          <a:xfrm>
            <a:off x="8124825" y="2971800"/>
            <a:ext cx="1714500" cy="914400"/>
          </a:xfrm>
          <a:prstGeom prst="rect">
            <a:avLst/>
          </a:prstGeom>
          <a:solidFill>
            <a:srgbClr val="EDEDED"/>
          </a:solidFill>
          <a:ln w="9525">
            <a:solidFill>
              <a:srgbClr val="B8BCC4"/>
            </a:solidFill>
            <a:prstDash val="solid"/>
          </a:ln>
        </p:spPr>
        <p:txBody>
          <a:bodyPr/>
          <a:lstStyle/>
          <a:p>
            <a:endParaRPr/>
          </a:p>
        </p:txBody>
      </p:sp>
      <p:sp>
        <p:nvSpPr>
          <p:cNvPr id="11" name="shape-54">
            <a:extLst>
              <a:ext uri="{FF2B5EF4-FFF2-40B4-BE49-F238E27FC236}">
                <a16:creationId xmlns:a16="http://schemas.microsoft.com/office/drawing/2014/main" id="{85157F02-9797-4317-A55F-750AB65ABF08}"/>
              </a:ext>
            </a:extLst>
          </p:cNvPr>
          <p:cNvSpPr>
            <a:spLocks noGrp="1"/>
          </p:cNvSpPr>
          <p:nvPr/>
        </p:nvSpPr>
        <p:spPr>
          <a:xfrm>
            <a:off x="10048875" y="3067050"/>
            <a:ext cx="1714500" cy="723900"/>
          </a:xfrm>
          <a:prstGeom prst="rect">
            <a:avLst/>
          </a:prstGeom>
          <a:solidFill>
            <a:srgbClr val="A9D6B9"/>
          </a:solidFill>
          <a:ln w="9525">
            <a:solidFill>
              <a:srgbClr val="A9D6B9"/>
            </a:solidFill>
            <a:prstDash val="solid"/>
          </a:ln>
        </p:spPr>
        <p:txBody>
          <a:bodyPr/>
          <a:lstStyle/>
          <a:p>
            <a:endParaRPr/>
          </a:p>
        </p:txBody>
      </p:sp>
      <p:sp>
        <p:nvSpPr>
          <p:cNvPr id="12" name="text-55">
            <a:extLst>
              <a:ext uri="{FF2B5EF4-FFF2-40B4-BE49-F238E27FC236}">
                <a16:creationId xmlns:a16="http://schemas.microsoft.com/office/drawing/2014/main" id="{20E646F4-2ADA-40DB-94BB-EB1DC5322621}"/>
              </a:ext>
            </a:extLst>
          </p:cNvPr>
          <p:cNvSpPr>
            <a:spLocks noGrp="1"/>
          </p:cNvSpPr>
          <p:nvPr/>
        </p:nvSpPr>
        <p:spPr>
          <a:xfrm>
            <a:off x="619125" y="2762250"/>
            <a:ext cx="1333500" cy="495300"/>
          </a:xfrm>
          <a:prstGeom prst="rect">
            <a:avLst/>
          </a:prstGeom>
        </p:spPr>
        <p:txBody>
          <a:bodyPr wrap="square" lIns="0" tIns="0" rIns="0" bIns="0" anchor="t">
            <a:normAutofit/>
          </a:bodyPr>
          <a:lstStyle/>
          <a:p>
            <a:pPr algn="ctr">
              <a:buNone/>
              <a:defRPr sz="2550" b="1">
                <a:solidFill>
                  <a:srgbClr val="000000"/>
                </a:solidFill>
                <a:latin typeface="Helvetica Neue"/>
                <a:ea typeface="Helvetica Neue"/>
                <a:cs typeface="Helvetica Neue"/>
              </a:defRPr>
            </a:pPr>
            <a:r>
              <a:t>73.9M</a:t>
            </a:r>
          </a:p>
        </p:txBody>
      </p:sp>
      <p:sp>
        <p:nvSpPr>
          <p:cNvPr id="13" name="text-56">
            <a:extLst>
              <a:ext uri="{FF2B5EF4-FFF2-40B4-BE49-F238E27FC236}">
                <a16:creationId xmlns:a16="http://schemas.microsoft.com/office/drawing/2014/main" id="{765EFABE-6541-48AD-8EEA-B2C4E6C7050A}"/>
              </a:ext>
            </a:extLst>
          </p:cNvPr>
          <p:cNvSpPr>
            <a:spLocks noGrp="1"/>
          </p:cNvSpPr>
          <p:nvPr/>
        </p:nvSpPr>
        <p:spPr>
          <a:xfrm>
            <a:off x="619125" y="3543300"/>
            <a:ext cx="1333500" cy="361950"/>
          </a:xfrm>
          <a:prstGeom prst="rect">
            <a:avLst/>
          </a:prstGeom>
        </p:spPr>
        <p:txBody>
          <a:bodyPr wrap="square" lIns="0" tIns="0" rIns="0" bIns="0" anchor="t">
            <a:normAutofit/>
          </a:bodyPr>
          <a:lstStyle/>
          <a:p>
            <a:pPr algn="ctr">
              <a:buNone/>
              <a:defRPr sz="1350" b="0">
                <a:solidFill>
                  <a:srgbClr val="000000"/>
                </a:solidFill>
                <a:latin typeface="Helvetica Neue"/>
                <a:ea typeface="Helvetica Neue"/>
                <a:cs typeface="Helvetica Neue"/>
              </a:defRPr>
            </a:pPr>
            <a:r>
              <a:t>Impressions</a:t>
            </a:r>
          </a:p>
        </p:txBody>
      </p:sp>
      <p:sp>
        <p:nvSpPr>
          <p:cNvPr id="14" name="text-57">
            <a:extLst>
              <a:ext uri="{FF2B5EF4-FFF2-40B4-BE49-F238E27FC236}">
                <a16:creationId xmlns:a16="http://schemas.microsoft.com/office/drawing/2014/main" id="{605EA8C3-717B-4EC9-B2E5-D3A77BF7FE23}"/>
              </a:ext>
            </a:extLst>
          </p:cNvPr>
          <p:cNvSpPr>
            <a:spLocks noGrp="1"/>
          </p:cNvSpPr>
          <p:nvPr/>
        </p:nvSpPr>
        <p:spPr>
          <a:xfrm>
            <a:off x="2543175" y="2857500"/>
            <a:ext cx="1333500" cy="495300"/>
          </a:xfrm>
          <a:prstGeom prst="rect">
            <a:avLst/>
          </a:prstGeom>
        </p:spPr>
        <p:txBody>
          <a:bodyPr wrap="square" lIns="0" tIns="0" rIns="0" bIns="0" anchor="t">
            <a:normAutofit/>
          </a:bodyPr>
          <a:lstStyle/>
          <a:p>
            <a:pPr algn="ctr">
              <a:buNone/>
              <a:defRPr sz="2550" b="1">
                <a:solidFill>
                  <a:srgbClr val="000000"/>
                </a:solidFill>
                <a:latin typeface="Helvetica Neue"/>
                <a:ea typeface="Helvetica Neue"/>
                <a:cs typeface="Helvetica Neue"/>
              </a:defRPr>
            </a:pPr>
            <a:r>
              <a:t>823K</a:t>
            </a:r>
          </a:p>
        </p:txBody>
      </p:sp>
      <p:sp>
        <p:nvSpPr>
          <p:cNvPr id="15" name="text-58">
            <a:extLst>
              <a:ext uri="{FF2B5EF4-FFF2-40B4-BE49-F238E27FC236}">
                <a16:creationId xmlns:a16="http://schemas.microsoft.com/office/drawing/2014/main" id="{B6CDDC46-EA2C-41B3-9222-A46A834E23A1}"/>
              </a:ext>
            </a:extLst>
          </p:cNvPr>
          <p:cNvSpPr>
            <a:spLocks noGrp="1"/>
          </p:cNvSpPr>
          <p:nvPr/>
        </p:nvSpPr>
        <p:spPr>
          <a:xfrm>
            <a:off x="2543175" y="3543300"/>
            <a:ext cx="1333500" cy="361950"/>
          </a:xfrm>
          <a:prstGeom prst="rect">
            <a:avLst/>
          </a:prstGeom>
        </p:spPr>
        <p:txBody>
          <a:bodyPr wrap="square" lIns="0" tIns="0" rIns="0" bIns="0" anchor="t">
            <a:normAutofit/>
          </a:bodyPr>
          <a:lstStyle/>
          <a:p>
            <a:pPr algn="ctr">
              <a:buNone/>
              <a:defRPr sz="1350" b="0">
                <a:solidFill>
                  <a:srgbClr val="000000"/>
                </a:solidFill>
                <a:latin typeface="Helvetica Neue"/>
                <a:ea typeface="Helvetica Neue"/>
                <a:cs typeface="Helvetica Neue"/>
              </a:defRPr>
            </a:pPr>
            <a:r>
              <a:t>Link clicks</a:t>
            </a:r>
          </a:p>
        </p:txBody>
      </p:sp>
      <p:sp>
        <p:nvSpPr>
          <p:cNvPr id="16" name="text-59">
            <a:extLst>
              <a:ext uri="{FF2B5EF4-FFF2-40B4-BE49-F238E27FC236}">
                <a16:creationId xmlns:a16="http://schemas.microsoft.com/office/drawing/2014/main" id="{50B7FB5F-5039-434C-9125-C0B132261EF9}"/>
              </a:ext>
            </a:extLst>
          </p:cNvPr>
          <p:cNvSpPr>
            <a:spLocks noGrp="1"/>
          </p:cNvSpPr>
          <p:nvPr/>
        </p:nvSpPr>
        <p:spPr>
          <a:xfrm>
            <a:off x="4467225" y="2952750"/>
            <a:ext cx="1333500" cy="495300"/>
          </a:xfrm>
          <a:prstGeom prst="rect">
            <a:avLst/>
          </a:prstGeom>
        </p:spPr>
        <p:txBody>
          <a:bodyPr wrap="square" lIns="0" tIns="0" rIns="0" bIns="0" anchor="t">
            <a:normAutofit/>
          </a:bodyPr>
          <a:lstStyle/>
          <a:p>
            <a:pPr algn="ctr">
              <a:buNone/>
              <a:defRPr sz="2400" b="1">
                <a:solidFill>
                  <a:srgbClr val="000000"/>
                </a:solidFill>
                <a:latin typeface="Helvetica Neue"/>
                <a:ea typeface="Helvetica Neue"/>
                <a:cs typeface="Helvetica Neue"/>
              </a:defRPr>
            </a:pPr>
            <a:r>
              <a:t>116,098</a:t>
            </a:r>
          </a:p>
        </p:txBody>
      </p:sp>
      <p:sp>
        <p:nvSpPr>
          <p:cNvPr id="17" name="text-60">
            <a:extLst>
              <a:ext uri="{FF2B5EF4-FFF2-40B4-BE49-F238E27FC236}">
                <a16:creationId xmlns:a16="http://schemas.microsoft.com/office/drawing/2014/main" id="{4D9DD0FE-D0A4-45C8-9318-7B6C36A08BF6}"/>
              </a:ext>
            </a:extLst>
          </p:cNvPr>
          <p:cNvSpPr>
            <a:spLocks noGrp="1"/>
          </p:cNvSpPr>
          <p:nvPr/>
        </p:nvSpPr>
        <p:spPr>
          <a:xfrm>
            <a:off x="4467225" y="3486150"/>
            <a:ext cx="1333500" cy="514350"/>
          </a:xfrm>
          <a:prstGeom prst="rect">
            <a:avLst/>
          </a:prstGeom>
        </p:spPr>
        <p:txBody>
          <a:bodyPr wrap="square" lIns="0" tIns="0" rIns="0" bIns="0" anchor="t">
            <a:normAutofit fontScale="99526"/>
          </a:bodyPr>
          <a:lstStyle/>
          <a:p>
            <a:pPr algn="ctr">
              <a:buNone/>
              <a:defRPr sz="1275" b="0">
                <a:solidFill>
                  <a:srgbClr val="000000"/>
                </a:solidFill>
                <a:latin typeface="Helvetica Neue"/>
                <a:ea typeface="Helvetica Neue"/>
                <a:cs typeface="Helvetica Neue"/>
              </a:defRPr>
            </a:pPr>
            <a:r>
              <a:t>Meta conversation starts</a:t>
            </a:r>
          </a:p>
        </p:txBody>
      </p:sp>
      <p:sp>
        <p:nvSpPr>
          <p:cNvPr id="18" name="text-61">
            <a:extLst>
              <a:ext uri="{FF2B5EF4-FFF2-40B4-BE49-F238E27FC236}">
                <a16:creationId xmlns:a16="http://schemas.microsoft.com/office/drawing/2014/main" id="{13533927-7FB3-4626-9DA0-5FCEBF3512AF}"/>
              </a:ext>
            </a:extLst>
          </p:cNvPr>
          <p:cNvSpPr>
            <a:spLocks noGrp="1"/>
          </p:cNvSpPr>
          <p:nvPr/>
        </p:nvSpPr>
        <p:spPr>
          <a:xfrm>
            <a:off x="6391275" y="3028950"/>
            <a:ext cx="1333500" cy="438150"/>
          </a:xfrm>
          <a:prstGeom prst="rect">
            <a:avLst/>
          </a:prstGeom>
        </p:spPr>
        <p:txBody>
          <a:bodyPr wrap="square" lIns="0" tIns="0" rIns="0" bIns="0" anchor="t">
            <a:normAutofit/>
          </a:bodyPr>
          <a:lstStyle/>
          <a:p>
            <a:pPr algn="ctr">
              <a:buNone/>
              <a:defRPr sz="2550" b="1">
                <a:solidFill>
                  <a:srgbClr val="000000"/>
                </a:solidFill>
                <a:latin typeface="Helvetica Neue"/>
                <a:ea typeface="Helvetica Neue"/>
                <a:cs typeface="Helvetica Neue"/>
              </a:defRPr>
            </a:pPr>
            <a:r>
              <a:t>617</a:t>
            </a:r>
          </a:p>
        </p:txBody>
      </p:sp>
      <p:sp>
        <p:nvSpPr>
          <p:cNvPr id="19" name="text-62">
            <a:extLst>
              <a:ext uri="{FF2B5EF4-FFF2-40B4-BE49-F238E27FC236}">
                <a16:creationId xmlns:a16="http://schemas.microsoft.com/office/drawing/2014/main" id="{2EAB9924-1632-4676-B83E-73F55AB87C99}"/>
              </a:ext>
            </a:extLst>
          </p:cNvPr>
          <p:cNvSpPr>
            <a:spLocks noGrp="1"/>
          </p:cNvSpPr>
          <p:nvPr/>
        </p:nvSpPr>
        <p:spPr>
          <a:xfrm>
            <a:off x="6391275" y="3486150"/>
            <a:ext cx="1333500" cy="457200"/>
          </a:xfrm>
          <a:prstGeom prst="rect">
            <a:avLst/>
          </a:prstGeom>
        </p:spPr>
        <p:txBody>
          <a:bodyPr wrap="square" lIns="0" tIns="0" rIns="0" bIns="0" anchor="t">
            <a:normAutofit fontScale="97984"/>
          </a:bodyPr>
          <a:lstStyle/>
          <a:p>
            <a:pPr algn="ctr">
              <a:buNone/>
              <a:defRPr sz="1200" b="0">
                <a:solidFill>
                  <a:srgbClr val="000000"/>
                </a:solidFill>
                <a:latin typeface="Helvetica Neue"/>
                <a:ea typeface="Helvetica Neue"/>
                <a:cs typeface="Helvetica Neue"/>
              </a:defRPr>
            </a:pPr>
            <a:r>
              <a:t>Supplied WhatsApp conversations</a:t>
            </a:r>
          </a:p>
        </p:txBody>
      </p:sp>
      <p:sp>
        <p:nvSpPr>
          <p:cNvPr id="20" name="text-63">
            <a:extLst>
              <a:ext uri="{FF2B5EF4-FFF2-40B4-BE49-F238E27FC236}">
                <a16:creationId xmlns:a16="http://schemas.microsoft.com/office/drawing/2014/main" id="{0C1E576D-70D6-4E01-81DD-2818591DD108}"/>
              </a:ext>
            </a:extLst>
          </p:cNvPr>
          <p:cNvSpPr>
            <a:spLocks noGrp="1"/>
          </p:cNvSpPr>
          <p:nvPr/>
        </p:nvSpPr>
        <p:spPr>
          <a:xfrm>
            <a:off x="8315325" y="3105150"/>
            <a:ext cx="1333500" cy="381000"/>
          </a:xfrm>
          <a:prstGeom prst="rect">
            <a:avLst/>
          </a:prstGeom>
        </p:spPr>
        <p:txBody>
          <a:bodyPr wrap="square" lIns="0" tIns="0" rIns="0" bIns="0" anchor="t">
            <a:normAutofit/>
          </a:bodyPr>
          <a:lstStyle/>
          <a:p>
            <a:pPr algn="ctr">
              <a:buNone/>
              <a:defRPr sz="2400" b="1">
                <a:solidFill>
                  <a:srgbClr val="000000"/>
                </a:solidFill>
                <a:latin typeface="Helvetica Neue"/>
                <a:ea typeface="Helvetica Neue"/>
                <a:cs typeface="Helvetica Neue"/>
              </a:defRPr>
            </a:pPr>
            <a:r>
              <a:t>457</a:t>
            </a:r>
          </a:p>
        </p:txBody>
      </p:sp>
      <p:sp>
        <p:nvSpPr>
          <p:cNvPr id="21" name="text-64">
            <a:extLst>
              <a:ext uri="{FF2B5EF4-FFF2-40B4-BE49-F238E27FC236}">
                <a16:creationId xmlns:a16="http://schemas.microsoft.com/office/drawing/2014/main" id="{BC3041A7-21BF-4707-9A0F-84BA846BE58E}"/>
              </a:ext>
            </a:extLst>
          </p:cNvPr>
          <p:cNvSpPr>
            <a:spLocks noGrp="1"/>
          </p:cNvSpPr>
          <p:nvPr/>
        </p:nvSpPr>
        <p:spPr>
          <a:xfrm>
            <a:off x="8315325" y="3524250"/>
            <a:ext cx="1333500" cy="285750"/>
          </a:xfrm>
          <a:prstGeom prst="rect">
            <a:avLst/>
          </a:prstGeom>
        </p:spPr>
        <p:txBody>
          <a:bodyPr wrap="square" lIns="0" tIns="0" rIns="0" bIns="0" anchor="t">
            <a:normAutofit/>
          </a:bodyPr>
          <a:lstStyle/>
          <a:p>
            <a:pPr algn="ctr">
              <a:buNone/>
              <a:defRPr sz="1275" b="0">
                <a:solidFill>
                  <a:srgbClr val="000000"/>
                </a:solidFill>
                <a:latin typeface="Helvetica Neue"/>
                <a:ea typeface="Helvetica Neue"/>
                <a:cs typeface="Helvetica Neue"/>
              </a:defRPr>
            </a:pPr>
            <a:r>
              <a:t>Orders created</a:t>
            </a:r>
          </a:p>
        </p:txBody>
      </p:sp>
      <p:sp>
        <p:nvSpPr>
          <p:cNvPr id="22" name="text-65">
            <a:extLst>
              <a:ext uri="{FF2B5EF4-FFF2-40B4-BE49-F238E27FC236}">
                <a16:creationId xmlns:a16="http://schemas.microsoft.com/office/drawing/2014/main" id="{2BA36F6F-3916-450D-94DB-85794657E176}"/>
              </a:ext>
            </a:extLst>
          </p:cNvPr>
          <p:cNvSpPr>
            <a:spLocks noGrp="1"/>
          </p:cNvSpPr>
          <p:nvPr/>
        </p:nvSpPr>
        <p:spPr>
          <a:xfrm>
            <a:off x="10239375" y="3143250"/>
            <a:ext cx="1333500" cy="342900"/>
          </a:xfrm>
          <a:prstGeom prst="rect">
            <a:avLst/>
          </a:prstGeom>
        </p:spPr>
        <p:txBody>
          <a:bodyPr wrap="square" lIns="0" tIns="0" rIns="0" bIns="0" anchor="t">
            <a:normAutofit/>
          </a:bodyPr>
          <a:lstStyle/>
          <a:p>
            <a:pPr algn="ctr">
              <a:buNone/>
              <a:defRPr sz="2250" b="1">
                <a:solidFill>
                  <a:srgbClr val="000000"/>
                </a:solidFill>
                <a:latin typeface="Helvetica Neue"/>
                <a:ea typeface="Helvetica Neue"/>
                <a:cs typeface="Helvetica Neue"/>
              </a:defRPr>
            </a:pPr>
            <a:r>
              <a:t>331</a:t>
            </a:r>
          </a:p>
        </p:txBody>
      </p:sp>
      <p:sp>
        <p:nvSpPr>
          <p:cNvPr id="23" name="text-66">
            <a:extLst>
              <a:ext uri="{FF2B5EF4-FFF2-40B4-BE49-F238E27FC236}">
                <a16:creationId xmlns:a16="http://schemas.microsoft.com/office/drawing/2014/main" id="{5E82D257-87B5-43DF-8DBB-7BE13BAEA723}"/>
              </a:ext>
            </a:extLst>
          </p:cNvPr>
          <p:cNvSpPr>
            <a:spLocks noGrp="1"/>
          </p:cNvSpPr>
          <p:nvPr/>
        </p:nvSpPr>
        <p:spPr>
          <a:xfrm>
            <a:off x="10239375" y="3505200"/>
            <a:ext cx="1333500" cy="247650"/>
          </a:xfrm>
          <a:prstGeom prst="rect">
            <a:avLst/>
          </a:prstGeom>
        </p:spPr>
        <p:txBody>
          <a:bodyPr wrap="square" lIns="0" tIns="0" rIns="0" bIns="0" anchor="t">
            <a:normAutofit/>
          </a:bodyPr>
          <a:lstStyle/>
          <a:p>
            <a:pPr algn="ctr">
              <a:buNone/>
              <a:defRPr sz="1200" b="0">
                <a:solidFill>
                  <a:srgbClr val="000000"/>
                </a:solidFill>
                <a:latin typeface="Helvetica Neue"/>
                <a:ea typeface="Helvetica Neue"/>
                <a:cs typeface="Helvetica Neue"/>
              </a:defRPr>
            </a:pPr>
            <a:r>
              <a:t>Delivered</a:t>
            </a:r>
          </a:p>
        </p:txBody>
      </p:sp>
      <p:sp>
        <p:nvSpPr>
          <p:cNvPr id="24" name="text-67">
            <a:extLst>
              <a:ext uri="{FF2B5EF4-FFF2-40B4-BE49-F238E27FC236}">
                <a16:creationId xmlns:a16="http://schemas.microsoft.com/office/drawing/2014/main" id="{EA9D66A5-00AB-47D9-ACE3-07BDDD917AEA}"/>
              </a:ext>
            </a:extLst>
          </p:cNvPr>
          <p:cNvSpPr>
            <a:spLocks noGrp="1"/>
          </p:cNvSpPr>
          <p:nvPr/>
        </p:nvSpPr>
        <p:spPr>
          <a:xfrm>
            <a:off x="6010275" y="4762500"/>
            <a:ext cx="2095500" cy="571500"/>
          </a:xfrm>
          <a:prstGeom prst="rect">
            <a:avLst/>
          </a:prstGeom>
        </p:spPr>
        <p:txBody>
          <a:bodyPr wrap="square" lIns="0" tIns="0" rIns="0" bIns="0" anchor="t">
            <a:normAutofit/>
          </a:bodyPr>
          <a:lstStyle/>
          <a:p>
            <a:pPr algn="ctr">
              <a:buNone/>
              <a:defRPr sz="3600" b="1">
                <a:solidFill>
                  <a:srgbClr val="3D8DFF"/>
                </a:solidFill>
                <a:latin typeface="Helvetica Neue"/>
                <a:ea typeface="Helvetica Neue"/>
                <a:cs typeface="Helvetica Neue"/>
              </a:defRPr>
            </a:pPr>
            <a:r>
              <a:rPr dirty="0"/>
              <a:t>0.53%</a:t>
            </a:r>
          </a:p>
        </p:txBody>
      </p:sp>
      <p:sp>
        <p:nvSpPr>
          <p:cNvPr id="25" name="text-68">
            <a:extLst>
              <a:ext uri="{FF2B5EF4-FFF2-40B4-BE49-F238E27FC236}">
                <a16:creationId xmlns:a16="http://schemas.microsoft.com/office/drawing/2014/main" id="{7E1878E6-FB7F-4138-B59A-52715B7B9048}"/>
              </a:ext>
            </a:extLst>
          </p:cNvPr>
          <p:cNvSpPr>
            <a:spLocks noGrp="1"/>
          </p:cNvSpPr>
          <p:nvPr/>
        </p:nvSpPr>
        <p:spPr>
          <a:xfrm>
            <a:off x="5295900" y="5410200"/>
            <a:ext cx="3524250" cy="438150"/>
          </a:xfrm>
          <a:prstGeom prst="rect">
            <a:avLst/>
          </a:prstGeom>
        </p:spPr>
        <p:txBody>
          <a:bodyPr wrap="square" lIns="0" tIns="0" rIns="0" bIns="0" anchor="t">
            <a:normAutofit fontScale="95833"/>
          </a:bodyPr>
          <a:lstStyle/>
          <a:p>
            <a:pPr algn="ctr">
              <a:buNone/>
              <a:defRPr sz="1500" b="1">
                <a:solidFill>
                  <a:srgbClr val="000000"/>
                </a:solidFill>
                <a:latin typeface="Helvetica Neue"/>
                <a:ea typeface="Helvetica Neue"/>
                <a:cs typeface="Helvetica Neue"/>
              </a:defRPr>
            </a:pPr>
            <a:r>
              <a:t>The event populations are not yet reconciled</a:t>
            </a:r>
          </a:p>
        </p:txBody>
      </p:sp>
    </p:spTree>
    <p:extLst>
      <p:ext uri="{BB962C8B-B14F-4D97-AF65-F5344CB8AC3E}">
        <p14:creationId xmlns:p14="http://schemas.microsoft.com/office/powerpoint/2010/main" val="903171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lide-5-title">
            <a:extLst>
              <a:ext uri="{FF2B5EF4-FFF2-40B4-BE49-F238E27FC236}">
                <a16:creationId xmlns:a16="http://schemas.microsoft.com/office/drawing/2014/main" id="{BA8C2EE2-6336-4C7A-BC27-AAE8040B98F0}"/>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Three files form one evidence model</a:t>
            </a:r>
          </a:p>
        </p:txBody>
      </p:sp>
      <p:cxnSp>
        <p:nvCxnSpPr>
          <p:cNvPr id="40" name="line-92"/>
          <p:cNvCxnSpPr/>
          <p:nvPr/>
        </p:nvCxnSpPr>
        <p:spPr>
          <a:xfrm>
            <a:off x="495300" y="1057275"/>
            <a:ext cx="11296650" cy="9525"/>
          </a:xfrm>
          <a:prstGeom prst="straightConnector1">
            <a:avLst/>
          </a:prstGeom>
          <a:ln w="9525">
            <a:solidFill>
              <a:srgbClr val="B8BCC4"/>
            </a:solidFill>
            <a:prstDash val="solid"/>
          </a:ln>
        </p:spPr>
      </p:cxnSp>
      <p:sp>
        <p:nvSpPr>
          <p:cNvPr id="3" name="slide-5-source">
            <a:extLst>
              <a:ext uri="{FF2B5EF4-FFF2-40B4-BE49-F238E27FC236}">
                <a16:creationId xmlns:a16="http://schemas.microsoft.com/office/drawing/2014/main" id="{2D408D32-9E95-4A04-BDE6-1FE45596867C}"/>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src cycle_data.py; src_2 data architecture</a:t>
            </a:r>
          </a:p>
        </p:txBody>
      </p:sp>
      <p:sp>
        <p:nvSpPr>
          <p:cNvPr id="4" name="slide-5-number">
            <a:extLst>
              <a:ext uri="{FF2B5EF4-FFF2-40B4-BE49-F238E27FC236}">
                <a16:creationId xmlns:a16="http://schemas.microsoft.com/office/drawing/2014/main" id="{363C7D65-A42F-4E37-A5FE-4260CEF28F59}"/>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05</a:t>
            </a:r>
          </a:p>
        </p:txBody>
      </p:sp>
      <p:cxnSp>
        <p:nvCxnSpPr>
          <p:cNvPr id="43" name="line-73"/>
          <p:cNvCxnSpPr/>
          <p:nvPr/>
        </p:nvCxnSpPr>
        <p:spPr>
          <a:xfrm>
            <a:off x="2095500" y="2381250"/>
            <a:ext cx="2571750" cy="1000125"/>
          </a:xfrm>
          <a:prstGeom prst="straightConnector1">
            <a:avLst/>
          </a:prstGeom>
          <a:ln w="19050">
            <a:solidFill>
              <a:srgbClr val="B8BCC4"/>
            </a:solidFill>
            <a:prstDash val="solid"/>
          </a:ln>
        </p:spPr>
      </p:cxnSp>
      <p:cxnSp>
        <p:nvCxnSpPr>
          <p:cNvPr id="44" name="line-74"/>
          <p:cNvCxnSpPr/>
          <p:nvPr/>
        </p:nvCxnSpPr>
        <p:spPr>
          <a:xfrm>
            <a:off x="6096000" y="2381250"/>
            <a:ext cx="9525" cy="1000125"/>
          </a:xfrm>
          <a:prstGeom prst="straightConnector1">
            <a:avLst/>
          </a:prstGeom>
          <a:ln w="19050">
            <a:solidFill>
              <a:srgbClr val="B8BCC4"/>
            </a:solidFill>
            <a:prstDash val="solid"/>
          </a:ln>
        </p:spPr>
      </p:cxnSp>
      <p:cxnSp>
        <p:nvCxnSpPr>
          <p:cNvPr id="45" name="line-75"/>
          <p:cNvCxnSpPr>
            <a:cxnSpLocks/>
            <a:stCxn id="19" idx="2"/>
          </p:cNvCxnSpPr>
          <p:nvPr/>
        </p:nvCxnSpPr>
        <p:spPr>
          <a:xfrm flipH="1">
            <a:off x="7378995" y="2647950"/>
            <a:ext cx="2717505" cy="781050"/>
          </a:xfrm>
          <a:prstGeom prst="straightConnector1">
            <a:avLst/>
          </a:prstGeom>
          <a:ln w="19050">
            <a:solidFill>
              <a:srgbClr val="B8BCC4"/>
            </a:solidFill>
            <a:prstDash val="solid"/>
          </a:ln>
        </p:spPr>
      </p:cxnSp>
      <p:cxnSp>
        <p:nvCxnSpPr>
          <p:cNvPr id="46" name="line-76"/>
          <p:cNvCxnSpPr/>
          <p:nvPr/>
        </p:nvCxnSpPr>
        <p:spPr>
          <a:xfrm>
            <a:off x="6096000" y="4476750"/>
            <a:ext cx="9525" cy="857250"/>
          </a:xfrm>
          <a:prstGeom prst="straightConnector1">
            <a:avLst/>
          </a:prstGeom>
          <a:ln w="19050">
            <a:solidFill>
              <a:srgbClr val="B8BCC4"/>
            </a:solidFill>
            <a:prstDash val="solid"/>
          </a:ln>
        </p:spPr>
      </p:cxnSp>
      <p:sp>
        <p:nvSpPr>
          <p:cNvPr id="9" name="shape-77">
            <a:extLst>
              <a:ext uri="{FF2B5EF4-FFF2-40B4-BE49-F238E27FC236}">
                <a16:creationId xmlns:a16="http://schemas.microsoft.com/office/drawing/2014/main" id="{45AA2E0F-90B5-46D7-AC2B-587FC7CC48ED}"/>
              </a:ext>
            </a:extLst>
          </p:cNvPr>
          <p:cNvSpPr>
            <a:spLocks noGrp="1"/>
          </p:cNvSpPr>
          <p:nvPr/>
        </p:nvSpPr>
        <p:spPr>
          <a:xfrm>
            <a:off x="390525" y="1581150"/>
            <a:ext cx="3409950" cy="1200150"/>
          </a:xfrm>
          <a:prstGeom prst="rect">
            <a:avLst/>
          </a:prstGeom>
          <a:solidFill>
            <a:srgbClr val="D0EDFA"/>
          </a:solidFill>
          <a:ln w="9525">
            <a:solidFill>
              <a:srgbClr val="B8BCC4"/>
            </a:solidFill>
            <a:prstDash val="solid"/>
          </a:ln>
        </p:spPr>
        <p:txBody>
          <a:bodyPr/>
          <a:lstStyle/>
          <a:p>
            <a:endParaRPr/>
          </a:p>
        </p:txBody>
      </p:sp>
      <p:sp>
        <p:nvSpPr>
          <p:cNvPr id="10" name="shape-78">
            <a:extLst>
              <a:ext uri="{FF2B5EF4-FFF2-40B4-BE49-F238E27FC236}">
                <a16:creationId xmlns:a16="http://schemas.microsoft.com/office/drawing/2014/main" id="{D640A27E-5DEB-419E-90EE-F0470F005BE2}"/>
              </a:ext>
            </a:extLst>
          </p:cNvPr>
          <p:cNvSpPr>
            <a:spLocks noGrp="1"/>
          </p:cNvSpPr>
          <p:nvPr/>
        </p:nvSpPr>
        <p:spPr>
          <a:xfrm>
            <a:off x="4391025" y="1581150"/>
            <a:ext cx="3409950" cy="1200150"/>
          </a:xfrm>
          <a:prstGeom prst="rect">
            <a:avLst/>
          </a:prstGeom>
          <a:solidFill>
            <a:srgbClr val="EDEDED"/>
          </a:solidFill>
          <a:ln w="9525">
            <a:solidFill>
              <a:srgbClr val="B8BCC4"/>
            </a:solidFill>
            <a:prstDash val="solid"/>
          </a:ln>
        </p:spPr>
        <p:txBody>
          <a:bodyPr/>
          <a:lstStyle/>
          <a:p>
            <a:endParaRPr/>
          </a:p>
        </p:txBody>
      </p:sp>
      <p:sp>
        <p:nvSpPr>
          <p:cNvPr id="11" name="shape-79">
            <a:extLst>
              <a:ext uri="{FF2B5EF4-FFF2-40B4-BE49-F238E27FC236}">
                <a16:creationId xmlns:a16="http://schemas.microsoft.com/office/drawing/2014/main" id="{F61CA621-B301-4C0D-843C-9DE0EDA9F29E}"/>
              </a:ext>
            </a:extLst>
          </p:cNvPr>
          <p:cNvSpPr>
            <a:spLocks noGrp="1"/>
          </p:cNvSpPr>
          <p:nvPr/>
        </p:nvSpPr>
        <p:spPr>
          <a:xfrm>
            <a:off x="8391525" y="1581150"/>
            <a:ext cx="3409950" cy="1200150"/>
          </a:xfrm>
          <a:prstGeom prst="rect">
            <a:avLst/>
          </a:prstGeom>
          <a:solidFill>
            <a:srgbClr val="F7F7F7"/>
          </a:solidFill>
          <a:ln w="9525">
            <a:solidFill>
              <a:srgbClr val="B8BCC4"/>
            </a:solidFill>
            <a:prstDash val="solid"/>
          </a:ln>
        </p:spPr>
        <p:txBody>
          <a:bodyPr/>
          <a:lstStyle/>
          <a:p>
            <a:endParaRPr/>
          </a:p>
        </p:txBody>
      </p:sp>
      <p:sp>
        <p:nvSpPr>
          <p:cNvPr id="12" name="shape-80">
            <a:extLst>
              <a:ext uri="{FF2B5EF4-FFF2-40B4-BE49-F238E27FC236}">
                <a16:creationId xmlns:a16="http://schemas.microsoft.com/office/drawing/2014/main" id="{8E3EFD64-885F-4A54-98C5-B7612CA287A6}"/>
              </a:ext>
            </a:extLst>
          </p:cNvPr>
          <p:cNvSpPr>
            <a:spLocks noGrp="1"/>
          </p:cNvSpPr>
          <p:nvPr/>
        </p:nvSpPr>
        <p:spPr>
          <a:xfrm>
            <a:off x="3695700" y="3381375"/>
            <a:ext cx="4800600" cy="1104900"/>
          </a:xfrm>
          <a:prstGeom prst="rect">
            <a:avLst/>
          </a:prstGeom>
          <a:solidFill>
            <a:srgbClr val="000000"/>
          </a:solidFill>
          <a:ln w="9525">
            <a:solidFill>
              <a:srgbClr val="000000"/>
            </a:solidFill>
            <a:prstDash val="solid"/>
          </a:ln>
        </p:spPr>
        <p:txBody>
          <a:bodyPr/>
          <a:lstStyle/>
          <a:p>
            <a:endParaRPr/>
          </a:p>
        </p:txBody>
      </p:sp>
      <p:sp>
        <p:nvSpPr>
          <p:cNvPr id="13" name="shape-81">
            <a:extLst>
              <a:ext uri="{FF2B5EF4-FFF2-40B4-BE49-F238E27FC236}">
                <a16:creationId xmlns:a16="http://schemas.microsoft.com/office/drawing/2014/main" id="{9044F9AA-1AA6-4088-8CA2-B8827158FC85}"/>
              </a:ext>
            </a:extLst>
          </p:cNvPr>
          <p:cNvSpPr>
            <a:spLocks noGrp="1"/>
          </p:cNvSpPr>
          <p:nvPr/>
        </p:nvSpPr>
        <p:spPr>
          <a:xfrm>
            <a:off x="1809750" y="5334000"/>
            <a:ext cx="8572500" cy="723900"/>
          </a:xfrm>
          <a:prstGeom prst="rect">
            <a:avLst/>
          </a:prstGeom>
          <a:solidFill>
            <a:srgbClr val="6DCBF4"/>
          </a:solidFill>
          <a:ln w="9525">
            <a:solidFill>
              <a:srgbClr val="6DCBF4"/>
            </a:solidFill>
            <a:prstDash val="solid"/>
          </a:ln>
        </p:spPr>
        <p:txBody>
          <a:bodyPr/>
          <a:lstStyle/>
          <a:p>
            <a:endParaRPr/>
          </a:p>
        </p:txBody>
      </p:sp>
      <p:sp>
        <p:nvSpPr>
          <p:cNvPr id="14" name="text-82">
            <a:extLst>
              <a:ext uri="{FF2B5EF4-FFF2-40B4-BE49-F238E27FC236}">
                <a16:creationId xmlns:a16="http://schemas.microsoft.com/office/drawing/2014/main" id="{1BBAECF9-F3ED-4DC9-BFBD-099351608C02}"/>
              </a:ext>
            </a:extLst>
          </p:cNvPr>
          <p:cNvSpPr>
            <a:spLocks noGrp="1"/>
          </p:cNvSpPr>
          <p:nvPr/>
        </p:nvSpPr>
        <p:spPr>
          <a:xfrm>
            <a:off x="666750" y="1790700"/>
            <a:ext cx="2857500" cy="323850"/>
          </a:xfrm>
          <a:prstGeom prst="rect">
            <a:avLst/>
          </a:prstGeom>
        </p:spPr>
        <p:txBody>
          <a:bodyPr wrap="square" lIns="0" tIns="0" rIns="0" bIns="0" anchor="t">
            <a:normAutofit/>
          </a:bodyPr>
          <a:lstStyle/>
          <a:p>
            <a:pPr algn="ctr">
              <a:buNone/>
              <a:defRPr sz="1875" b="1">
                <a:solidFill>
                  <a:srgbClr val="000000"/>
                </a:solidFill>
                <a:latin typeface="Helvetica Neue"/>
                <a:ea typeface="Helvetica Neue"/>
                <a:cs typeface="Helvetica Neue"/>
              </a:defRPr>
            </a:pPr>
            <a:r>
              <a:t>meta_data.json</a:t>
            </a:r>
          </a:p>
        </p:txBody>
      </p:sp>
      <p:sp>
        <p:nvSpPr>
          <p:cNvPr id="15" name="text-83">
            <a:extLst>
              <a:ext uri="{FF2B5EF4-FFF2-40B4-BE49-F238E27FC236}">
                <a16:creationId xmlns:a16="http://schemas.microsoft.com/office/drawing/2014/main" id="{72033C8D-05FC-490E-A6DE-8BF18AAED005}"/>
              </a:ext>
            </a:extLst>
          </p:cNvPr>
          <p:cNvSpPr>
            <a:spLocks noGrp="1"/>
          </p:cNvSpPr>
          <p:nvPr/>
        </p:nvSpPr>
        <p:spPr>
          <a:xfrm>
            <a:off x="666750" y="2209800"/>
            <a:ext cx="2857500" cy="438150"/>
          </a:xfrm>
          <a:prstGeom prst="rect">
            <a:avLst/>
          </a:prstGeom>
        </p:spPr>
        <p:txBody>
          <a:bodyPr wrap="square" lIns="0" tIns="0" rIns="0" bIns="0" anchor="t">
            <a:normAutofit/>
          </a:bodyPr>
          <a:lstStyle/>
          <a:p>
            <a:pPr algn="ctr">
              <a:buNone/>
              <a:defRPr sz="1275" b="0">
                <a:solidFill>
                  <a:srgbClr val="000000"/>
                </a:solidFill>
                <a:latin typeface="Helvetica Neue"/>
                <a:ea typeface="Helvetica Neue"/>
                <a:cs typeface="Helvetica Neue"/>
              </a:defRPr>
            </a:pPr>
            <a:r>
              <a:t>Campaigns, adsets, ads, creatives, daily insights</a:t>
            </a:r>
          </a:p>
        </p:txBody>
      </p:sp>
      <p:sp>
        <p:nvSpPr>
          <p:cNvPr id="16" name="text-84">
            <a:extLst>
              <a:ext uri="{FF2B5EF4-FFF2-40B4-BE49-F238E27FC236}">
                <a16:creationId xmlns:a16="http://schemas.microsoft.com/office/drawing/2014/main" id="{050D36C0-89B1-46CB-9D09-E7EB6614C6BA}"/>
              </a:ext>
            </a:extLst>
          </p:cNvPr>
          <p:cNvSpPr>
            <a:spLocks noGrp="1"/>
          </p:cNvSpPr>
          <p:nvPr/>
        </p:nvSpPr>
        <p:spPr>
          <a:xfrm>
            <a:off x="4667250" y="1790700"/>
            <a:ext cx="2857500" cy="323850"/>
          </a:xfrm>
          <a:prstGeom prst="rect">
            <a:avLst/>
          </a:prstGeom>
        </p:spPr>
        <p:txBody>
          <a:bodyPr wrap="square" lIns="0" tIns="0" rIns="0" bIns="0" anchor="t">
            <a:normAutofit/>
          </a:bodyPr>
          <a:lstStyle/>
          <a:p>
            <a:pPr algn="ctr">
              <a:buNone/>
              <a:defRPr sz="1875" b="1">
                <a:solidFill>
                  <a:srgbClr val="000000"/>
                </a:solidFill>
                <a:latin typeface="Helvetica Neue"/>
                <a:ea typeface="Helvetica Neue"/>
                <a:cs typeface="Helvetica Neue"/>
              </a:defRPr>
            </a:pPr>
            <a:r>
              <a:t>conversations.json</a:t>
            </a:r>
          </a:p>
        </p:txBody>
      </p:sp>
      <p:sp>
        <p:nvSpPr>
          <p:cNvPr id="17" name="text-85">
            <a:extLst>
              <a:ext uri="{FF2B5EF4-FFF2-40B4-BE49-F238E27FC236}">
                <a16:creationId xmlns:a16="http://schemas.microsoft.com/office/drawing/2014/main" id="{31625250-22FA-4816-8DDA-1F7317AA1842}"/>
              </a:ext>
            </a:extLst>
          </p:cNvPr>
          <p:cNvSpPr>
            <a:spLocks noGrp="1"/>
          </p:cNvSpPr>
          <p:nvPr/>
        </p:nvSpPr>
        <p:spPr>
          <a:xfrm>
            <a:off x="4667250" y="2209800"/>
            <a:ext cx="2857500" cy="438150"/>
          </a:xfrm>
          <a:prstGeom prst="rect">
            <a:avLst/>
          </a:prstGeom>
        </p:spPr>
        <p:txBody>
          <a:bodyPr wrap="square" lIns="0" tIns="0" rIns="0" bIns="0" anchor="t">
            <a:normAutofit/>
          </a:bodyPr>
          <a:lstStyle/>
          <a:p>
            <a:pPr algn="ctr">
              <a:buNone/>
              <a:defRPr sz="1275" b="0">
                <a:solidFill>
                  <a:srgbClr val="000000"/>
                </a:solidFill>
                <a:latin typeface="Helvetica Neue"/>
                <a:ea typeface="Helvetica Neue"/>
                <a:cs typeface="Helvetica Neue"/>
              </a:defRPr>
            </a:pPr>
            <a:r>
              <a:t>Source IDs, customer cycle, order outcome, messages</a:t>
            </a:r>
          </a:p>
        </p:txBody>
      </p:sp>
      <p:sp>
        <p:nvSpPr>
          <p:cNvPr id="18" name="text-86">
            <a:extLst>
              <a:ext uri="{FF2B5EF4-FFF2-40B4-BE49-F238E27FC236}">
                <a16:creationId xmlns:a16="http://schemas.microsoft.com/office/drawing/2014/main" id="{EB5C9443-4775-4DDD-8990-BD33C8AE3E30}"/>
              </a:ext>
            </a:extLst>
          </p:cNvPr>
          <p:cNvSpPr>
            <a:spLocks noGrp="1"/>
          </p:cNvSpPr>
          <p:nvPr/>
        </p:nvSpPr>
        <p:spPr>
          <a:xfrm>
            <a:off x="8667750" y="1790700"/>
            <a:ext cx="2857500" cy="323850"/>
          </a:xfrm>
          <a:prstGeom prst="rect">
            <a:avLst/>
          </a:prstGeom>
        </p:spPr>
        <p:txBody>
          <a:bodyPr wrap="square" lIns="0" tIns="0" rIns="0" bIns="0" anchor="t">
            <a:normAutofit/>
          </a:bodyPr>
          <a:lstStyle/>
          <a:p>
            <a:pPr algn="ctr">
              <a:buNone/>
              <a:defRPr sz="1875" b="1">
                <a:solidFill>
                  <a:srgbClr val="000000"/>
                </a:solidFill>
                <a:latin typeface="Helvetica Neue"/>
                <a:ea typeface="Helvetica Neue"/>
                <a:cs typeface="Helvetica Neue"/>
              </a:defRPr>
            </a:pPr>
            <a:r>
              <a:t>products.json</a:t>
            </a:r>
          </a:p>
        </p:txBody>
      </p:sp>
      <p:sp>
        <p:nvSpPr>
          <p:cNvPr id="19" name="text-87">
            <a:extLst>
              <a:ext uri="{FF2B5EF4-FFF2-40B4-BE49-F238E27FC236}">
                <a16:creationId xmlns:a16="http://schemas.microsoft.com/office/drawing/2014/main" id="{604D2358-CB86-40CA-AF3E-745EF7B9CDD0}"/>
              </a:ext>
            </a:extLst>
          </p:cNvPr>
          <p:cNvSpPr>
            <a:spLocks noGrp="1"/>
          </p:cNvSpPr>
          <p:nvPr/>
        </p:nvSpPr>
        <p:spPr>
          <a:xfrm>
            <a:off x="8667750" y="2209800"/>
            <a:ext cx="2857500" cy="438150"/>
          </a:xfrm>
          <a:prstGeom prst="rect">
            <a:avLst/>
          </a:prstGeom>
        </p:spPr>
        <p:txBody>
          <a:bodyPr wrap="square" lIns="0" tIns="0" rIns="0" bIns="0" anchor="t">
            <a:normAutofit/>
          </a:bodyPr>
          <a:lstStyle/>
          <a:p>
            <a:pPr algn="ctr">
              <a:buNone/>
              <a:defRPr sz="1275" b="0">
                <a:solidFill>
                  <a:srgbClr val="000000"/>
                </a:solidFill>
                <a:latin typeface="Helvetica Neue"/>
                <a:ea typeface="Helvetica Neue"/>
                <a:cs typeface="Helvetica Neue"/>
              </a:defRPr>
            </a:pPr>
            <a:r>
              <a:t>Product metadata joined to order line items</a:t>
            </a:r>
          </a:p>
        </p:txBody>
      </p:sp>
      <p:sp>
        <p:nvSpPr>
          <p:cNvPr id="20" name="text-88">
            <a:extLst>
              <a:ext uri="{FF2B5EF4-FFF2-40B4-BE49-F238E27FC236}">
                <a16:creationId xmlns:a16="http://schemas.microsoft.com/office/drawing/2014/main" id="{C87E176D-7BE9-4A28-B275-FB60775E410F}"/>
              </a:ext>
            </a:extLst>
          </p:cNvPr>
          <p:cNvSpPr>
            <a:spLocks noGrp="1"/>
          </p:cNvSpPr>
          <p:nvPr/>
        </p:nvSpPr>
        <p:spPr>
          <a:xfrm>
            <a:off x="4076700" y="3648075"/>
            <a:ext cx="4038600" cy="342900"/>
          </a:xfrm>
          <a:prstGeom prst="rect">
            <a:avLst/>
          </a:prstGeom>
        </p:spPr>
        <p:txBody>
          <a:bodyPr wrap="square" lIns="0" tIns="0" rIns="0" bIns="0" anchor="t">
            <a:normAutofit/>
          </a:bodyPr>
          <a:lstStyle/>
          <a:p>
            <a:pPr algn="ctr">
              <a:buNone/>
              <a:defRPr sz="1875" b="1">
                <a:solidFill>
                  <a:srgbClr val="FFFFFF"/>
                </a:solidFill>
                <a:latin typeface="Helvetica Neue"/>
                <a:ea typeface="Helvetica Neue"/>
                <a:cs typeface="Helvetica Neue"/>
              </a:defRPr>
            </a:pPr>
            <a:r>
              <a:t>CANONICAL EVIDENCE MODEL</a:t>
            </a:r>
          </a:p>
        </p:txBody>
      </p:sp>
      <p:sp>
        <p:nvSpPr>
          <p:cNvPr id="21" name="text-89">
            <a:extLst>
              <a:ext uri="{FF2B5EF4-FFF2-40B4-BE49-F238E27FC236}">
                <a16:creationId xmlns:a16="http://schemas.microsoft.com/office/drawing/2014/main" id="{75FDCED8-79A0-4C02-BCCC-AD356887B7A9}"/>
              </a:ext>
            </a:extLst>
          </p:cNvPr>
          <p:cNvSpPr>
            <a:spLocks noGrp="1"/>
          </p:cNvSpPr>
          <p:nvPr/>
        </p:nvSpPr>
        <p:spPr>
          <a:xfrm>
            <a:off x="4076700" y="4057650"/>
            <a:ext cx="4038600" cy="266700"/>
          </a:xfrm>
          <a:prstGeom prst="rect">
            <a:avLst/>
          </a:prstGeom>
        </p:spPr>
        <p:txBody>
          <a:bodyPr wrap="square" lIns="0" tIns="0" rIns="0" bIns="0" anchor="t">
            <a:normAutofit fontScale="83473"/>
          </a:bodyPr>
          <a:lstStyle/>
          <a:p>
            <a:pPr algn="ctr">
              <a:buNone/>
              <a:defRPr sz="1275" b="0">
                <a:solidFill>
                  <a:srgbClr val="FFFFFF"/>
                </a:solidFill>
                <a:latin typeface="Helvetica Neue"/>
                <a:ea typeface="Helvetica Neue"/>
                <a:cs typeface="Helvetica Neue"/>
              </a:defRPr>
            </a:pPr>
            <a:r>
              <a:t>Keep daily media facts separate from conversation and order facts</a:t>
            </a:r>
          </a:p>
        </p:txBody>
      </p:sp>
      <p:sp>
        <p:nvSpPr>
          <p:cNvPr id="22" name="text-90">
            <a:extLst>
              <a:ext uri="{FF2B5EF4-FFF2-40B4-BE49-F238E27FC236}">
                <a16:creationId xmlns:a16="http://schemas.microsoft.com/office/drawing/2014/main" id="{539761F1-A74A-49F0-AF6B-2D681CCE3671}"/>
              </a:ext>
            </a:extLst>
          </p:cNvPr>
          <p:cNvSpPr>
            <a:spLocks noGrp="1"/>
          </p:cNvSpPr>
          <p:nvPr/>
        </p:nvSpPr>
        <p:spPr>
          <a:xfrm>
            <a:off x="2095500" y="5543550"/>
            <a:ext cx="8001000" cy="323850"/>
          </a:xfrm>
          <a:prstGeom prst="rect">
            <a:avLst/>
          </a:prstGeom>
        </p:spPr>
        <p:txBody>
          <a:bodyPr wrap="square" lIns="0" tIns="0" rIns="0" bIns="0" anchor="t">
            <a:normAutofit/>
          </a:bodyPr>
          <a:lstStyle/>
          <a:p>
            <a:pPr algn="ctr">
              <a:buNone/>
              <a:defRPr sz="1800" b="1">
                <a:solidFill>
                  <a:srgbClr val="000000"/>
                </a:solidFill>
                <a:latin typeface="Helvetica Neue"/>
                <a:ea typeface="Helvetica Neue"/>
                <a:cs typeface="Helvetica Neue"/>
              </a:defRPr>
            </a:pPr>
            <a:r>
              <a:t>Aggregate separately, then join at campaign / adset / ad grain</a:t>
            </a:r>
          </a:p>
        </p:txBody>
      </p:sp>
    </p:spTree>
    <p:extLst>
      <p:ext uri="{BB962C8B-B14F-4D97-AF65-F5344CB8AC3E}">
        <p14:creationId xmlns:p14="http://schemas.microsoft.com/office/powerpoint/2010/main" val="1539803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6-title">
            <a:extLst>
              <a:ext uri="{FF2B5EF4-FFF2-40B4-BE49-F238E27FC236}">
                <a16:creationId xmlns:a16="http://schemas.microsoft.com/office/drawing/2014/main" id="{45CE0A1A-68B8-46F6-806A-7D2F85EF1E7D}"/>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150" b="1">
                <a:solidFill>
                  <a:srgbClr val="000000"/>
                </a:solidFill>
                <a:latin typeface="Helvetica Neue"/>
                <a:ea typeface="Helvetica Neue"/>
                <a:cs typeface="Helvetica Neue"/>
              </a:defRPr>
            </a:pPr>
            <a:r>
              <a:t>The 0.53% gap blocks automation, not analysis</a:t>
            </a:r>
          </a:p>
        </p:txBody>
      </p:sp>
      <p:cxnSp>
        <p:nvCxnSpPr>
          <p:cNvPr id="21" name="line-107"/>
          <p:cNvCxnSpPr/>
          <p:nvPr/>
        </p:nvCxnSpPr>
        <p:spPr>
          <a:xfrm>
            <a:off x="495300" y="1057275"/>
            <a:ext cx="11296650" cy="9525"/>
          </a:xfrm>
          <a:prstGeom prst="straightConnector1">
            <a:avLst/>
          </a:prstGeom>
          <a:ln w="9525">
            <a:solidFill>
              <a:srgbClr val="B8BCC4"/>
            </a:solidFill>
            <a:prstDash val="solid"/>
          </a:ln>
        </p:spPr>
      </p:cxnSp>
      <p:sp>
        <p:nvSpPr>
          <p:cNvPr id="3" name="slide-6-source">
            <a:extLst>
              <a:ext uri="{FF2B5EF4-FFF2-40B4-BE49-F238E27FC236}">
                <a16:creationId xmlns:a16="http://schemas.microsoft.com/office/drawing/2014/main" id="{D081332B-17A3-4ECE-ACB5-06038437B1D8}"/>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Sample 2 data-quality audit; src_2 data_quality_rules.yaml</a:t>
            </a:r>
          </a:p>
        </p:txBody>
      </p:sp>
      <p:sp>
        <p:nvSpPr>
          <p:cNvPr id="4" name="slide-6-number">
            <a:extLst>
              <a:ext uri="{FF2B5EF4-FFF2-40B4-BE49-F238E27FC236}">
                <a16:creationId xmlns:a16="http://schemas.microsoft.com/office/drawing/2014/main" id="{C2B2D076-EC11-4EB5-8B66-612D47618208}"/>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06</a:t>
            </a:r>
          </a:p>
        </p:txBody>
      </p:sp>
      <p:sp>
        <p:nvSpPr>
          <p:cNvPr id="5" name="shape-95">
            <a:extLst>
              <a:ext uri="{FF2B5EF4-FFF2-40B4-BE49-F238E27FC236}">
                <a16:creationId xmlns:a16="http://schemas.microsoft.com/office/drawing/2014/main" id="{7A4BD03C-D980-454C-95F5-A3482CA9F6A9}"/>
              </a:ext>
            </a:extLst>
          </p:cNvPr>
          <p:cNvSpPr>
            <a:spLocks noGrp="1"/>
          </p:cNvSpPr>
          <p:nvPr/>
        </p:nvSpPr>
        <p:spPr>
          <a:xfrm>
            <a:off x="390525" y="1771650"/>
            <a:ext cx="3562350" cy="2762250"/>
          </a:xfrm>
          <a:prstGeom prst="rect">
            <a:avLst/>
          </a:prstGeom>
          <a:solidFill>
            <a:srgbClr val="F7F7F7"/>
          </a:solidFill>
          <a:ln w="9525">
            <a:solidFill>
              <a:srgbClr val="B8BCC4"/>
            </a:solidFill>
            <a:prstDash val="solid"/>
          </a:ln>
        </p:spPr>
        <p:txBody>
          <a:bodyPr/>
          <a:lstStyle/>
          <a:p>
            <a:endParaRPr/>
          </a:p>
        </p:txBody>
      </p:sp>
      <p:sp>
        <p:nvSpPr>
          <p:cNvPr id="6" name="shape-96">
            <a:extLst>
              <a:ext uri="{FF2B5EF4-FFF2-40B4-BE49-F238E27FC236}">
                <a16:creationId xmlns:a16="http://schemas.microsoft.com/office/drawing/2014/main" id="{FD0CBB29-7D83-4B44-8C59-54AD58F1AB79}"/>
              </a:ext>
            </a:extLst>
          </p:cNvPr>
          <p:cNvSpPr>
            <a:spLocks noGrp="1"/>
          </p:cNvSpPr>
          <p:nvPr/>
        </p:nvSpPr>
        <p:spPr>
          <a:xfrm>
            <a:off x="4314825" y="1771650"/>
            <a:ext cx="3562350" cy="2762250"/>
          </a:xfrm>
          <a:prstGeom prst="rect">
            <a:avLst/>
          </a:prstGeom>
          <a:solidFill>
            <a:srgbClr val="F7F7F7"/>
          </a:solidFill>
          <a:ln w="9525">
            <a:solidFill>
              <a:srgbClr val="B8BCC4"/>
            </a:solidFill>
            <a:prstDash val="solid"/>
          </a:ln>
        </p:spPr>
        <p:txBody>
          <a:bodyPr/>
          <a:lstStyle/>
          <a:p>
            <a:endParaRPr/>
          </a:p>
        </p:txBody>
      </p:sp>
      <p:sp>
        <p:nvSpPr>
          <p:cNvPr id="7" name="shape-97">
            <a:extLst>
              <a:ext uri="{FF2B5EF4-FFF2-40B4-BE49-F238E27FC236}">
                <a16:creationId xmlns:a16="http://schemas.microsoft.com/office/drawing/2014/main" id="{C53E62AC-E05A-4174-A4B8-E3780B183FA7}"/>
              </a:ext>
            </a:extLst>
          </p:cNvPr>
          <p:cNvSpPr>
            <a:spLocks noGrp="1"/>
          </p:cNvSpPr>
          <p:nvPr/>
        </p:nvSpPr>
        <p:spPr>
          <a:xfrm>
            <a:off x="8239125" y="1771650"/>
            <a:ext cx="3562350" cy="2762250"/>
          </a:xfrm>
          <a:prstGeom prst="rect">
            <a:avLst/>
          </a:prstGeom>
          <a:solidFill>
            <a:srgbClr val="F7F7F7"/>
          </a:solidFill>
          <a:ln w="9525">
            <a:solidFill>
              <a:srgbClr val="B8BCC4"/>
            </a:solidFill>
            <a:prstDash val="solid"/>
          </a:ln>
        </p:spPr>
        <p:txBody>
          <a:bodyPr/>
          <a:lstStyle/>
          <a:p>
            <a:endParaRPr/>
          </a:p>
        </p:txBody>
      </p:sp>
      <p:sp>
        <p:nvSpPr>
          <p:cNvPr id="8" name="text-98">
            <a:extLst>
              <a:ext uri="{FF2B5EF4-FFF2-40B4-BE49-F238E27FC236}">
                <a16:creationId xmlns:a16="http://schemas.microsoft.com/office/drawing/2014/main" id="{0C37BAA3-C96D-441B-9D0A-1AC28205481F}"/>
              </a:ext>
            </a:extLst>
          </p:cNvPr>
          <p:cNvSpPr>
            <a:spLocks noGrp="1"/>
          </p:cNvSpPr>
          <p:nvPr/>
        </p:nvSpPr>
        <p:spPr>
          <a:xfrm>
            <a:off x="666750" y="2152650"/>
            <a:ext cx="3009900" cy="838200"/>
          </a:xfrm>
          <a:prstGeom prst="rect">
            <a:avLst/>
          </a:prstGeom>
        </p:spPr>
        <p:txBody>
          <a:bodyPr wrap="square" lIns="0" tIns="0" rIns="0" bIns="0" anchor="t">
            <a:normAutofit/>
          </a:bodyPr>
          <a:lstStyle/>
          <a:p>
            <a:pPr algn="ctr">
              <a:buNone/>
              <a:defRPr sz="4350" b="1">
                <a:solidFill>
                  <a:srgbClr val="3D8DFF"/>
                </a:solidFill>
                <a:latin typeface="Helvetica Neue"/>
                <a:ea typeface="Helvetica Neue"/>
                <a:cs typeface="Helvetica Neue"/>
              </a:defRPr>
            </a:pPr>
            <a:r>
              <a:t>0.53%</a:t>
            </a:r>
          </a:p>
        </p:txBody>
      </p:sp>
      <p:sp>
        <p:nvSpPr>
          <p:cNvPr id="9" name="text-99">
            <a:extLst>
              <a:ext uri="{FF2B5EF4-FFF2-40B4-BE49-F238E27FC236}">
                <a16:creationId xmlns:a16="http://schemas.microsoft.com/office/drawing/2014/main" id="{50792B50-044C-411A-8986-1161B19ECBFC}"/>
              </a:ext>
            </a:extLst>
          </p:cNvPr>
          <p:cNvSpPr>
            <a:spLocks noGrp="1"/>
          </p:cNvSpPr>
          <p:nvPr/>
        </p:nvSpPr>
        <p:spPr>
          <a:xfrm>
            <a:off x="762000" y="3295650"/>
            <a:ext cx="2819400" cy="704850"/>
          </a:xfrm>
          <a:prstGeom prst="rect">
            <a:avLst/>
          </a:prstGeom>
        </p:spPr>
        <p:txBody>
          <a:bodyPr wrap="square" lIns="0" tIns="0" rIns="0" bIns="0" anchor="t">
            <a:normAutofit/>
          </a:bodyPr>
          <a:lstStyle/>
          <a:p>
            <a:pPr algn="ctr">
              <a:buNone/>
              <a:defRPr sz="1425" b="0">
                <a:solidFill>
                  <a:srgbClr val="000000"/>
                </a:solidFill>
                <a:latin typeface="Helvetica Neue"/>
                <a:ea typeface="Helvetica Neue"/>
                <a:cs typeface="Helvetica Neue"/>
              </a:defRPr>
            </a:pPr>
            <a:r>
              <a:t>617 supplied records divided by 116,098 Meta actions</a:t>
            </a:r>
          </a:p>
        </p:txBody>
      </p:sp>
      <p:sp>
        <p:nvSpPr>
          <p:cNvPr id="10" name="text-100">
            <a:extLst>
              <a:ext uri="{FF2B5EF4-FFF2-40B4-BE49-F238E27FC236}">
                <a16:creationId xmlns:a16="http://schemas.microsoft.com/office/drawing/2014/main" id="{E2472ECA-DA36-4245-A0A7-7F288BCEB65C}"/>
              </a:ext>
            </a:extLst>
          </p:cNvPr>
          <p:cNvSpPr>
            <a:spLocks noGrp="1"/>
          </p:cNvSpPr>
          <p:nvPr/>
        </p:nvSpPr>
        <p:spPr>
          <a:xfrm>
            <a:off x="4591050" y="2152650"/>
            <a:ext cx="3009900" cy="838200"/>
          </a:xfrm>
          <a:prstGeom prst="rect">
            <a:avLst/>
          </a:prstGeom>
        </p:spPr>
        <p:txBody>
          <a:bodyPr wrap="square" lIns="0" tIns="0" rIns="0" bIns="0" anchor="t">
            <a:normAutofit/>
          </a:bodyPr>
          <a:lstStyle/>
          <a:p>
            <a:pPr algn="ctr">
              <a:buNone/>
              <a:defRPr sz="3900" b="1">
                <a:solidFill>
                  <a:srgbClr val="3D8DFF"/>
                </a:solidFill>
                <a:latin typeface="Helvetica Neue"/>
                <a:ea typeface="Helvetica Neue"/>
                <a:cs typeface="Helvetica Neue"/>
              </a:defRPr>
            </a:pPr>
            <a:r>
              <a:t>617 / 617</a:t>
            </a:r>
          </a:p>
        </p:txBody>
      </p:sp>
      <p:sp>
        <p:nvSpPr>
          <p:cNvPr id="11" name="text-101">
            <a:extLst>
              <a:ext uri="{FF2B5EF4-FFF2-40B4-BE49-F238E27FC236}">
                <a16:creationId xmlns:a16="http://schemas.microsoft.com/office/drawing/2014/main" id="{2DC20D12-BE33-420A-A605-2B9243F9F2FC}"/>
              </a:ext>
            </a:extLst>
          </p:cNvPr>
          <p:cNvSpPr>
            <a:spLocks noGrp="1"/>
          </p:cNvSpPr>
          <p:nvPr/>
        </p:nvSpPr>
        <p:spPr>
          <a:xfrm>
            <a:off x="4686300" y="3295650"/>
            <a:ext cx="2819400" cy="704850"/>
          </a:xfrm>
          <a:prstGeom prst="rect">
            <a:avLst/>
          </a:prstGeom>
        </p:spPr>
        <p:txBody>
          <a:bodyPr wrap="square" lIns="0" tIns="0" rIns="0" bIns="0" anchor="t">
            <a:normAutofit/>
          </a:bodyPr>
          <a:lstStyle/>
          <a:p>
            <a:pPr algn="ctr">
              <a:buNone/>
              <a:defRPr sz="1425" b="0">
                <a:solidFill>
                  <a:srgbClr val="000000"/>
                </a:solidFill>
                <a:latin typeface="Helvetica Neue"/>
                <a:ea typeface="Helvetica Neue"/>
                <a:cs typeface="Helvetica Neue"/>
              </a:defRPr>
            </a:pPr>
            <a:r>
              <a:t>Every supplied Meta-sourced conversation joins to known hierarchy IDs</a:t>
            </a:r>
          </a:p>
        </p:txBody>
      </p:sp>
      <p:sp>
        <p:nvSpPr>
          <p:cNvPr id="12" name="text-102">
            <a:extLst>
              <a:ext uri="{FF2B5EF4-FFF2-40B4-BE49-F238E27FC236}">
                <a16:creationId xmlns:a16="http://schemas.microsoft.com/office/drawing/2014/main" id="{EC010AF6-BE6F-434C-B75C-E9F7372F360E}"/>
              </a:ext>
            </a:extLst>
          </p:cNvPr>
          <p:cNvSpPr>
            <a:spLocks noGrp="1"/>
          </p:cNvSpPr>
          <p:nvPr/>
        </p:nvSpPr>
        <p:spPr>
          <a:xfrm>
            <a:off x="8515350" y="2152650"/>
            <a:ext cx="3009900" cy="838200"/>
          </a:xfrm>
          <a:prstGeom prst="rect">
            <a:avLst/>
          </a:prstGeom>
        </p:spPr>
        <p:txBody>
          <a:bodyPr wrap="square" lIns="0" tIns="0" rIns="0" bIns="0" anchor="t">
            <a:normAutofit/>
          </a:bodyPr>
          <a:lstStyle/>
          <a:p>
            <a:pPr algn="ctr">
              <a:buNone/>
              <a:defRPr sz="3600" b="1">
                <a:solidFill>
                  <a:srgbClr val="3D8DFF"/>
                </a:solidFill>
                <a:latin typeface="Helvetica Neue"/>
                <a:ea typeface="Helvetica Neue"/>
                <a:cs typeface="Helvetica Neue"/>
              </a:defRPr>
            </a:pPr>
            <a:r>
              <a:t>2 definitions</a:t>
            </a:r>
          </a:p>
        </p:txBody>
      </p:sp>
      <p:sp>
        <p:nvSpPr>
          <p:cNvPr id="13" name="text-103">
            <a:extLst>
              <a:ext uri="{FF2B5EF4-FFF2-40B4-BE49-F238E27FC236}">
                <a16:creationId xmlns:a16="http://schemas.microsoft.com/office/drawing/2014/main" id="{FEF57073-107D-4243-9C0F-30B3D6B3FC27}"/>
              </a:ext>
            </a:extLst>
          </p:cNvPr>
          <p:cNvSpPr>
            <a:spLocks noGrp="1"/>
          </p:cNvSpPr>
          <p:nvPr/>
        </p:nvSpPr>
        <p:spPr>
          <a:xfrm>
            <a:off x="8610600" y="3295650"/>
            <a:ext cx="2819400" cy="704850"/>
          </a:xfrm>
          <a:prstGeom prst="rect">
            <a:avLst/>
          </a:prstGeom>
        </p:spPr>
        <p:txBody>
          <a:bodyPr wrap="square" lIns="0" tIns="0" rIns="0" bIns="0" anchor="t">
            <a:normAutofit/>
          </a:bodyPr>
          <a:lstStyle/>
          <a:p>
            <a:pPr algn="ctr">
              <a:buNone/>
              <a:defRPr sz="1425" b="0">
                <a:solidFill>
                  <a:srgbClr val="000000"/>
                </a:solidFill>
                <a:latin typeface="Helvetica Neue"/>
                <a:ea typeface="Helvetica Neue"/>
                <a:cs typeface="Helvetica Neue"/>
              </a:defRPr>
            </a:pPr>
            <a:r>
              <a:t>Meta attributed actions and WhatsApp unique records may not be the same population</a:t>
            </a:r>
          </a:p>
        </p:txBody>
      </p:sp>
      <p:sp>
        <p:nvSpPr>
          <p:cNvPr id="14" name="shape-104">
            <a:extLst>
              <a:ext uri="{FF2B5EF4-FFF2-40B4-BE49-F238E27FC236}">
                <a16:creationId xmlns:a16="http://schemas.microsoft.com/office/drawing/2014/main" id="{9CD2FD2F-6E24-4956-81D8-53BA439B1C75}"/>
              </a:ext>
            </a:extLst>
          </p:cNvPr>
          <p:cNvSpPr>
            <a:spLocks noGrp="1"/>
          </p:cNvSpPr>
          <p:nvPr/>
        </p:nvSpPr>
        <p:spPr>
          <a:xfrm>
            <a:off x="390525" y="4953000"/>
            <a:ext cx="11410950" cy="971550"/>
          </a:xfrm>
          <a:prstGeom prst="rect">
            <a:avLst/>
          </a:prstGeom>
          <a:solidFill>
            <a:srgbClr val="F4C27A"/>
          </a:solidFill>
          <a:ln w="9525">
            <a:solidFill>
              <a:srgbClr val="F4C27A"/>
            </a:solidFill>
            <a:prstDash val="solid"/>
          </a:ln>
        </p:spPr>
        <p:txBody>
          <a:bodyPr/>
          <a:lstStyle/>
          <a:p>
            <a:endParaRPr/>
          </a:p>
        </p:txBody>
      </p:sp>
      <p:sp>
        <p:nvSpPr>
          <p:cNvPr id="15" name="text-105">
            <a:extLst>
              <a:ext uri="{FF2B5EF4-FFF2-40B4-BE49-F238E27FC236}">
                <a16:creationId xmlns:a16="http://schemas.microsoft.com/office/drawing/2014/main" id="{623A6265-7F21-427A-946B-95387172EAB1}"/>
              </a:ext>
            </a:extLst>
          </p:cNvPr>
          <p:cNvSpPr>
            <a:spLocks noGrp="1"/>
          </p:cNvSpPr>
          <p:nvPr/>
        </p:nvSpPr>
        <p:spPr>
          <a:xfrm>
            <a:off x="723900" y="5219700"/>
            <a:ext cx="10744200" cy="514350"/>
          </a:xfrm>
          <a:prstGeom prst="rect">
            <a:avLst/>
          </a:prstGeom>
        </p:spPr>
        <p:txBody>
          <a:bodyPr wrap="square" lIns="0" tIns="0" rIns="0" bIns="0" anchor="ctr">
            <a:normAutofit fontScale="90000"/>
          </a:bodyPr>
          <a:lstStyle/>
          <a:p>
            <a:pPr algn="ctr">
              <a:buNone/>
              <a:defRPr sz="1875" b="1">
                <a:solidFill>
                  <a:srgbClr val="000000"/>
                </a:solidFill>
                <a:latin typeface="Helvetica Neue"/>
                <a:ea typeface="Helvetica Neue"/>
                <a:cs typeface="Helvetica Neue"/>
              </a:defRPr>
            </a:pPr>
            <a:r>
              <a:t>Decision: media analysis remains available; outcome allocation is illustrative and non-operational until reconciliation.</a:t>
            </a:r>
          </a:p>
        </p:txBody>
      </p:sp>
    </p:spTree>
    <p:extLst>
      <p:ext uri="{BB962C8B-B14F-4D97-AF65-F5344CB8AC3E}">
        <p14:creationId xmlns:p14="http://schemas.microsoft.com/office/powerpoint/2010/main" val="1619751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7-title">
            <a:extLst>
              <a:ext uri="{FF2B5EF4-FFF2-40B4-BE49-F238E27FC236}">
                <a16:creationId xmlns:a16="http://schemas.microsoft.com/office/drawing/2014/main" id="{4B448C57-C2F1-4BEA-8E8A-9FFEB19A0FAD}"/>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150" b="1">
                <a:solidFill>
                  <a:srgbClr val="000000"/>
                </a:solidFill>
                <a:latin typeface="Helvetica Neue"/>
                <a:ea typeface="Helvetica Neue"/>
                <a:cs typeface="Helvetica Neue"/>
              </a:defRPr>
            </a:pPr>
            <a:r>
              <a:t>Meta and WhatsApp answer different questions</a:t>
            </a:r>
          </a:p>
        </p:txBody>
      </p:sp>
      <p:cxnSp>
        <p:nvCxnSpPr>
          <p:cNvPr id="14" name="line-112"/>
          <p:cNvCxnSpPr/>
          <p:nvPr/>
        </p:nvCxnSpPr>
        <p:spPr>
          <a:xfrm>
            <a:off x="495300" y="1057275"/>
            <a:ext cx="11296650" cy="9525"/>
          </a:xfrm>
          <a:prstGeom prst="straightConnector1">
            <a:avLst/>
          </a:prstGeom>
          <a:ln w="9525">
            <a:solidFill>
              <a:srgbClr val="B8BCC4"/>
            </a:solidFill>
            <a:prstDash val="solid"/>
          </a:ln>
        </p:spPr>
      </p:cxnSp>
      <p:sp>
        <p:nvSpPr>
          <p:cNvPr id="3" name="slide-7-source">
            <a:extLst>
              <a:ext uri="{FF2B5EF4-FFF2-40B4-BE49-F238E27FC236}">
                <a16:creationId xmlns:a16="http://schemas.microsoft.com/office/drawing/2014/main" id="{891B388A-2911-4B7D-91DE-4866F04B78AA}"/>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src_2 KPI definitions; Sample 2 methodology</a:t>
            </a:r>
          </a:p>
        </p:txBody>
      </p:sp>
      <p:sp>
        <p:nvSpPr>
          <p:cNvPr id="4" name="slide-7-number">
            <a:extLst>
              <a:ext uri="{FF2B5EF4-FFF2-40B4-BE49-F238E27FC236}">
                <a16:creationId xmlns:a16="http://schemas.microsoft.com/office/drawing/2014/main" id="{C13DD481-5756-4C79-9411-0D4E165D09C4}"/>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07</a:t>
            </a:r>
          </a:p>
        </p:txBody>
      </p:sp>
      <p:sp>
        <p:nvSpPr>
          <p:cNvPr id="5" name="text-110">
            <a:extLst>
              <a:ext uri="{FF2B5EF4-FFF2-40B4-BE49-F238E27FC236}">
                <a16:creationId xmlns:a16="http://schemas.microsoft.com/office/drawing/2014/main" id="{8C105EA6-D0BD-4FCD-82D5-B3442BD6D2CD}"/>
              </a:ext>
            </a:extLst>
          </p:cNvPr>
          <p:cNvSpPr>
            <a:spLocks noGrp="1"/>
          </p:cNvSpPr>
          <p:nvPr/>
        </p:nvSpPr>
        <p:spPr>
          <a:xfrm>
            <a:off x="390525" y="1219200"/>
            <a:ext cx="11410950" cy="361950"/>
          </a:xfrm>
          <a:prstGeom prst="rect">
            <a:avLst/>
          </a:prstGeom>
        </p:spPr>
        <p:txBody>
          <a:bodyPr wrap="square" lIns="0" tIns="0" rIns="0" bIns="0" anchor="t">
            <a:normAutofit/>
          </a:bodyPr>
          <a:lstStyle/>
          <a:p>
            <a:pPr algn="l">
              <a:buNone/>
              <a:defRPr sz="1650" b="1">
                <a:solidFill>
                  <a:srgbClr val="3D8DFF"/>
                </a:solidFill>
                <a:latin typeface="Helvetica Neue"/>
                <a:ea typeface="Helvetica Neue"/>
                <a:cs typeface="Helvetica Neue"/>
              </a:defRPr>
            </a:pPr>
            <a:r>
              <a:t>Ratios are recomputed from totals; daily ratios are never averaged.</a:t>
            </a:r>
          </a:p>
        </p:txBody>
      </p:sp>
      <p:graphicFrame>
        <p:nvGraphicFramePr>
          <p:cNvPr id="18" name="Table 11"/>
          <p:cNvGraphicFramePr/>
          <p:nvPr/>
        </p:nvGraphicFramePr>
        <p:xfrm>
          <a:off x="390525" y="1790700"/>
          <a:ext cx="11410950" cy="4210052"/>
        </p:xfrm>
        <a:graphic>
          <a:graphicData uri="http://schemas.openxmlformats.org/drawingml/2006/table">
            <a:tbl>
              <a:tblPr firstRow="1" bandRow="1"/>
              <a:tblGrid>
                <a:gridCol w="18097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5695950">
                  <a:extLst>
                    <a:ext uri="{9D8B030D-6E8A-4147-A177-3AD203B41FA5}">
                      <a16:colId xmlns:a16="http://schemas.microsoft.com/office/drawing/2014/main" val="20003"/>
                    </a:ext>
                  </a:extLst>
                </a:gridCol>
              </a:tblGrid>
              <a:tr h="601436">
                <a:tc>
                  <a:txBody>
                    <a:bodyPr/>
                    <a:lstStyle/>
                    <a:p>
                      <a:r>
                        <a:rPr sz="1275" b="1">
                          <a:solidFill>
                            <a:srgbClr val="FFFFFF"/>
                          </a:solidFill>
                        </a:rPr>
                        <a:t>Metric</a:t>
                      </a:r>
                    </a:p>
                  </a:txBody>
                  <a:tcPr marL="66675" marR="66675" marT="47625" marB="47625">
                    <a:solidFill>
                      <a:srgbClr val="000000"/>
                    </a:solidFill>
                  </a:tcPr>
                </a:tc>
                <a:tc>
                  <a:txBody>
                    <a:bodyPr/>
                    <a:lstStyle/>
                    <a:p>
                      <a:r>
                        <a:rPr sz="1275" b="1">
                          <a:solidFill>
                            <a:srgbClr val="FFFFFF"/>
                          </a:solidFill>
                        </a:rPr>
                        <a:t>Formula</a:t>
                      </a:r>
                    </a:p>
                  </a:txBody>
                  <a:tcPr marL="66675" marR="66675" marT="47625" marB="47625">
                    <a:solidFill>
                      <a:srgbClr val="000000"/>
                    </a:solidFill>
                  </a:tcPr>
                </a:tc>
                <a:tc>
                  <a:txBody>
                    <a:bodyPr/>
                    <a:lstStyle/>
                    <a:p>
                      <a:r>
                        <a:rPr sz="1275" b="1">
                          <a:solidFill>
                            <a:srgbClr val="FFFFFF"/>
                          </a:solidFill>
                        </a:rPr>
                        <a:t>Data source</a:t>
                      </a:r>
                    </a:p>
                  </a:txBody>
                  <a:tcPr marL="66675" marR="66675" marT="47625" marB="47625">
                    <a:solidFill>
                      <a:srgbClr val="000000"/>
                    </a:solidFill>
                  </a:tcPr>
                </a:tc>
                <a:tc>
                  <a:txBody>
                    <a:bodyPr/>
                    <a:lstStyle/>
                    <a:p>
                      <a:r>
                        <a:rPr sz="1275" b="1">
                          <a:solidFill>
                            <a:srgbClr val="FFFFFF"/>
                          </a:solidFill>
                        </a:rPr>
                        <a:t>Question answered</a:t>
                      </a:r>
                    </a:p>
                  </a:txBody>
                  <a:tcPr marL="66675" marR="66675" marT="47625" marB="47625">
                    <a:solidFill>
                      <a:srgbClr val="000000"/>
                    </a:solidFill>
                  </a:tcPr>
                </a:tc>
                <a:extLst>
                  <a:ext uri="{0D108BD9-81ED-4DB2-BD59-A6C34878D82A}">
                    <a16:rowId xmlns:a16="http://schemas.microsoft.com/office/drawing/2014/main" val="10000"/>
                  </a:ext>
                </a:extLst>
              </a:tr>
              <a:tr h="601436">
                <a:tc>
                  <a:txBody>
                    <a:bodyPr/>
                    <a:lstStyle/>
                    <a:p>
                      <a:r>
                        <a:rPr sz="1275">
                          <a:solidFill>
                            <a:srgbClr val="000000"/>
                          </a:solidFill>
                        </a:rPr>
                        <a:t>Link CTR</a:t>
                      </a:r>
                    </a:p>
                  </a:txBody>
                  <a:tcPr marL="66675" marR="66675" marT="47625" marB="47625"/>
                </a:tc>
                <a:tc>
                  <a:txBody>
                    <a:bodyPr/>
                    <a:lstStyle/>
                    <a:p>
                      <a:r>
                        <a:rPr sz="1275">
                          <a:solidFill>
                            <a:srgbClr val="000000"/>
                          </a:solidFill>
                        </a:rPr>
                        <a:t>Link clicks / impressions</a:t>
                      </a:r>
                    </a:p>
                  </a:txBody>
                  <a:tcPr marL="66675" marR="66675" marT="47625" marB="47625"/>
                </a:tc>
                <a:tc>
                  <a:txBody>
                    <a:bodyPr/>
                    <a:lstStyle/>
                    <a:p>
                      <a:r>
                        <a:rPr sz="1275">
                          <a:solidFill>
                            <a:srgbClr val="000000"/>
                          </a:solidFill>
                        </a:rPr>
                        <a:t>Meta</a:t>
                      </a:r>
                    </a:p>
                  </a:txBody>
                  <a:tcPr marL="66675" marR="66675" marT="47625" marB="47625"/>
                </a:tc>
                <a:tc>
                  <a:txBody>
                    <a:bodyPr/>
                    <a:lstStyle/>
                    <a:p>
                      <a:r>
                        <a:rPr sz="1275">
                          <a:solidFill>
                            <a:srgbClr val="000000"/>
                          </a:solidFill>
                        </a:rPr>
                        <a:t>Did the ad attract clicks?</a:t>
                      </a:r>
                    </a:p>
                  </a:txBody>
                  <a:tcPr marL="66675" marR="66675" marT="47625" marB="47625"/>
                </a:tc>
                <a:extLst>
                  <a:ext uri="{0D108BD9-81ED-4DB2-BD59-A6C34878D82A}">
                    <a16:rowId xmlns:a16="http://schemas.microsoft.com/office/drawing/2014/main" val="10001"/>
                  </a:ext>
                </a:extLst>
              </a:tr>
              <a:tr h="601436">
                <a:tc>
                  <a:txBody>
                    <a:bodyPr/>
                    <a:lstStyle/>
                    <a:p>
                      <a:r>
                        <a:rPr sz="1275">
                          <a:solidFill>
                            <a:srgbClr val="000000"/>
                          </a:solidFill>
                        </a:rPr>
                        <a:t>CPM</a:t>
                      </a:r>
                    </a:p>
                  </a:txBody>
                  <a:tcPr marL="66675" marR="66675" marT="47625" marB="47625"/>
                </a:tc>
                <a:tc>
                  <a:txBody>
                    <a:bodyPr/>
                    <a:lstStyle/>
                    <a:p>
                      <a:r>
                        <a:rPr sz="1275">
                          <a:solidFill>
                            <a:srgbClr val="000000"/>
                          </a:solidFill>
                        </a:rPr>
                        <a:t>Spend / impressions x 1,000</a:t>
                      </a:r>
                    </a:p>
                  </a:txBody>
                  <a:tcPr marL="66675" marR="66675" marT="47625" marB="47625"/>
                </a:tc>
                <a:tc>
                  <a:txBody>
                    <a:bodyPr/>
                    <a:lstStyle/>
                    <a:p>
                      <a:r>
                        <a:rPr sz="1275">
                          <a:solidFill>
                            <a:srgbClr val="000000"/>
                          </a:solidFill>
                        </a:rPr>
                        <a:t>Meta</a:t>
                      </a:r>
                    </a:p>
                  </a:txBody>
                  <a:tcPr marL="66675" marR="66675" marT="47625" marB="47625"/>
                </a:tc>
                <a:tc>
                  <a:txBody>
                    <a:bodyPr/>
                    <a:lstStyle/>
                    <a:p>
                      <a:r>
                        <a:rPr sz="1275">
                          <a:solidFill>
                            <a:srgbClr val="000000"/>
                          </a:solidFill>
                        </a:rPr>
                        <a:t>What did visibility cost?</a:t>
                      </a:r>
                    </a:p>
                  </a:txBody>
                  <a:tcPr marL="66675" marR="66675" marT="47625" marB="47625"/>
                </a:tc>
                <a:extLst>
                  <a:ext uri="{0D108BD9-81ED-4DB2-BD59-A6C34878D82A}">
                    <a16:rowId xmlns:a16="http://schemas.microsoft.com/office/drawing/2014/main" val="10002"/>
                  </a:ext>
                </a:extLst>
              </a:tr>
              <a:tr h="601436">
                <a:tc>
                  <a:txBody>
                    <a:bodyPr/>
                    <a:lstStyle/>
                    <a:p>
                      <a:r>
                        <a:rPr sz="1275">
                          <a:solidFill>
                            <a:srgbClr val="000000"/>
                          </a:solidFill>
                        </a:rPr>
                        <a:t>Cost / Meta conversation</a:t>
                      </a:r>
                    </a:p>
                  </a:txBody>
                  <a:tcPr marL="66675" marR="66675" marT="47625" marB="47625"/>
                </a:tc>
                <a:tc>
                  <a:txBody>
                    <a:bodyPr/>
                    <a:lstStyle/>
                    <a:p>
                      <a:r>
                        <a:rPr sz="1275">
                          <a:solidFill>
                            <a:srgbClr val="000000"/>
                          </a:solidFill>
                        </a:rPr>
                        <a:t>Spend / Meta starts</a:t>
                      </a:r>
                    </a:p>
                  </a:txBody>
                  <a:tcPr marL="66675" marR="66675" marT="47625" marB="47625"/>
                </a:tc>
                <a:tc>
                  <a:txBody>
                    <a:bodyPr/>
                    <a:lstStyle/>
                    <a:p>
                      <a:r>
                        <a:rPr sz="1275">
                          <a:solidFill>
                            <a:srgbClr val="000000"/>
                          </a:solidFill>
                        </a:rPr>
                        <a:t>Meta</a:t>
                      </a:r>
                    </a:p>
                  </a:txBody>
                  <a:tcPr marL="66675" marR="66675" marT="47625" marB="47625"/>
                </a:tc>
                <a:tc>
                  <a:txBody>
                    <a:bodyPr/>
                    <a:lstStyle/>
                    <a:p>
                      <a:r>
                        <a:rPr sz="1275">
                          <a:solidFill>
                            <a:srgbClr val="000000"/>
                          </a:solidFill>
                        </a:rPr>
                        <a:t>What did attributed response cost?</a:t>
                      </a:r>
                    </a:p>
                  </a:txBody>
                  <a:tcPr marL="66675" marR="66675" marT="47625" marB="47625"/>
                </a:tc>
                <a:extLst>
                  <a:ext uri="{0D108BD9-81ED-4DB2-BD59-A6C34878D82A}">
                    <a16:rowId xmlns:a16="http://schemas.microsoft.com/office/drawing/2014/main" val="10003"/>
                  </a:ext>
                </a:extLst>
              </a:tr>
              <a:tr h="601436">
                <a:tc>
                  <a:txBody>
                    <a:bodyPr/>
                    <a:lstStyle/>
                    <a:p>
                      <a:r>
                        <a:rPr sz="1275">
                          <a:solidFill>
                            <a:srgbClr val="000000"/>
                          </a:solidFill>
                        </a:rPr>
                        <a:t>Delivered rate</a:t>
                      </a:r>
                    </a:p>
                  </a:txBody>
                  <a:tcPr marL="66675" marR="66675" marT="47625" marB="47625"/>
                </a:tc>
                <a:tc>
                  <a:txBody>
                    <a:bodyPr/>
                    <a:lstStyle/>
                    <a:p>
                      <a:r>
                        <a:rPr sz="1275">
                          <a:solidFill>
                            <a:srgbClr val="000000"/>
                          </a:solidFill>
                        </a:rPr>
                        <a:t>Delivered orders / observed conversations</a:t>
                      </a:r>
                    </a:p>
                  </a:txBody>
                  <a:tcPr marL="66675" marR="66675" marT="47625" marB="47625"/>
                </a:tc>
                <a:tc>
                  <a:txBody>
                    <a:bodyPr/>
                    <a:lstStyle/>
                    <a:p>
                      <a:r>
                        <a:rPr sz="1275">
                          <a:solidFill>
                            <a:srgbClr val="000000"/>
                          </a:solidFill>
                        </a:rPr>
                        <a:t>WhatsApp</a:t>
                      </a:r>
                    </a:p>
                  </a:txBody>
                  <a:tcPr marL="66675" marR="66675" marT="47625" marB="47625"/>
                </a:tc>
                <a:tc>
                  <a:txBody>
                    <a:bodyPr/>
                    <a:lstStyle/>
                    <a:p>
                      <a:r>
                        <a:rPr sz="1275">
                          <a:solidFill>
                            <a:srgbClr val="000000"/>
                          </a:solidFill>
                        </a:rPr>
                        <a:t>Did conversations become fulfilled orders?</a:t>
                      </a:r>
                    </a:p>
                  </a:txBody>
                  <a:tcPr marL="66675" marR="66675" marT="47625" marB="47625"/>
                </a:tc>
                <a:extLst>
                  <a:ext uri="{0D108BD9-81ED-4DB2-BD59-A6C34878D82A}">
                    <a16:rowId xmlns:a16="http://schemas.microsoft.com/office/drawing/2014/main" val="10004"/>
                  </a:ext>
                </a:extLst>
              </a:tr>
              <a:tr h="601436">
                <a:tc>
                  <a:txBody>
                    <a:bodyPr/>
                    <a:lstStyle/>
                    <a:p>
                      <a:r>
                        <a:rPr sz="1275">
                          <a:solidFill>
                            <a:srgbClr val="000000"/>
                          </a:solidFill>
                        </a:rPr>
                        <a:t>AOV</a:t>
                      </a:r>
                    </a:p>
                  </a:txBody>
                  <a:tcPr marL="66675" marR="66675" marT="47625" marB="47625"/>
                </a:tc>
                <a:tc>
                  <a:txBody>
                    <a:bodyPr/>
                    <a:lstStyle/>
                    <a:p>
                      <a:r>
                        <a:rPr sz="1275">
                          <a:solidFill>
                            <a:srgbClr val="000000"/>
                          </a:solidFill>
                        </a:rPr>
                        <a:t>Delivered revenue / delivered orders</a:t>
                      </a:r>
                    </a:p>
                  </a:txBody>
                  <a:tcPr marL="66675" marR="66675" marT="47625" marB="47625"/>
                </a:tc>
                <a:tc>
                  <a:txBody>
                    <a:bodyPr/>
                    <a:lstStyle/>
                    <a:p>
                      <a:r>
                        <a:rPr sz="1275">
                          <a:solidFill>
                            <a:srgbClr val="000000"/>
                          </a:solidFill>
                        </a:rPr>
                        <a:t>WhatsApp</a:t>
                      </a:r>
                    </a:p>
                  </a:txBody>
                  <a:tcPr marL="66675" marR="66675" marT="47625" marB="47625"/>
                </a:tc>
                <a:tc>
                  <a:txBody>
                    <a:bodyPr/>
                    <a:lstStyle/>
                    <a:p>
                      <a:r>
                        <a:rPr sz="1275">
                          <a:solidFill>
                            <a:srgbClr val="000000"/>
                          </a:solidFill>
                        </a:rPr>
                        <a:t>How valuable was an average delivered order?</a:t>
                      </a:r>
                    </a:p>
                  </a:txBody>
                  <a:tcPr marL="66675" marR="66675" marT="47625" marB="47625"/>
                </a:tc>
                <a:extLst>
                  <a:ext uri="{0D108BD9-81ED-4DB2-BD59-A6C34878D82A}">
                    <a16:rowId xmlns:a16="http://schemas.microsoft.com/office/drawing/2014/main" val="10005"/>
                  </a:ext>
                </a:extLst>
              </a:tr>
              <a:tr h="601436">
                <a:tc>
                  <a:txBody>
                    <a:bodyPr/>
                    <a:lstStyle/>
                    <a:p>
                      <a:r>
                        <a:rPr sz="1275" dirty="0">
                          <a:solidFill>
                            <a:srgbClr val="000000"/>
                          </a:solidFill>
                        </a:rPr>
                        <a:t>Net ROAS</a:t>
                      </a:r>
                    </a:p>
                  </a:txBody>
                  <a:tcPr marL="66675" marR="66675" marT="47625" marB="47625"/>
                </a:tc>
                <a:tc>
                  <a:txBody>
                    <a:bodyPr/>
                    <a:lstStyle/>
                    <a:p>
                      <a:r>
                        <a:rPr sz="1275" dirty="0">
                          <a:solidFill>
                            <a:srgbClr val="000000"/>
                          </a:solidFill>
                        </a:rPr>
                        <a:t>Observed net revenue / spend</a:t>
                      </a:r>
                    </a:p>
                  </a:txBody>
                  <a:tcPr marL="66675" marR="66675" marT="47625" marB="47625"/>
                </a:tc>
                <a:tc>
                  <a:txBody>
                    <a:bodyPr/>
                    <a:lstStyle/>
                    <a:p>
                      <a:r>
                        <a:rPr sz="1275">
                          <a:solidFill>
                            <a:srgbClr val="000000"/>
                          </a:solidFill>
                        </a:rPr>
                        <a:t>Both</a:t>
                      </a:r>
                    </a:p>
                  </a:txBody>
                  <a:tcPr marL="66675" marR="66675" marT="47625" marB="47625"/>
                </a:tc>
                <a:tc>
                  <a:txBody>
                    <a:bodyPr/>
                    <a:lstStyle/>
                    <a:p>
                      <a:r>
                        <a:rPr sz="1275" dirty="0">
                          <a:solidFill>
                            <a:srgbClr val="000000"/>
                          </a:solidFill>
                        </a:rPr>
                        <a:t>How much observed revenue returned per ad-spend unit?</a:t>
                      </a:r>
                    </a:p>
                  </a:txBody>
                  <a:tcPr marL="66675" marR="66675" marT="47625" marB="47625"/>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2552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lide-8-title">
            <a:extLst>
              <a:ext uri="{FF2B5EF4-FFF2-40B4-BE49-F238E27FC236}">
                <a16:creationId xmlns:a16="http://schemas.microsoft.com/office/drawing/2014/main" id="{61027531-1B4D-4157-AB1B-E3C4B6B4E61C}"/>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Six terms unlock the scorecard</a:t>
            </a:r>
          </a:p>
        </p:txBody>
      </p:sp>
      <p:cxnSp>
        <p:nvCxnSpPr>
          <p:cNvPr id="28" name="line-134"/>
          <p:cNvCxnSpPr/>
          <p:nvPr/>
        </p:nvCxnSpPr>
        <p:spPr>
          <a:xfrm>
            <a:off x="495300" y="1057275"/>
            <a:ext cx="11296650" cy="9525"/>
          </a:xfrm>
          <a:prstGeom prst="straightConnector1">
            <a:avLst/>
          </a:prstGeom>
          <a:ln w="9525">
            <a:solidFill>
              <a:srgbClr val="B8BCC4"/>
            </a:solidFill>
            <a:prstDash val="solid"/>
          </a:ln>
        </p:spPr>
      </p:cxnSp>
      <p:sp>
        <p:nvSpPr>
          <p:cNvPr id="3" name="slide-8-source">
            <a:extLst>
              <a:ext uri="{FF2B5EF4-FFF2-40B4-BE49-F238E27FC236}">
                <a16:creationId xmlns:a16="http://schemas.microsoft.com/office/drawing/2014/main" id="{9711E96D-6096-4422-BA18-9C2968335890}"/>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src_2 business glossary</a:t>
            </a:r>
          </a:p>
        </p:txBody>
      </p:sp>
      <p:sp>
        <p:nvSpPr>
          <p:cNvPr id="4" name="slide-8-number">
            <a:extLst>
              <a:ext uri="{FF2B5EF4-FFF2-40B4-BE49-F238E27FC236}">
                <a16:creationId xmlns:a16="http://schemas.microsoft.com/office/drawing/2014/main" id="{4952B9CE-C7B7-43BD-BF8A-0132794CD3CC}"/>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08</a:t>
            </a:r>
          </a:p>
        </p:txBody>
      </p:sp>
      <p:sp>
        <p:nvSpPr>
          <p:cNvPr id="5" name="shape-115">
            <a:extLst>
              <a:ext uri="{FF2B5EF4-FFF2-40B4-BE49-F238E27FC236}">
                <a16:creationId xmlns:a16="http://schemas.microsoft.com/office/drawing/2014/main" id="{32CE78BC-BA52-4619-AE94-8728CB41E192}"/>
              </a:ext>
            </a:extLst>
          </p:cNvPr>
          <p:cNvSpPr>
            <a:spLocks noGrp="1"/>
          </p:cNvSpPr>
          <p:nvPr/>
        </p:nvSpPr>
        <p:spPr>
          <a:xfrm>
            <a:off x="390525" y="1619250"/>
            <a:ext cx="3562350" cy="1809750"/>
          </a:xfrm>
          <a:prstGeom prst="rect">
            <a:avLst/>
          </a:prstGeom>
          <a:solidFill>
            <a:srgbClr val="F7F7F7"/>
          </a:solidFill>
          <a:ln w="9525">
            <a:solidFill>
              <a:srgbClr val="B8BCC4"/>
            </a:solidFill>
            <a:prstDash val="solid"/>
          </a:ln>
        </p:spPr>
        <p:txBody>
          <a:bodyPr/>
          <a:lstStyle/>
          <a:p>
            <a:endParaRPr/>
          </a:p>
        </p:txBody>
      </p:sp>
      <p:sp>
        <p:nvSpPr>
          <p:cNvPr id="6" name="text-116">
            <a:extLst>
              <a:ext uri="{FF2B5EF4-FFF2-40B4-BE49-F238E27FC236}">
                <a16:creationId xmlns:a16="http://schemas.microsoft.com/office/drawing/2014/main" id="{CE8A7638-EAB3-45A1-8117-AD06A85FBB86}"/>
              </a:ext>
            </a:extLst>
          </p:cNvPr>
          <p:cNvSpPr>
            <a:spLocks noGrp="1"/>
          </p:cNvSpPr>
          <p:nvPr/>
        </p:nvSpPr>
        <p:spPr>
          <a:xfrm>
            <a:off x="657225" y="1866900"/>
            <a:ext cx="3028950" cy="400050"/>
          </a:xfrm>
          <a:prstGeom prst="rect">
            <a:avLst/>
          </a:prstGeom>
        </p:spPr>
        <p:txBody>
          <a:bodyPr wrap="square" lIns="0" tIns="0" rIns="0" bIns="0" anchor="t">
            <a:normAutofit/>
          </a:bodyPr>
          <a:lstStyle/>
          <a:p>
            <a:pPr algn="l">
              <a:buNone/>
              <a:defRPr sz="2175" b="1">
                <a:solidFill>
                  <a:srgbClr val="3D8DFF"/>
                </a:solidFill>
                <a:latin typeface="Helvetica Neue"/>
                <a:ea typeface="Helvetica Neue"/>
                <a:cs typeface="Helvetica Neue"/>
              </a:defRPr>
            </a:pPr>
            <a:r>
              <a:t>CTR</a:t>
            </a:r>
          </a:p>
        </p:txBody>
      </p:sp>
      <p:sp>
        <p:nvSpPr>
          <p:cNvPr id="7" name="text-117">
            <a:extLst>
              <a:ext uri="{FF2B5EF4-FFF2-40B4-BE49-F238E27FC236}">
                <a16:creationId xmlns:a16="http://schemas.microsoft.com/office/drawing/2014/main" id="{CA4F3D32-1C54-43F7-B97C-CDBC2271AE2E}"/>
              </a:ext>
            </a:extLst>
          </p:cNvPr>
          <p:cNvSpPr>
            <a:spLocks noGrp="1"/>
          </p:cNvSpPr>
          <p:nvPr/>
        </p:nvSpPr>
        <p:spPr>
          <a:xfrm>
            <a:off x="657225" y="2400300"/>
            <a:ext cx="3028950" cy="800100"/>
          </a:xfrm>
          <a:prstGeom prst="rect">
            <a:avLst/>
          </a:prstGeom>
        </p:spPr>
        <p:txBody>
          <a:bodyPr wrap="square" lIns="0" tIns="0" rIns="0" bIns="0" anchor="t">
            <a:normAutofit/>
          </a:bodyPr>
          <a:lstStyle/>
          <a:p>
            <a:pPr algn="l">
              <a:buNone/>
              <a:defRPr sz="1425" b="0">
                <a:solidFill>
                  <a:srgbClr val="5F6368"/>
                </a:solidFill>
                <a:latin typeface="Helvetica Neue"/>
                <a:ea typeface="Helvetica Neue"/>
                <a:cs typeface="Helvetica Neue"/>
              </a:defRPr>
            </a:pPr>
            <a:r>
              <a:t>Click-through rate. The share of impressions that produced a link click.</a:t>
            </a:r>
          </a:p>
        </p:txBody>
      </p:sp>
      <p:sp>
        <p:nvSpPr>
          <p:cNvPr id="8" name="shape-118">
            <a:extLst>
              <a:ext uri="{FF2B5EF4-FFF2-40B4-BE49-F238E27FC236}">
                <a16:creationId xmlns:a16="http://schemas.microsoft.com/office/drawing/2014/main" id="{DE417C53-E1B3-4D75-9B9C-931F69ECC0BC}"/>
              </a:ext>
            </a:extLst>
          </p:cNvPr>
          <p:cNvSpPr>
            <a:spLocks noGrp="1"/>
          </p:cNvSpPr>
          <p:nvPr/>
        </p:nvSpPr>
        <p:spPr>
          <a:xfrm>
            <a:off x="4314825" y="1619250"/>
            <a:ext cx="3562350" cy="1809750"/>
          </a:xfrm>
          <a:prstGeom prst="rect">
            <a:avLst/>
          </a:prstGeom>
          <a:solidFill>
            <a:srgbClr val="F7F7F7"/>
          </a:solidFill>
          <a:ln w="9525">
            <a:solidFill>
              <a:srgbClr val="B8BCC4"/>
            </a:solidFill>
            <a:prstDash val="solid"/>
          </a:ln>
        </p:spPr>
        <p:txBody>
          <a:bodyPr/>
          <a:lstStyle/>
          <a:p>
            <a:endParaRPr/>
          </a:p>
        </p:txBody>
      </p:sp>
      <p:sp>
        <p:nvSpPr>
          <p:cNvPr id="9" name="text-119">
            <a:extLst>
              <a:ext uri="{FF2B5EF4-FFF2-40B4-BE49-F238E27FC236}">
                <a16:creationId xmlns:a16="http://schemas.microsoft.com/office/drawing/2014/main" id="{AE3BBAFD-D26D-4F97-89A5-C39325259452}"/>
              </a:ext>
            </a:extLst>
          </p:cNvPr>
          <p:cNvSpPr>
            <a:spLocks noGrp="1"/>
          </p:cNvSpPr>
          <p:nvPr/>
        </p:nvSpPr>
        <p:spPr>
          <a:xfrm>
            <a:off x="4581525" y="1866900"/>
            <a:ext cx="3028950" cy="400050"/>
          </a:xfrm>
          <a:prstGeom prst="rect">
            <a:avLst/>
          </a:prstGeom>
        </p:spPr>
        <p:txBody>
          <a:bodyPr wrap="square" lIns="0" tIns="0" rIns="0" bIns="0" anchor="t">
            <a:normAutofit/>
          </a:bodyPr>
          <a:lstStyle/>
          <a:p>
            <a:pPr algn="l">
              <a:buNone/>
              <a:defRPr sz="2175" b="1">
                <a:solidFill>
                  <a:srgbClr val="3D8DFF"/>
                </a:solidFill>
                <a:latin typeface="Helvetica Neue"/>
                <a:ea typeface="Helvetica Neue"/>
                <a:cs typeface="Helvetica Neue"/>
              </a:defRPr>
            </a:pPr>
            <a:r>
              <a:t>CPM</a:t>
            </a:r>
          </a:p>
        </p:txBody>
      </p:sp>
      <p:sp>
        <p:nvSpPr>
          <p:cNvPr id="10" name="text-120">
            <a:extLst>
              <a:ext uri="{FF2B5EF4-FFF2-40B4-BE49-F238E27FC236}">
                <a16:creationId xmlns:a16="http://schemas.microsoft.com/office/drawing/2014/main" id="{BD1CB4DF-8482-405B-B45D-3F71A90984A9}"/>
              </a:ext>
            </a:extLst>
          </p:cNvPr>
          <p:cNvSpPr>
            <a:spLocks noGrp="1"/>
          </p:cNvSpPr>
          <p:nvPr/>
        </p:nvSpPr>
        <p:spPr>
          <a:xfrm>
            <a:off x="4581525" y="2400300"/>
            <a:ext cx="3028950" cy="800100"/>
          </a:xfrm>
          <a:prstGeom prst="rect">
            <a:avLst/>
          </a:prstGeom>
        </p:spPr>
        <p:txBody>
          <a:bodyPr wrap="square" lIns="0" tIns="0" rIns="0" bIns="0" anchor="t">
            <a:normAutofit/>
          </a:bodyPr>
          <a:lstStyle/>
          <a:p>
            <a:pPr algn="l">
              <a:buNone/>
              <a:defRPr sz="1425" b="0">
                <a:solidFill>
                  <a:srgbClr val="5F6368"/>
                </a:solidFill>
                <a:latin typeface="Helvetica Neue"/>
                <a:ea typeface="Helvetica Neue"/>
                <a:cs typeface="Helvetica Neue"/>
              </a:defRPr>
            </a:pPr>
            <a:r>
              <a:t>Cost per 1,000 impressions. A standard measure of media delivery cost.</a:t>
            </a:r>
          </a:p>
        </p:txBody>
      </p:sp>
      <p:sp>
        <p:nvSpPr>
          <p:cNvPr id="11" name="shape-121">
            <a:extLst>
              <a:ext uri="{FF2B5EF4-FFF2-40B4-BE49-F238E27FC236}">
                <a16:creationId xmlns:a16="http://schemas.microsoft.com/office/drawing/2014/main" id="{2226872E-BE07-4FDD-BED3-3E44BA51348C}"/>
              </a:ext>
            </a:extLst>
          </p:cNvPr>
          <p:cNvSpPr>
            <a:spLocks noGrp="1"/>
          </p:cNvSpPr>
          <p:nvPr/>
        </p:nvSpPr>
        <p:spPr>
          <a:xfrm>
            <a:off x="8239125" y="1619250"/>
            <a:ext cx="3562350" cy="1809750"/>
          </a:xfrm>
          <a:prstGeom prst="rect">
            <a:avLst/>
          </a:prstGeom>
          <a:solidFill>
            <a:srgbClr val="F7F7F7"/>
          </a:solidFill>
          <a:ln w="9525">
            <a:solidFill>
              <a:srgbClr val="B8BCC4"/>
            </a:solidFill>
            <a:prstDash val="solid"/>
          </a:ln>
        </p:spPr>
        <p:txBody>
          <a:bodyPr/>
          <a:lstStyle/>
          <a:p>
            <a:endParaRPr/>
          </a:p>
        </p:txBody>
      </p:sp>
      <p:sp>
        <p:nvSpPr>
          <p:cNvPr id="12" name="text-122">
            <a:extLst>
              <a:ext uri="{FF2B5EF4-FFF2-40B4-BE49-F238E27FC236}">
                <a16:creationId xmlns:a16="http://schemas.microsoft.com/office/drawing/2014/main" id="{6A27890E-147E-4C25-AAB4-4AE68C067810}"/>
              </a:ext>
            </a:extLst>
          </p:cNvPr>
          <p:cNvSpPr>
            <a:spLocks noGrp="1"/>
          </p:cNvSpPr>
          <p:nvPr/>
        </p:nvSpPr>
        <p:spPr>
          <a:xfrm>
            <a:off x="8505825" y="1866900"/>
            <a:ext cx="3028950" cy="400050"/>
          </a:xfrm>
          <a:prstGeom prst="rect">
            <a:avLst/>
          </a:prstGeom>
        </p:spPr>
        <p:txBody>
          <a:bodyPr wrap="square" lIns="0" tIns="0" rIns="0" bIns="0" anchor="t">
            <a:normAutofit/>
          </a:bodyPr>
          <a:lstStyle/>
          <a:p>
            <a:pPr algn="l">
              <a:buNone/>
              <a:defRPr sz="2175" b="1">
                <a:solidFill>
                  <a:srgbClr val="3D8DFF"/>
                </a:solidFill>
                <a:latin typeface="Helvetica Neue"/>
                <a:ea typeface="Helvetica Neue"/>
                <a:cs typeface="Helvetica Neue"/>
              </a:defRPr>
            </a:pPr>
            <a:r>
              <a:t>Conversion</a:t>
            </a:r>
          </a:p>
        </p:txBody>
      </p:sp>
      <p:sp>
        <p:nvSpPr>
          <p:cNvPr id="13" name="text-123">
            <a:extLst>
              <a:ext uri="{FF2B5EF4-FFF2-40B4-BE49-F238E27FC236}">
                <a16:creationId xmlns:a16="http://schemas.microsoft.com/office/drawing/2014/main" id="{D1839F0A-709F-459C-BDB1-E4606338A8A8}"/>
              </a:ext>
            </a:extLst>
          </p:cNvPr>
          <p:cNvSpPr>
            <a:spLocks noGrp="1"/>
          </p:cNvSpPr>
          <p:nvPr/>
        </p:nvSpPr>
        <p:spPr>
          <a:xfrm>
            <a:off x="8505825" y="2400300"/>
            <a:ext cx="3028950" cy="800100"/>
          </a:xfrm>
          <a:prstGeom prst="rect">
            <a:avLst/>
          </a:prstGeom>
        </p:spPr>
        <p:txBody>
          <a:bodyPr wrap="square" lIns="0" tIns="0" rIns="0" bIns="0" anchor="t">
            <a:normAutofit/>
          </a:bodyPr>
          <a:lstStyle/>
          <a:p>
            <a:pPr algn="l">
              <a:buNone/>
              <a:defRPr sz="1425" b="0">
                <a:solidFill>
                  <a:srgbClr val="5F6368"/>
                </a:solidFill>
                <a:latin typeface="Helvetica Neue"/>
                <a:ea typeface="Helvetica Neue"/>
                <a:cs typeface="Helvetica Neue"/>
              </a:defRPr>
            </a:pPr>
            <a:r>
              <a:t>A movement to the next desired step: click, conversation, order, or delivery.</a:t>
            </a:r>
          </a:p>
        </p:txBody>
      </p:sp>
      <p:sp>
        <p:nvSpPr>
          <p:cNvPr id="14" name="shape-124">
            <a:extLst>
              <a:ext uri="{FF2B5EF4-FFF2-40B4-BE49-F238E27FC236}">
                <a16:creationId xmlns:a16="http://schemas.microsoft.com/office/drawing/2014/main" id="{C580C7D2-CFD8-4408-B4D7-9F35A111108A}"/>
              </a:ext>
            </a:extLst>
          </p:cNvPr>
          <p:cNvSpPr>
            <a:spLocks noGrp="1"/>
          </p:cNvSpPr>
          <p:nvPr/>
        </p:nvSpPr>
        <p:spPr>
          <a:xfrm>
            <a:off x="390525" y="3943350"/>
            <a:ext cx="3562350" cy="1809750"/>
          </a:xfrm>
          <a:prstGeom prst="rect">
            <a:avLst/>
          </a:prstGeom>
          <a:solidFill>
            <a:srgbClr val="F7F7F7"/>
          </a:solidFill>
          <a:ln w="9525">
            <a:solidFill>
              <a:srgbClr val="B8BCC4"/>
            </a:solidFill>
            <a:prstDash val="solid"/>
          </a:ln>
        </p:spPr>
        <p:txBody>
          <a:bodyPr/>
          <a:lstStyle/>
          <a:p>
            <a:endParaRPr/>
          </a:p>
        </p:txBody>
      </p:sp>
      <p:sp>
        <p:nvSpPr>
          <p:cNvPr id="15" name="text-125">
            <a:extLst>
              <a:ext uri="{FF2B5EF4-FFF2-40B4-BE49-F238E27FC236}">
                <a16:creationId xmlns:a16="http://schemas.microsoft.com/office/drawing/2014/main" id="{37659A02-E5BF-424F-A8C0-AC3CDA98E784}"/>
              </a:ext>
            </a:extLst>
          </p:cNvPr>
          <p:cNvSpPr>
            <a:spLocks noGrp="1"/>
          </p:cNvSpPr>
          <p:nvPr/>
        </p:nvSpPr>
        <p:spPr>
          <a:xfrm>
            <a:off x="657225" y="4191000"/>
            <a:ext cx="3028950" cy="400050"/>
          </a:xfrm>
          <a:prstGeom prst="rect">
            <a:avLst/>
          </a:prstGeom>
        </p:spPr>
        <p:txBody>
          <a:bodyPr wrap="square" lIns="0" tIns="0" rIns="0" bIns="0" anchor="t">
            <a:normAutofit/>
          </a:bodyPr>
          <a:lstStyle/>
          <a:p>
            <a:pPr algn="l">
              <a:buNone/>
              <a:defRPr sz="2175" b="1">
                <a:solidFill>
                  <a:srgbClr val="3D8DFF"/>
                </a:solidFill>
                <a:latin typeface="Helvetica Neue"/>
                <a:ea typeface="Helvetica Neue"/>
                <a:cs typeface="Helvetica Neue"/>
              </a:defRPr>
            </a:pPr>
            <a:r>
              <a:t>AOV</a:t>
            </a:r>
          </a:p>
        </p:txBody>
      </p:sp>
      <p:sp>
        <p:nvSpPr>
          <p:cNvPr id="16" name="text-126">
            <a:extLst>
              <a:ext uri="{FF2B5EF4-FFF2-40B4-BE49-F238E27FC236}">
                <a16:creationId xmlns:a16="http://schemas.microsoft.com/office/drawing/2014/main" id="{200CA1CF-8F69-4610-9D44-3908CD7CE59B}"/>
              </a:ext>
            </a:extLst>
          </p:cNvPr>
          <p:cNvSpPr>
            <a:spLocks noGrp="1"/>
          </p:cNvSpPr>
          <p:nvPr/>
        </p:nvSpPr>
        <p:spPr>
          <a:xfrm>
            <a:off x="657225" y="4724400"/>
            <a:ext cx="3028950" cy="800100"/>
          </a:xfrm>
          <a:prstGeom prst="rect">
            <a:avLst/>
          </a:prstGeom>
        </p:spPr>
        <p:txBody>
          <a:bodyPr wrap="square" lIns="0" tIns="0" rIns="0" bIns="0" anchor="t">
            <a:normAutofit/>
          </a:bodyPr>
          <a:lstStyle/>
          <a:p>
            <a:pPr algn="l">
              <a:buNone/>
              <a:defRPr sz="1425" b="0">
                <a:solidFill>
                  <a:srgbClr val="5F6368"/>
                </a:solidFill>
                <a:latin typeface="Helvetica Neue"/>
                <a:ea typeface="Helvetica Neue"/>
                <a:cs typeface="Helvetica Neue"/>
              </a:defRPr>
            </a:pPr>
            <a:r>
              <a:t>Average order value. Delivered revenue divided by delivered orders.</a:t>
            </a:r>
          </a:p>
        </p:txBody>
      </p:sp>
      <p:sp>
        <p:nvSpPr>
          <p:cNvPr id="17" name="shape-127">
            <a:extLst>
              <a:ext uri="{FF2B5EF4-FFF2-40B4-BE49-F238E27FC236}">
                <a16:creationId xmlns:a16="http://schemas.microsoft.com/office/drawing/2014/main" id="{F1026F21-4847-48CC-990E-E6206F6E5E9E}"/>
              </a:ext>
            </a:extLst>
          </p:cNvPr>
          <p:cNvSpPr>
            <a:spLocks noGrp="1"/>
          </p:cNvSpPr>
          <p:nvPr/>
        </p:nvSpPr>
        <p:spPr>
          <a:xfrm>
            <a:off x="4314825" y="3943350"/>
            <a:ext cx="3562350" cy="1809750"/>
          </a:xfrm>
          <a:prstGeom prst="rect">
            <a:avLst/>
          </a:prstGeom>
          <a:solidFill>
            <a:srgbClr val="F7F7F7"/>
          </a:solidFill>
          <a:ln w="9525">
            <a:solidFill>
              <a:srgbClr val="B8BCC4"/>
            </a:solidFill>
            <a:prstDash val="solid"/>
          </a:ln>
        </p:spPr>
        <p:txBody>
          <a:bodyPr/>
          <a:lstStyle/>
          <a:p>
            <a:endParaRPr/>
          </a:p>
        </p:txBody>
      </p:sp>
      <p:sp>
        <p:nvSpPr>
          <p:cNvPr id="18" name="text-128">
            <a:extLst>
              <a:ext uri="{FF2B5EF4-FFF2-40B4-BE49-F238E27FC236}">
                <a16:creationId xmlns:a16="http://schemas.microsoft.com/office/drawing/2014/main" id="{D0302CA2-69C7-4EF3-A5AE-F16AFECD0237}"/>
              </a:ext>
            </a:extLst>
          </p:cNvPr>
          <p:cNvSpPr>
            <a:spLocks noGrp="1"/>
          </p:cNvSpPr>
          <p:nvPr/>
        </p:nvSpPr>
        <p:spPr>
          <a:xfrm>
            <a:off x="4581525" y="4191000"/>
            <a:ext cx="3028950" cy="400050"/>
          </a:xfrm>
          <a:prstGeom prst="rect">
            <a:avLst/>
          </a:prstGeom>
        </p:spPr>
        <p:txBody>
          <a:bodyPr wrap="square" lIns="0" tIns="0" rIns="0" bIns="0" anchor="t">
            <a:normAutofit/>
          </a:bodyPr>
          <a:lstStyle/>
          <a:p>
            <a:pPr algn="l">
              <a:buNone/>
              <a:defRPr sz="2175" b="1">
                <a:solidFill>
                  <a:srgbClr val="3D8DFF"/>
                </a:solidFill>
                <a:latin typeface="Helvetica Neue"/>
                <a:ea typeface="Helvetica Neue"/>
                <a:cs typeface="Helvetica Neue"/>
              </a:defRPr>
            </a:pPr>
            <a:r>
              <a:t>ROAS</a:t>
            </a:r>
          </a:p>
        </p:txBody>
      </p:sp>
      <p:sp>
        <p:nvSpPr>
          <p:cNvPr id="19" name="text-129">
            <a:extLst>
              <a:ext uri="{FF2B5EF4-FFF2-40B4-BE49-F238E27FC236}">
                <a16:creationId xmlns:a16="http://schemas.microsoft.com/office/drawing/2014/main" id="{A729CFE3-8657-4DFB-8E0E-A528FADF812F}"/>
              </a:ext>
            </a:extLst>
          </p:cNvPr>
          <p:cNvSpPr>
            <a:spLocks noGrp="1"/>
          </p:cNvSpPr>
          <p:nvPr/>
        </p:nvSpPr>
        <p:spPr>
          <a:xfrm>
            <a:off x="4581525" y="4724400"/>
            <a:ext cx="3028950" cy="800100"/>
          </a:xfrm>
          <a:prstGeom prst="rect">
            <a:avLst/>
          </a:prstGeom>
        </p:spPr>
        <p:txBody>
          <a:bodyPr wrap="square" lIns="0" tIns="0" rIns="0" bIns="0" anchor="t">
            <a:normAutofit/>
          </a:bodyPr>
          <a:lstStyle/>
          <a:p>
            <a:pPr algn="l">
              <a:buNone/>
              <a:defRPr sz="1425" b="0">
                <a:solidFill>
                  <a:srgbClr val="5F6368"/>
                </a:solidFill>
                <a:latin typeface="Helvetica Neue"/>
                <a:ea typeface="Helvetica Neue"/>
                <a:cs typeface="Helvetica Neue"/>
              </a:defRPr>
            </a:pPr>
            <a:r>
              <a:t>Return on ad spend. Observed net revenue divided by advertising spend.</a:t>
            </a:r>
          </a:p>
        </p:txBody>
      </p:sp>
      <p:sp>
        <p:nvSpPr>
          <p:cNvPr id="20" name="shape-130">
            <a:extLst>
              <a:ext uri="{FF2B5EF4-FFF2-40B4-BE49-F238E27FC236}">
                <a16:creationId xmlns:a16="http://schemas.microsoft.com/office/drawing/2014/main" id="{4FCC0FE5-D3BD-4C35-B9C1-E5C76F902B12}"/>
              </a:ext>
            </a:extLst>
          </p:cNvPr>
          <p:cNvSpPr>
            <a:spLocks noGrp="1"/>
          </p:cNvSpPr>
          <p:nvPr/>
        </p:nvSpPr>
        <p:spPr>
          <a:xfrm>
            <a:off x="8239125" y="3943350"/>
            <a:ext cx="3562350" cy="1809750"/>
          </a:xfrm>
          <a:prstGeom prst="rect">
            <a:avLst/>
          </a:prstGeom>
          <a:solidFill>
            <a:srgbClr val="F7F7F7"/>
          </a:solidFill>
          <a:ln w="9525">
            <a:solidFill>
              <a:srgbClr val="B8BCC4"/>
            </a:solidFill>
            <a:prstDash val="solid"/>
          </a:ln>
        </p:spPr>
        <p:txBody>
          <a:bodyPr/>
          <a:lstStyle/>
          <a:p>
            <a:endParaRPr/>
          </a:p>
        </p:txBody>
      </p:sp>
      <p:sp>
        <p:nvSpPr>
          <p:cNvPr id="21" name="text-131">
            <a:extLst>
              <a:ext uri="{FF2B5EF4-FFF2-40B4-BE49-F238E27FC236}">
                <a16:creationId xmlns:a16="http://schemas.microsoft.com/office/drawing/2014/main" id="{D7731689-BD66-452F-891F-0761559B3B0A}"/>
              </a:ext>
            </a:extLst>
          </p:cNvPr>
          <p:cNvSpPr>
            <a:spLocks noGrp="1"/>
          </p:cNvSpPr>
          <p:nvPr/>
        </p:nvSpPr>
        <p:spPr>
          <a:xfrm>
            <a:off x="8505825" y="4191000"/>
            <a:ext cx="3028950" cy="400050"/>
          </a:xfrm>
          <a:prstGeom prst="rect">
            <a:avLst/>
          </a:prstGeom>
        </p:spPr>
        <p:txBody>
          <a:bodyPr wrap="square" lIns="0" tIns="0" rIns="0" bIns="0" anchor="t">
            <a:normAutofit/>
          </a:bodyPr>
          <a:lstStyle/>
          <a:p>
            <a:pPr algn="l">
              <a:buNone/>
              <a:defRPr sz="2175" b="1">
                <a:solidFill>
                  <a:srgbClr val="3D8DFF"/>
                </a:solidFill>
                <a:latin typeface="Helvetica Neue"/>
                <a:ea typeface="Helvetica Neue"/>
                <a:cs typeface="Helvetica Neue"/>
              </a:defRPr>
            </a:pPr>
            <a:r>
              <a:t>Negative outcome</a:t>
            </a:r>
          </a:p>
        </p:txBody>
      </p:sp>
      <p:sp>
        <p:nvSpPr>
          <p:cNvPr id="22" name="text-132">
            <a:extLst>
              <a:ext uri="{FF2B5EF4-FFF2-40B4-BE49-F238E27FC236}">
                <a16:creationId xmlns:a16="http://schemas.microsoft.com/office/drawing/2014/main" id="{432C1889-A357-465C-AC75-23EDED8E8127}"/>
              </a:ext>
            </a:extLst>
          </p:cNvPr>
          <p:cNvSpPr>
            <a:spLocks noGrp="1"/>
          </p:cNvSpPr>
          <p:nvPr/>
        </p:nvSpPr>
        <p:spPr>
          <a:xfrm>
            <a:off x="8505825" y="4724400"/>
            <a:ext cx="3028950" cy="800100"/>
          </a:xfrm>
          <a:prstGeom prst="rect">
            <a:avLst/>
          </a:prstGeom>
        </p:spPr>
        <p:txBody>
          <a:bodyPr wrap="square" lIns="0" tIns="0" rIns="0" bIns="0" anchor="t">
            <a:normAutofit/>
          </a:bodyPr>
          <a:lstStyle/>
          <a:p>
            <a:pPr algn="l">
              <a:buNone/>
              <a:defRPr sz="1425" b="0">
                <a:solidFill>
                  <a:srgbClr val="5F6368"/>
                </a:solidFill>
                <a:latin typeface="Helvetica Neue"/>
                <a:ea typeface="Helvetica Neue"/>
                <a:cs typeface="Helvetica Neue"/>
              </a:defRPr>
            </a:pPr>
            <a:r>
              <a:t>Ghosted, cancelled, refunded, or adversarial conversation outcome.</a:t>
            </a:r>
          </a:p>
        </p:txBody>
      </p:sp>
    </p:spTree>
    <p:extLst>
      <p:ext uri="{BB962C8B-B14F-4D97-AF65-F5344CB8AC3E}">
        <p14:creationId xmlns:p14="http://schemas.microsoft.com/office/powerpoint/2010/main" val="606122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9-title">
            <a:extLst>
              <a:ext uri="{FF2B5EF4-FFF2-40B4-BE49-F238E27FC236}">
                <a16:creationId xmlns:a16="http://schemas.microsoft.com/office/drawing/2014/main" id="{61F9BE90-C929-41E2-B8CA-8E2801754D72}"/>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Campaign type defines success</a:t>
            </a:r>
          </a:p>
        </p:txBody>
      </p:sp>
      <p:cxnSp>
        <p:nvCxnSpPr>
          <p:cNvPr id="14" name="line-139"/>
          <p:cNvCxnSpPr/>
          <p:nvPr/>
        </p:nvCxnSpPr>
        <p:spPr>
          <a:xfrm>
            <a:off x="495300" y="1057275"/>
            <a:ext cx="11296650" cy="9525"/>
          </a:xfrm>
          <a:prstGeom prst="straightConnector1">
            <a:avLst/>
          </a:prstGeom>
          <a:ln w="9525">
            <a:solidFill>
              <a:srgbClr val="B8BCC4"/>
            </a:solidFill>
            <a:prstDash val="solid"/>
          </a:ln>
        </p:spPr>
      </p:cxnSp>
      <p:sp>
        <p:nvSpPr>
          <p:cNvPr id="3" name="slide-9-source">
            <a:extLst>
              <a:ext uri="{FF2B5EF4-FFF2-40B4-BE49-F238E27FC236}">
                <a16:creationId xmlns:a16="http://schemas.microsoft.com/office/drawing/2014/main" id="{EF976D7F-F4D0-4B57-8BAA-2FDAB422125F}"/>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src_2/config/campaign_types.yaml</a:t>
            </a:r>
          </a:p>
        </p:txBody>
      </p:sp>
      <p:sp>
        <p:nvSpPr>
          <p:cNvPr id="4" name="slide-9-number">
            <a:extLst>
              <a:ext uri="{FF2B5EF4-FFF2-40B4-BE49-F238E27FC236}">
                <a16:creationId xmlns:a16="http://schemas.microsoft.com/office/drawing/2014/main" id="{78A1BDB5-D46B-463E-8F4E-1995AB675265}"/>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09</a:t>
            </a:r>
          </a:p>
        </p:txBody>
      </p:sp>
      <p:sp>
        <p:nvSpPr>
          <p:cNvPr id="5" name="text-137">
            <a:extLst>
              <a:ext uri="{FF2B5EF4-FFF2-40B4-BE49-F238E27FC236}">
                <a16:creationId xmlns:a16="http://schemas.microsoft.com/office/drawing/2014/main" id="{4DA976C3-49C4-440A-A07B-DAECA5CC84B0}"/>
              </a:ext>
            </a:extLst>
          </p:cNvPr>
          <p:cNvSpPr>
            <a:spLocks noGrp="1"/>
          </p:cNvSpPr>
          <p:nvPr/>
        </p:nvSpPr>
        <p:spPr>
          <a:xfrm>
            <a:off x="390525" y="1219200"/>
            <a:ext cx="11410950" cy="400050"/>
          </a:xfrm>
          <a:prstGeom prst="rect">
            <a:avLst/>
          </a:prstGeom>
        </p:spPr>
        <p:txBody>
          <a:bodyPr wrap="square" lIns="0" tIns="0" rIns="0" bIns="0" anchor="t">
            <a:normAutofit/>
          </a:bodyPr>
          <a:lstStyle/>
          <a:p>
            <a:pPr algn="l">
              <a:buNone/>
              <a:defRPr sz="1575" b="1">
                <a:solidFill>
                  <a:srgbClr val="3D8DFF"/>
                </a:solidFill>
                <a:latin typeface="Helvetica Neue"/>
                <a:ea typeface="Helvetica Neue"/>
                <a:cs typeface="Helvetica Neue"/>
              </a:defRPr>
            </a:pPr>
            <a:r>
              <a:t>The lookup focuses analysis on the campaign's job; the LLM does not infer purpose from the name.</a:t>
            </a:r>
          </a:p>
        </p:txBody>
      </p:sp>
      <p:graphicFrame>
        <p:nvGraphicFramePr>
          <p:cNvPr id="18" name="Table 11"/>
          <p:cNvGraphicFramePr/>
          <p:nvPr/>
        </p:nvGraphicFramePr>
        <p:xfrm>
          <a:off x="390525" y="1828800"/>
          <a:ext cx="11410950" cy="4191003"/>
        </p:xfrm>
        <a:graphic>
          <a:graphicData uri="http://schemas.openxmlformats.org/drawingml/2006/table">
            <a:tbl>
              <a:tblPr firstRow="1" bandRow="1"/>
              <a:tblGrid>
                <a:gridCol w="209550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3028950">
                  <a:extLst>
                    <a:ext uri="{9D8B030D-6E8A-4147-A177-3AD203B41FA5}">
                      <a16:colId xmlns:a16="http://schemas.microsoft.com/office/drawing/2014/main" val="20002"/>
                    </a:ext>
                  </a:extLst>
                </a:gridCol>
              </a:tblGrid>
              <a:tr h="465667">
                <a:tc>
                  <a:txBody>
                    <a:bodyPr/>
                    <a:lstStyle/>
                    <a:p>
                      <a:r>
                        <a:rPr sz="1275" b="1">
                          <a:solidFill>
                            <a:srgbClr val="FFFFFF"/>
                          </a:solidFill>
                        </a:rPr>
                        <a:t>Campaign type</a:t>
                      </a:r>
                    </a:p>
                  </a:txBody>
                  <a:tcPr marL="66675" marR="66675" marT="47625" marB="47625">
                    <a:solidFill>
                      <a:srgbClr val="000000"/>
                    </a:solidFill>
                  </a:tcPr>
                </a:tc>
                <a:tc>
                  <a:txBody>
                    <a:bodyPr/>
                    <a:lstStyle/>
                    <a:p>
                      <a:r>
                        <a:rPr sz="1275" b="1">
                          <a:solidFill>
                            <a:srgbClr val="FFFFFF"/>
                          </a:solidFill>
                        </a:rPr>
                        <a:t>Business job</a:t>
                      </a:r>
                    </a:p>
                  </a:txBody>
                  <a:tcPr marL="66675" marR="66675" marT="47625" marB="47625">
                    <a:solidFill>
                      <a:srgbClr val="000000"/>
                    </a:solidFill>
                  </a:tcPr>
                </a:tc>
                <a:tc>
                  <a:txBody>
                    <a:bodyPr/>
                    <a:lstStyle/>
                    <a:p>
                      <a:r>
                        <a:rPr sz="1275" b="1">
                          <a:solidFill>
                            <a:srgbClr val="FFFFFF"/>
                          </a:solidFill>
                        </a:rPr>
                        <a:t>Primary KPI</a:t>
                      </a:r>
                    </a:p>
                  </a:txBody>
                  <a:tcPr marL="66675" marR="66675" marT="47625" marB="47625">
                    <a:solidFill>
                      <a:srgbClr val="000000"/>
                    </a:solidFill>
                  </a:tcPr>
                </a:tc>
                <a:extLst>
                  <a:ext uri="{0D108BD9-81ED-4DB2-BD59-A6C34878D82A}">
                    <a16:rowId xmlns:a16="http://schemas.microsoft.com/office/drawing/2014/main" val="10000"/>
                  </a:ext>
                </a:extLst>
              </a:tr>
              <a:tr h="465667">
                <a:tc>
                  <a:txBody>
                    <a:bodyPr/>
                    <a:lstStyle/>
                    <a:p>
                      <a:r>
                        <a:rPr sz="1275">
                          <a:solidFill>
                            <a:srgbClr val="000000"/>
                          </a:solidFill>
                        </a:rPr>
                        <a:t>Awareness</a:t>
                      </a:r>
                    </a:p>
                  </a:txBody>
                  <a:tcPr marL="66675" marR="66675" marT="47625" marB="47625"/>
                </a:tc>
                <a:tc>
                  <a:txBody>
                    <a:bodyPr/>
                    <a:lstStyle/>
                    <a:p>
                      <a:r>
                        <a:rPr sz="1275">
                          <a:solidFill>
                            <a:srgbClr val="000000"/>
                          </a:solidFill>
                        </a:rPr>
                        <a:t>Create efficient qualified visibility</a:t>
                      </a:r>
                    </a:p>
                  </a:txBody>
                  <a:tcPr marL="66675" marR="66675" marT="47625" marB="47625"/>
                </a:tc>
                <a:tc>
                  <a:txBody>
                    <a:bodyPr/>
                    <a:lstStyle/>
                    <a:p>
                      <a:r>
                        <a:rPr sz="1275">
                          <a:solidFill>
                            <a:srgbClr val="000000"/>
                          </a:solidFill>
                        </a:rPr>
                        <a:t>Reach</a:t>
                      </a:r>
                    </a:p>
                  </a:txBody>
                  <a:tcPr marL="66675" marR="66675" marT="47625" marB="47625"/>
                </a:tc>
                <a:extLst>
                  <a:ext uri="{0D108BD9-81ED-4DB2-BD59-A6C34878D82A}">
                    <a16:rowId xmlns:a16="http://schemas.microsoft.com/office/drawing/2014/main" val="10001"/>
                  </a:ext>
                </a:extLst>
              </a:tr>
              <a:tr h="465667">
                <a:tc>
                  <a:txBody>
                    <a:bodyPr/>
                    <a:lstStyle/>
                    <a:p>
                      <a:r>
                        <a:rPr sz="1275">
                          <a:solidFill>
                            <a:srgbClr val="000000"/>
                          </a:solidFill>
                        </a:rPr>
                        <a:t>Always-on</a:t>
                      </a:r>
                    </a:p>
                  </a:txBody>
                  <a:tcPr marL="66675" marR="66675" marT="47625" marB="47625"/>
                </a:tc>
                <a:tc>
                  <a:txBody>
                    <a:bodyPr/>
                    <a:lstStyle/>
                    <a:p>
                      <a:r>
                        <a:rPr sz="1275">
                          <a:solidFill>
                            <a:srgbClr val="000000"/>
                          </a:solidFill>
                        </a:rPr>
                        <a:t>Acquire steady sales with stable economics</a:t>
                      </a:r>
                    </a:p>
                  </a:txBody>
                  <a:tcPr marL="66675" marR="66675" marT="47625" marB="47625"/>
                </a:tc>
                <a:tc>
                  <a:txBody>
                    <a:bodyPr/>
                    <a:lstStyle/>
                    <a:p>
                      <a:r>
                        <a:rPr sz="1275">
                          <a:solidFill>
                            <a:srgbClr val="000000"/>
                          </a:solidFill>
                        </a:rPr>
                        <a:t>Net ROAS</a:t>
                      </a:r>
                    </a:p>
                  </a:txBody>
                  <a:tcPr marL="66675" marR="66675" marT="47625" marB="47625"/>
                </a:tc>
                <a:extLst>
                  <a:ext uri="{0D108BD9-81ED-4DB2-BD59-A6C34878D82A}">
                    <a16:rowId xmlns:a16="http://schemas.microsoft.com/office/drawing/2014/main" val="10002"/>
                  </a:ext>
                </a:extLst>
              </a:tr>
              <a:tr h="465667">
                <a:tc>
                  <a:txBody>
                    <a:bodyPr/>
                    <a:lstStyle/>
                    <a:p>
                      <a:r>
                        <a:rPr sz="1275">
                          <a:solidFill>
                            <a:srgbClr val="000000"/>
                          </a:solidFill>
                        </a:rPr>
                        <a:t>Promotional</a:t>
                      </a:r>
                    </a:p>
                  </a:txBody>
                  <a:tcPr marL="66675" marR="66675" marT="47625" marB="47625"/>
                </a:tc>
                <a:tc>
                  <a:txBody>
                    <a:bodyPr/>
                    <a:lstStyle/>
                    <a:p>
                      <a:r>
                        <a:rPr sz="1275">
                          <a:solidFill>
                            <a:srgbClr val="000000"/>
                          </a:solidFill>
                        </a:rPr>
                        <a:t>Convert offer-driven demand</a:t>
                      </a:r>
                    </a:p>
                  </a:txBody>
                  <a:tcPr marL="66675" marR="66675" marT="47625" marB="47625"/>
                </a:tc>
                <a:tc>
                  <a:txBody>
                    <a:bodyPr/>
                    <a:lstStyle/>
                    <a:p>
                      <a:r>
                        <a:rPr sz="1275">
                          <a:solidFill>
                            <a:srgbClr val="000000"/>
                          </a:solidFill>
                        </a:rPr>
                        <a:t>Net ROAS</a:t>
                      </a:r>
                    </a:p>
                  </a:txBody>
                  <a:tcPr marL="66675" marR="66675" marT="47625" marB="47625"/>
                </a:tc>
                <a:extLst>
                  <a:ext uri="{0D108BD9-81ED-4DB2-BD59-A6C34878D82A}">
                    <a16:rowId xmlns:a16="http://schemas.microsoft.com/office/drawing/2014/main" val="10003"/>
                  </a:ext>
                </a:extLst>
              </a:tr>
              <a:tr h="465667">
                <a:tc>
                  <a:txBody>
                    <a:bodyPr/>
                    <a:lstStyle/>
                    <a:p>
                      <a:r>
                        <a:rPr sz="1275">
                          <a:solidFill>
                            <a:srgbClr val="000000"/>
                          </a:solidFill>
                        </a:rPr>
                        <a:t>Seasonal</a:t>
                      </a:r>
                    </a:p>
                  </a:txBody>
                  <a:tcPr marL="66675" marR="66675" marT="47625" marB="47625"/>
                </a:tc>
                <a:tc>
                  <a:txBody>
                    <a:bodyPr/>
                    <a:lstStyle/>
                    <a:p>
                      <a:r>
                        <a:rPr sz="1275">
                          <a:solidFill>
                            <a:srgbClr val="000000"/>
                          </a:solidFill>
                        </a:rPr>
                        <a:t>Capture demand in a limited window</a:t>
                      </a:r>
                    </a:p>
                  </a:txBody>
                  <a:tcPr marL="66675" marR="66675" marT="47625" marB="47625"/>
                </a:tc>
                <a:tc>
                  <a:txBody>
                    <a:bodyPr/>
                    <a:lstStyle/>
                    <a:p>
                      <a:r>
                        <a:rPr sz="1275">
                          <a:solidFill>
                            <a:srgbClr val="000000"/>
                          </a:solidFill>
                        </a:rPr>
                        <a:t>Net revenue / day</a:t>
                      </a:r>
                    </a:p>
                  </a:txBody>
                  <a:tcPr marL="66675" marR="66675" marT="47625" marB="47625"/>
                </a:tc>
                <a:extLst>
                  <a:ext uri="{0D108BD9-81ED-4DB2-BD59-A6C34878D82A}">
                    <a16:rowId xmlns:a16="http://schemas.microsoft.com/office/drawing/2014/main" val="10004"/>
                  </a:ext>
                </a:extLst>
              </a:tr>
              <a:tr h="465667">
                <a:tc>
                  <a:txBody>
                    <a:bodyPr/>
                    <a:lstStyle/>
                    <a:p>
                      <a:r>
                        <a:rPr sz="1275">
                          <a:solidFill>
                            <a:srgbClr val="000000"/>
                          </a:solidFill>
                        </a:rPr>
                        <a:t>Experimental</a:t>
                      </a:r>
                    </a:p>
                  </a:txBody>
                  <a:tcPr marL="66675" marR="66675" marT="47625" marB="47625">
                    <a:solidFill>
                      <a:srgbClr val="D0EDFA"/>
                    </a:solidFill>
                  </a:tcPr>
                </a:tc>
                <a:tc>
                  <a:txBody>
                    <a:bodyPr/>
                    <a:lstStyle/>
                    <a:p>
                      <a:r>
                        <a:rPr sz="1275">
                          <a:solidFill>
                            <a:srgbClr val="000000"/>
                          </a:solidFill>
                        </a:rPr>
                        <a:t>Generate comparable evidence</a:t>
                      </a:r>
                    </a:p>
                  </a:txBody>
                  <a:tcPr marL="66675" marR="66675" marT="47625" marB="47625">
                    <a:solidFill>
                      <a:srgbClr val="D0EDFA"/>
                    </a:solidFill>
                  </a:tcPr>
                </a:tc>
                <a:tc>
                  <a:txBody>
                    <a:bodyPr/>
                    <a:lstStyle/>
                    <a:p>
                      <a:r>
                        <a:rPr sz="1275">
                          <a:solidFill>
                            <a:srgbClr val="000000"/>
                          </a:solidFill>
                        </a:rPr>
                        <a:t>Observed conversations</a:t>
                      </a:r>
                    </a:p>
                  </a:txBody>
                  <a:tcPr marL="66675" marR="66675" marT="47625" marB="47625">
                    <a:solidFill>
                      <a:srgbClr val="D0EDFA"/>
                    </a:solidFill>
                  </a:tcPr>
                </a:tc>
                <a:extLst>
                  <a:ext uri="{0D108BD9-81ED-4DB2-BD59-A6C34878D82A}">
                    <a16:rowId xmlns:a16="http://schemas.microsoft.com/office/drawing/2014/main" val="10005"/>
                  </a:ext>
                </a:extLst>
              </a:tr>
              <a:tr h="465667">
                <a:tc>
                  <a:txBody>
                    <a:bodyPr/>
                    <a:lstStyle/>
                    <a:p>
                      <a:r>
                        <a:rPr sz="1275">
                          <a:solidFill>
                            <a:srgbClr val="000000"/>
                          </a:solidFill>
                        </a:rPr>
                        <a:t>Launch</a:t>
                      </a:r>
                    </a:p>
                  </a:txBody>
                  <a:tcPr marL="66675" marR="66675" marT="47625" marB="47625"/>
                </a:tc>
                <a:tc>
                  <a:txBody>
                    <a:bodyPr/>
                    <a:lstStyle/>
                    <a:p>
                      <a:r>
                        <a:rPr sz="1275">
                          <a:solidFill>
                            <a:srgbClr val="000000"/>
                          </a:solidFill>
                        </a:rPr>
                        <a:t>Validate demand and product adoption</a:t>
                      </a:r>
                    </a:p>
                  </a:txBody>
                  <a:tcPr marL="66675" marR="66675" marT="47625" marB="47625"/>
                </a:tc>
                <a:tc>
                  <a:txBody>
                    <a:bodyPr/>
                    <a:lstStyle/>
                    <a:p>
                      <a:r>
                        <a:rPr sz="1275">
                          <a:solidFill>
                            <a:srgbClr val="000000"/>
                          </a:solidFill>
                        </a:rPr>
                        <a:t>Net revenue</a:t>
                      </a:r>
                    </a:p>
                  </a:txBody>
                  <a:tcPr marL="66675" marR="66675" marT="47625" marB="47625"/>
                </a:tc>
                <a:extLst>
                  <a:ext uri="{0D108BD9-81ED-4DB2-BD59-A6C34878D82A}">
                    <a16:rowId xmlns:a16="http://schemas.microsoft.com/office/drawing/2014/main" val="10006"/>
                  </a:ext>
                </a:extLst>
              </a:tr>
              <a:tr h="465667">
                <a:tc>
                  <a:txBody>
                    <a:bodyPr/>
                    <a:lstStyle/>
                    <a:p>
                      <a:r>
                        <a:rPr sz="1275">
                          <a:solidFill>
                            <a:srgbClr val="000000"/>
                          </a:solidFill>
                        </a:rPr>
                        <a:t>Scale</a:t>
                      </a:r>
                    </a:p>
                  </a:txBody>
                  <a:tcPr marL="66675" marR="66675" marT="47625" marB="47625"/>
                </a:tc>
                <a:tc>
                  <a:txBody>
                    <a:bodyPr/>
                    <a:lstStyle/>
                    <a:p>
                      <a:r>
                        <a:rPr sz="1275">
                          <a:solidFill>
                            <a:srgbClr val="000000"/>
                          </a:solidFill>
                        </a:rPr>
                        <a:t>Grow volume while protecting quality</a:t>
                      </a:r>
                    </a:p>
                  </a:txBody>
                  <a:tcPr marL="66675" marR="66675" marT="47625" marB="47625"/>
                </a:tc>
                <a:tc>
                  <a:txBody>
                    <a:bodyPr/>
                    <a:lstStyle/>
                    <a:p>
                      <a:r>
                        <a:rPr sz="1275">
                          <a:solidFill>
                            <a:srgbClr val="000000"/>
                          </a:solidFill>
                        </a:rPr>
                        <a:t>Observed conversations</a:t>
                      </a:r>
                    </a:p>
                  </a:txBody>
                  <a:tcPr marL="66675" marR="66675" marT="47625" marB="47625"/>
                </a:tc>
                <a:extLst>
                  <a:ext uri="{0D108BD9-81ED-4DB2-BD59-A6C34878D82A}">
                    <a16:rowId xmlns:a16="http://schemas.microsoft.com/office/drawing/2014/main" val="10007"/>
                  </a:ext>
                </a:extLst>
              </a:tr>
              <a:tr h="465667">
                <a:tc>
                  <a:txBody>
                    <a:bodyPr/>
                    <a:lstStyle/>
                    <a:p>
                      <a:r>
                        <a:rPr sz="1275">
                          <a:solidFill>
                            <a:srgbClr val="000000"/>
                          </a:solidFill>
                        </a:rPr>
                        <a:t>Retention</a:t>
                      </a:r>
                    </a:p>
                  </a:txBody>
                  <a:tcPr marL="66675" marR="66675" marT="47625" marB="47625"/>
                </a:tc>
                <a:tc>
                  <a:txBody>
                    <a:bodyPr/>
                    <a:lstStyle/>
                    <a:p>
                      <a:r>
                        <a:rPr sz="1275">
                          <a:solidFill>
                            <a:srgbClr val="000000"/>
                          </a:solidFill>
                        </a:rPr>
                        <a:t>Create profitable repeat orders</a:t>
                      </a:r>
                    </a:p>
                  </a:txBody>
                  <a:tcPr marL="66675" marR="66675" marT="47625" marB="47625"/>
                </a:tc>
                <a:tc>
                  <a:txBody>
                    <a:bodyPr/>
                    <a:lstStyle/>
                    <a:p>
                      <a:r>
                        <a:rPr sz="1275">
                          <a:solidFill>
                            <a:srgbClr val="000000"/>
                          </a:solidFill>
                        </a:rPr>
                        <a:t>Repeat delivered orders</a:t>
                      </a:r>
                    </a:p>
                  </a:txBody>
                  <a:tcPr marL="66675" marR="66675" marT="47625" marB="47625"/>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35810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lide-10-title">
            <a:extLst>
              <a:ext uri="{FF2B5EF4-FFF2-40B4-BE49-F238E27FC236}">
                <a16:creationId xmlns:a16="http://schemas.microsoft.com/office/drawing/2014/main" id="{D747FCFD-D8CC-42A9-8E80-34BE20BE9313}"/>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v2 removes arbitrary KPI weighting</a:t>
            </a:r>
          </a:p>
        </p:txBody>
      </p:sp>
      <p:cxnSp>
        <p:nvCxnSpPr>
          <p:cNvPr id="30" name="line-153"/>
          <p:cNvCxnSpPr/>
          <p:nvPr/>
        </p:nvCxnSpPr>
        <p:spPr>
          <a:xfrm>
            <a:off x="495300" y="1057275"/>
            <a:ext cx="11296650" cy="9525"/>
          </a:xfrm>
          <a:prstGeom prst="straightConnector1">
            <a:avLst/>
          </a:prstGeom>
          <a:ln w="9525">
            <a:solidFill>
              <a:srgbClr val="B8BCC4"/>
            </a:solidFill>
            <a:prstDash val="solid"/>
          </a:ln>
        </p:spPr>
      </p:cxnSp>
      <p:sp>
        <p:nvSpPr>
          <p:cNvPr id="3" name="slide-10-source">
            <a:extLst>
              <a:ext uri="{FF2B5EF4-FFF2-40B4-BE49-F238E27FC236}">
                <a16:creationId xmlns:a16="http://schemas.microsoft.com/office/drawing/2014/main" id="{4650EB3C-FB3E-4BFF-983B-08A669E0EF43}"/>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existing src campaign_targets.py; src_2 campaign_types.yaml</a:t>
            </a:r>
          </a:p>
        </p:txBody>
      </p:sp>
      <p:sp>
        <p:nvSpPr>
          <p:cNvPr id="4" name="slide-10-number">
            <a:extLst>
              <a:ext uri="{FF2B5EF4-FFF2-40B4-BE49-F238E27FC236}">
                <a16:creationId xmlns:a16="http://schemas.microsoft.com/office/drawing/2014/main" id="{D5C53451-C354-4B83-A6C1-9B9CA2045103}"/>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10</a:t>
            </a:r>
          </a:p>
        </p:txBody>
      </p:sp>
      <p:sp>
        <p:nvSpPr>
          <p:cNvPr id="6" name="shape-143">
            <a:extLst>
              <a:ext uri="{FF2B5EF4-FFF2-40B4-BE49-F238E27FC236}">
                <a16:creationId xmlns:a16="http://schemas.microsoft.com/office/drawing/2014/main" id="{C0C4B8E4-0353-4E79-9F40-BDD7197B4B1B}"/>
              </a:ext>
            </a:extLst>
          </p:cNvPr>
          <p:cNvSpPr>
            <a:spLocks noGrp="1"/>
          </p:cNvSpPr>
          <p:nvPr/>
        </p:nvSpPr>
        <p:spPr>
          <a:xfrm>
            <a:off x="1297172" y="1619250"/>
            <a:ext cx="5996763" cy="3943350"/>
          </a:xfrm>
          <a:prstGeom prst="rect">
            <a:avLst/>
          </a:prstGeom>
          <a:solidFill>
            <a:srgbClr val="D0EDFA"/>
          </a:solidFill>
          <a:ln w="9525">
            <a:solidFill>
              <a:srgbClr val="B8BCC4"/>
            </a:solidFill>
            <a:prstDash val="solid"/>
          </a:ln>
        </p:spPr>
        <p:txBody>
          <a:bodyPr/>
          <a:lstStyle/>
          <a:p>
            <a:pPr marL="0" indent="0" algn="l" defTabSz="914400" rtl="0"/>
            <a:endParaRPr/>
          </a:p>
        </p:txBody>
      </p:sp>
      <p:sp>
        <p:nvSpPr>
          <p:cNvPr id="11" name="text-148">
            <a:extLst>
              <a:ext uri="{FF2B5EF4-FFF2-40B4-BE49-F238E27FC236}">
                <a16:creationId xmlns:a16="http://schemas.microsoft.com/office/drawing/2014/main" id="{5F80FD80-1DBC-48AE-9673-9227E763843F}"/>
              </a:ext>
            </a:extLst>
          </p:cNvPr>
          <p:cNvSpPr>
            <a:spLocks noGrp="1"/>
          </p:cNvSpPr>
          <p:nvPr/>
        </p:nvSpPr>
        <p:spPr>
          <a:xfrm>
            <a:off x="2338192" y="1933575"/>
            <a:ext cx="4429125" cy="342900"/>
          </a:xfrm>
          <a:prstGeom prst="rect">
            <a:avLst/>
          </a:prstGeom>
        </p:spPr>
        <p:txBody>
          <a:bodyPr wrap="square" lIns="0" tIns="0" rIns="0" bIns="0" anchor="t">
            <a:normAutofit/>
          </a:bodyPr>
          <a:lstStyle/>
          <a:p>
            <a:pPr algn="l">
              <a:buNone/>
              <a:defRPr sz="1650" b="1">
                <a:solidFill>
                  <a:srgbClr val="3D8DFF"/>
                </a:solidFill>
                <a:latin typeface="Helvetica Neue"/>
                <a:ea typeface="Helvetica Neue"/>
                <a:cs typeface="Helvetica Neue"/>
              </a:defRPr>
            </a:pPr>
            <a:r>
              <a:rPr dirty="0"/>
              <a:t>src_2 POLICY</a:t>
            </a:r>
          </a:p>
        </p:txBody>
      </p:sp>
      <p:sp>
        <p:nvSpPr>
          <p:cNvPr id="12" name="text-149">
            <a:extLst>
              <a:ext uri="{FF2B5EF4-FFF2-40B4-BE49-F238E27FC236}">
                <a16:creationId xmlns:a16="http://schemas.microsoft.com/office/drawing/2014/main" id="{9F97F3E8-5A3E-4890-A700-0DA0F87B0C47}"/>
              </a:ext>
            </a:extLst>
          </p:cNvPr>
          <p:cNvSpPr>
            <a:spLocks noGrp="1"/>
          </p:cNvSpPr>
          <p:nvPr/>
        </p:nvSpPr>
        <p:spPr>
          <a:xfrm>
            <a:off x="2338193" y="2486025"/>
            <a:ext cx="4429125" cy="514350"/>
          </a:xfrm>
          <a:prstGeom prst="rect">
            <a:avLst/>
          </a:prstGeom>
        </p:spPr>
        <p:txBody>
          <a:bodyPr wrap="square" lIns="0" tIns="0" rIns="0" bIns="0" anchor="t">
            <a:normAutofit/>
          </a:bodyPr>
          <a:lstStyle/>
          <a:p>
            <a:pPr algn="l">
              <a:buNone/>
              <a:defRPr sz="2475" b="1">
                <a:solidFill>
                  <a:srgbClr val="000000"/>
                </a:solidFill>
                <a:latin typeface="Helvetica Neue"/>
                <a:ea typeface="Helvetica Neue"/>
                <a:cs typeface="Helvetica Neue"/>
              </a:defRPr>
            </a:pPr>
            <a:r>
              <a:rPr dirty="0"/>
              <a:t>Primary + support + guards</a:t>
            </a:r>
          </a:p>
        </p:txBody>
      </p:sp>
      <p:sp>
        <p:nvSpPr>
          <p:cNvPr id="13" name="text-150">
            <a:extLst>
              <a:ext uri="{FF2B5EF4-FFF2-40B4-BE49-F238E27FC236}">
                <a16:creationId xmlns:a16="http://schemas.microsoft.com/office/drawing/2014/main" id="{1427806A-7CEE-46C6-B789-47A8B73C5768}"/>
              </a:ext>
            </a:extLst>
          </p:cNvPr>
          <p:cNvSpPr>
            <a:spLocks noGrp="1"/>
          </p:cNvSpPr>
          <p:nvPr/>
        </p:nvSpPr>
        <p:spPr>
          <a:xfrm>
            <a:off x="2338193" y="3219450"/>
            <a:ext cx="9129908" cy="1981200"/>
          </a:xfrm>
          <a:prstGeom prst="rect">
            <a:avLst/>
          </a:prstGeom>
        </p:spPr>
        <p:txBody>
          <a:bodyPr wrap="square" lIns="0" tIns="0" rIns="0" bIns="0" anchor="t">
            <a:normAutofit/>
          </a:bodyPr>
          <a:lstStyle/>
          <a:p>
            <a:pPr algn="l">
              <a:buNone/>
              <a:defRPr sz="1575" b="0">
                <a:solidFill>
                  <a:srgbClr val="5F6368"/>
                </a:solidFill>
                <a:latin typeface="Helvetica Neue"/>
                <a:ea typeface="Helvetica Neue"/>
                <a:cs typeface="Helvetica Neue"/>
              </a:defRPr>
            </a:pPr>
            <a:r>
              <a:t>Primary: net revenue/day
Support: orders, ROAS, cost, AOV
Guards: evidence, delivery, outcome quality
No hidden weighted average</a:t>
            </a:r>
          </a:p>
        </p:txBody>
      </p:sp>
      <p:sp>
        <p:nvSpPr>
          <p:cNvPr id="14" name="text-151">
            <a:extLst>
              <a:ext uri="{FF2B5EF4-FFF2-40B4-BE49-F238E27FC236}">
                <a16:creationId xmlns:a16="http://schemas.microsoft.com/office/drawing/2014/main" id="{AA9CF7EF-FC03-468B-80A4-0D0EC88374A6}"/>
              </a:ext>
            </a:extLst>
          </p:cNvPr>
          <p:cNvSpPr>
            <a:spLocks noGrp="1"/>
          </p:cNvSpPr>
          <p:nvPr/>
        </p:nvSpPr>
        <p:spPr>
          <a:xfrm>
            <a:off x="1428750" y="5867400"/>
            <a:ext cx="9334500" cy="342900"/>
          </a:xfrm>
          <a:prstGeom prst="rect">
            <a:avLst/>
          </a:prstGeom>
        </p:spPr>
        <p:txBody>
          <a:bodyPr wrap="square" lIns="0" tIns="0" rIns="0" bIns="0" anchor="t">
            <a:normAutofit fontScale="99133"/>
          </a:bodyPr>
          <a:lstStyle/>
          <a:p>
            <a:pPr algn="ctr">
              <a:buNone/>
              <a:defRPr sz="1725" b="1">
                <a:solidFill>
                  <a:srgbClr val="3D8DFF"/>
                </a:solidFill>
                <a:latin typeface="Helvetica Neue"/>
                <a:ea typeface="Helvetica Neue"/>
                <a:cs typeface="Helvetica Neue"/>
              </a:defRPr>
            </a:pPr>
            <a:r>
              <a:t>Transparent business rules replace a score whose result depends on unapproved weights.</a:t>
            </a:r>
          </a:p>
        </p:txBody>
      </p:sp>
    </p:spTree>
    <p:extLst>
      <p:ext uri="{BB962C8B-B14F-4D97-AF65-F5344CB8AC3E}">
        <p14:creationId xmlns:p14="http://schemas.microsoft.com/office/powerpoint/2010/main" val="1252145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12-title">
            <a:extLst>
              <a:ext uri="{FF2B5EF4-FFF2-40B4-BE49-F238E27FC236}">
                <a16:creationId xmlns:a16="http://schemas.microsoft.com/office/drawing/2014/main" id="{48B29D0A-5C4F-4FC0-A623-0D6C13C92A11}"/>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Funding decisions are rule based</a:t>
            </a:r>
          </a:p>
        </p:txBody>
      </p:sp>
      <p:cxnSp>
        <p:nvCxnSpPr>
          <p:cNvPr id="14" name="line-187"/>
          <p:cNvCxnSpPr/>
          <p:nvPr/>
        </p:nvCxnSpPr>
        <p:spPr>
          <a:xfrm>
            <a:off x="495300" y="1057275"/>
            <a:ext cx="11296650" cy="9525"/>
          </a:xfrm>
          <a:prstGeom prst="straightConnector1">
            <a:avLst/>
          </a:prstGeom>
          <a:ln w="9525">
            <a:solidFill>
              <a:srgbClr val="B8BCC4"/>
            </a:solidFill>
            <a:prstDash val="solid"/>
          </a:ln>
        </p:spPr>
      </p:cxnSp>
      <p:sp>
        <p:nvSpPr>
          <p:cNvPr id="3" name="slide-12-source">
            <a:extLst>
              <a:ext uri="{FF2B5EF4-FFF2-40B4-BE49-F238E27FC236}">
                <a16:creationId xmlns:a16="http://schemas.microsoft.com/office/drawing/2014/main" id="{700C349C-0A0D-4A4B-B315-AABE8295921D}"/>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src_2 deterministic assessment rules</a:t>
            </a:r>
          </a:p>
        </p:txBody>
      </p:sp>
      <p:sp>
        <p:nvSpPr>
          <p:cNvPr id="4" name="slide-12-number">
            <a:extLst>
              <a:ext uri="{FF2B5EF4-FFF2-40B4-BE49-F238E27FC236}">
                <a16:creationId xmlns:a16="http://schemas.microsoft.com/office/drawing/2014/main" id="{6EA9C0A9-6975-4CCE-80B7-E73162B48094}"/>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12</a:t>
            </a:r>
          </a:p>
        </p:txBody>
      </p:sp>
      <p:sp>
        <p:nvSpPr>
          <p:cNvPr id="5" name="text-185">
            <a:extLst>
              <a:ext uri="{FF2B5EF4-FFF2-40B4-BE49-F238E27FC236}">
                <a16:creationId xmlns:a16="http://schemas.microsoft.com/office/drawing/2014/main" id="{250FA4CF-68B9-4391-AA27-48E5462A425B}"/>
              </a:ext>
            </a:extLst>
          </p:cNvPr>
          <p:cNvSpPr>
            <a:spLocks noGrp="1"/>
          </p:cNvSpPr>
          <p:nvPr/>
        </p:nvSpPr>
        <p:spPr>
          <a:xfrm>
            <a:off x="390525" y="1219200"/>
            <a:ext cx="11410950" cy="400050"/>
          </a:xfrm>
          <a:prstGeom prst="rect">
            <a:avLst/>
          </a:prstGeom>
        </p:spPr>
        <p:txBody>
          <a:bodyPr wrap="square" lIns="0" tIns="0" rIns="0" bIns="0" anchor="t">
            <a:normAutofit/>
          </a:bodyPr>
          <a:lstStyle/>
          <a:p>
            <a:pPr algn="l">
              <a:buNone/>
              <a:defRPr sz="1650" b="1">
                <a:solidFill>
                  <a:srgbClr val="3D8DFF"/>
                </a:solidFill>
                <a:latin typeface="Helvetica Neue"/>
                <a:ea typeface="Helvetica Neue"/>
                <a:cs typeface="Helvetica Neue"/>
              </a:defRPr>
            </a:pPr>
            <a:r>
              <a:t>The decision describes eligibility for the next cycle, never an edit to the ended campaign.</a:t>
            </a:r>
          </a:p>
        </p:txBody>
      </p:sp>
      <p:graphicFrame>
        <p:nvGraphicFramePr>
          <p:cNvPr id="18" name="Table 11"/>
          <p:cNvGraphicFramePr/>
          <p:nvPr/>
        </p:nvGraphicFramePr>
        <p:xfrm>
          <a:off x="390525" y="1885950"/>
          <a:ext cx="11410950" cy="394335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3790950">
                  <a:extLst>
                    <a:ext uri="{9D8B030D-6E8A-4147-A177-3AD203B41FA5}">
                      <a16:colId xmlns:a16="http://schemas.microsoft.com/office/drawing/2014/main" val="20002"/>
                    </a:ext>
                  </a:extLst>
                </a:gridCol>
              </a:tblGrid>
              <a:tr h="657225">
                <a:tc>
                  <a:txBody>
                    <a:bodyPr/>
                    <a:lstStyle/>
                    <a:p>
                      <a:r>
                        <a:rPr sz="1350" b="1">
                          <a:solidFill>
                            <a:srgbClr val="FFFFFF"/>
                          </a:solidFill>
                        </a:rPr>
                        <a:t>Decision</a:t>
                      </a:r>
                    </a:p>
                  </a:txBody>
                  <a:tcPr marL="66675" marR="66675" marT="47625" marB="47625">
                    <a:solidFill>
                      <a:srgbClr val="000000"/>
                    </a:solidFill>
                  </a:tcPr>
                </a:tc>
                <a:tc>
                  <a:txBody>
                    <a:bodyPr/>
                    <a:lstStyle/>
                    <a:p>
                      <a:r>
                        <a:rPr sz="1350" b="1">
                          <a:solidFill>
                            <a:srgbClr val="FFFFFF"/>
                          </a:solidFill>
                        </a:rPr>
                        <a:t>When it is assigned</a:t>
                      </a:r>
                    </a:p>
                  </a:txBody>
                  <a:tcPr marL="66675" marR="66675" marT="47625" marB="47625">
                    <a:solidFill>
                      <a:srgbClr val="000000"/>
                    </a:solidFill>
                  </a:tcPr>
                </a:tc>
                <a:tc>
                  <a:txBody>
                    <a:bodyPr/>
                    <a:lstStyle/>
                    <a:p>
                      <a:r>
                        <a:rPr sz="1350" b="1">
                          <a:solidFill>
                            <a:srgbClr val="FFFFFF"/>
                          </a:solidFill>
                        </a:rPr>
                        <a:t>POC budget treatment</a:t>
                      </a:r>
                    </a:p>
                  </a:txBody>
                  <a:tcPr marL="66675" marR="66675" marT="47625" marB="47625">
                    <a:solidFill>
                      <a:srgbClr val="000000"/>
                    </a:solidFill>
                  </a:tcPr>
                </a:tc>
                <a:extLst>
                  <a:ext uri="{0D108BD9-81ED-4DB2-BD59-A6C34878D82A}">
                    <a16:rowId xmlns:a16="http://schemas.microsoft.com/office/drawing/2014/main" val="10000"/>
                  </a:ext>
                </a:extLst>
              </a:tr>
              <a:tr h="657225">
                <a:tc>
                  <a:txBody>
                    <a:bodyPr/>
                    <a:lstStyle/>
                    <a:p>
                      <a:r>
                        <a:rPr sz="1350">
                          <a:solidFill>
                            <a:srgbClr val="000000"/>
                          </a:solidFill>
                        </a:rPr>
                        <a:t>SCALE</a:t>
                      </a:r>
                    </a:p>
                  </a:txBody>
                  <a:tcPr marL="66675" marR="66675" marT="47625" marB="47625"/>
                </a:tc>
                <a:tc>
                  <a:txBody>
                    <a:bodyPr/>
                    <a:lstStyle/>
                    <a:p>
                      <a:r>
                        <a:rPr sz="1350">
                          <a:solidFill>
                            <a:srgbClr val="000000"/>
                          </a:solidFill>
                        </a:rPr>
                        <a:t>Allocation metric and guards pass; evidence ready</a:t>
                      </a:r>
                    </a:p>
                  </a:txBody>
                  <a:tcPr marL="66675" marR="66675" marT="47625" marB="47625"/>
                </a:tc>
                <a:tc>
                  <a:txBody>
                    <a:bodyPr/>
                    <a:lstStyle/>
                    <a:p>
                      <a:r>
                        <a:rPr sz="1350">
                          <a:solidFill>
                            <a:srgbClr val="000000"/>
                          </a:solidFill>
                        </a:rPr>
                        <a:t>Eligible for core envelope</a:t>
                      </a:r>
                    </a:p>
                  </a:txBody>
                  <a:tcPr marL="66675" marR="66675" marT="47625" marB="47625"/>
                </a:tc>
                <a:extLst>
                  <a:ext uri="{0D108BD9-81ED-4DB2-BD59-A6C34878D82A}">
                    <a16:rowId xmlns:a16="http://schemas.microsoft.com/office/drawing/2014/main" val="10001"/>
                  </a:ext>
                </a:extLst>
              </a:tr>
              <a:tr h="657225">
                <a:tc>
                  <a:txBody>
                    <a:bodyPr/>
                    <a:lstStyle/>
                    <a:p>
                      <a:r>
                        <a:rPr sz="1350">
                          <a:solidFill>
                            <a:srgbClr val="000000"/>
                          </a:solidFill>
                        </a:rPr>
                        <a:t>KEEP AS TEST</a:t>
                      </a:r>
                    </a:p>
                  </a:txBody>
                  <a:tcPr marL="66675" marR="66675" marT="47625" marB="47625">
                    <a:solidFill>
                      <a:srgbClr val="D0EDFA"/>
                    </a:solidFill>
                  </a:tcPr>
                </a:tc>
                <a:tc>
                  <a:txBody>
                    <a:bodyPr/>
                    <a:lstStyle/>
                    <a:p>
                      <a:r>
                        <a:rPr sz="1350">
                          <a:solidFill>
                            <a:srgbClr val="000000"/>
                          </a:solidFill>
                        </a:rPr>
                        <a:t>Promising but mixed or limited evidence</a:t>
                      </a:r>
                    </a:p>
                  </a:txBody>
                  <a:tcPr marL="66675" marR="66675" marT="47625" marB="47625">
                    <a:solidFill>
                      <a:srgbClr val="D0EDFA"/>
                    </a:solidFill>
                  </a:tcPr>
                </a:tc>
                <a:tc>
                  <a:txBody>
                    <a:bodyPr/>
                    <a:lstStyle/>
                    <a:p>
                      <a:r>
                        <a:rPr sz="1350">
                          <a:solidFill>
                            <a:srgbClr val="000000"/>
                          </a:solidFill>
                        </a:rPr>
                        <a:t>Eligible for controlled test</a:t>
                      </a:r>
                    </a:p>
                  </a:txBody>
                  <a:tcPr marL="66675" marR="66675" marT="47625" marB="47625">
                    <a:solidFill>
                      <a:srgbClr val="D0EDFA"/>
                    </a:solidFill>
                  </a:tcPr>
                </a:tc>
                <a:extLst>
                  <a:ext uri="{0D108BD9-81ED-4DB2-BD59-A6C34878D82A}">
                    <a16:rowId xmlns:a16="http://schemas.microsoft.com/office/drawing/2014/main" val="10002"/>
                  </a:ext>
                </a:extLst>
              </a:tr>
              <a:tr h="657225">
                <a:tc>
                  <a:txBody>
                    <a:bodyPr/>
                    <a:lstStyle/>
                    <a:p>
                      <a:r>
                        <a:rPr sz="1350">
                          <a:solidFill>
                            <a:srgbClr val="000000"/>
                          </a:solidFill>
                        </a:rPr>
                        <a:t>DO NOT FUND</a:t>
                      </a:r>
                    </a:p>
                  </a:txBody>
                  <a:tcPr marL="66675" marR="66675" marT="47625" marB="47625"/>
                </a:tc>
                <a:tc>
                  <a:txBody>
                    <a:bodyPr/>
                    <a:lstStyle/>
                    <a:p>
                      <a:r>
                        <a:rPr sz="1350">
                          <a:solidFill>
                            <a:srgbClr val="000000"/>
                          </a:solidFill>
                        </a:rPr>
                        <a:t>Weak result, poor quality, or zero delivery</a:t>
                      </a:r>
                    </a:p>
                  </a:txBody>
                  <a:tcPr marL="66675" marR="66675" marT="47625" marB="47625"/>
                </a:tc>
                <a:tc>
                  <a:txBody>
                    <a:bodyPr/>
                    <a:lstStyle/>
                    <a:p>
                      <a:r>
                        <a:rPr sz="1350">
                          <a:solidFill>
                            <a:srgbClr val="000000"/>
                          </a:solidFill>
                        </a:rPr>
                        <a:t>Zero allocation</a:t>
                      </a:r>
                    </a:p>
                  </a:txBody>
                  <a:tcPr marL="66675" marR="66675" marT="47625" marB="47625"/>
                </a:tc>
                <a:extLst>
                  <a:ext uri="{0D108BD9-81ED-4DB2-BD59-A6C34878D82A}">
                    <a16:rowId xmlns:a16="http://schemas.microsoft.com/office/drawing/2014/main" val="10003"/>
                  </a:ext>
                </a:extLst>
              </a:tr>
              <a:tr h="657225">
                <a:tc>
                  <a:txBody>
                    <a:bodyPr/>
                    <a:lstStyle/>
                    <a:p>
                      <a:r>
                        <a:rPr sz="1350">
                          <a:solidFill>
                            <a:srgbClr val="000000"/>
                          </a:solidFill>
                        </a:rPr>
                        <a:t>INSUFFICIENT</a:t>
                      </a:r>
                    </a:p>
                  </a:txBody>
                  <a:tcPr marL="66675" marR="66675" marT="47625" marB="47625"/>
                </a:tc>
                <a:tc>
                  <a:txBody>
                    <a:bodyPr/>
                    <a:lstStyle/>
                    <a:p>
                      <a:r>
                        <a:rPr sz="1350">
                          <a:solidFill>
                            <a:srgbClr val="000000"/>
                          </a:solidFill>
                        </a:rPr>
                        <a:t>Too few observations for a stable conclusion</a:t>
                      </a:r>
                    </a:p>
                  </a:txBody>
                  <a:tcPr marL="66675" marR="66675" marT="47625" marB="47625"/>
                </a:tc>
                <a:tc>
                  <a:txBody>
                    <a:bodyPr/>
                    <a:lstStyle/>
                    <a:p>
                      <a:r>
                        <a:rPr sz="1350">
                          <a:solidFill>
                            <a:srgbClr val="000000"/>
                          </a:solidFill>
                        </a:rPr>
                        <a:t>Measurement test only</a:t>
                      </a:r>
                    </a:p>
                  </a:txBody>
                  <a:tcPr marL="66675" marR="66675" marT="47625" marB="47625"/>
                </a:tc>
                <a:extLst>
                  <a:ext uri="{0D108BD9-81ED-4DB2-BD59-A6C34878D82A}">
                    <a16:rowId xmlns:a16="http://schemas.microsoft.com/office/drawing/2014/main" val="10004"/>
                  </a:ext>
                </a:extLst>
              </a:tr>
              <a:tr h="657225">
                <a:tc>
                  <a:txBody>
                    <a:bodyPr/>
                    <a:lstStyle/>
                    <a:p>
                      <a:r>
                        <a:rPr sz="1350">
                          <a:solidFill>
                            <a:srgbClr val="000000"/>
                          </a:solidFill>
                        </a:rPr>
                        <a:t>DATA NOT READY</a:t>
                      </a:r>
                    </a:p>
                  </a:txBody>
                  <a:tcPr marL="66675" marR="66675" marT="47625" marB="47625"/>
                </a:tc>
                <a:tc>
                  <a:txBody>
                    <a:bodyPr/>
                    <a:lstStyle/>
                    <a:p>
                      <a:r>
                        <a:rPr sz="1350">
                          <a:solidFill>
                            <a:srgbClr val="000000"/>
                          </a:solidFill>
                        </a:rPr>
                        <a:t>Maturity or reconciliation gate fails</a:t>
                      </a:r>
                    </a:p>
                  </a:txBody>
                  <a:tcPr marL="66675" marR="66675" marT="47625" marB="47625"/>
                </a:tc>
                <a:tc>
                  <a:txBody>
                    <a:bodyPr/>
                    <a:lstStyle/>
                    <a:p>
                      <a:r>
                        <a:rPr sz="1350">
                          <a:solidFill>
                            <a:srgbClr val="000000"/>
                          </a:solidFill>
                        </a:rPr>
                        <a:t>No operational allocation</a:t>
                      </a:r>
                    </a:p>
                  </a:txBody>
                  <a:tcPr marL="66675" marR="66675" marT="47625" marB="47625"/>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33722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slide-13-title">
            <a:extLst>
              <a:ext uri="{FF2B5EF4-FFF2-40B4-BE49-F238E27FC236}">
                <a16:creationId xmlns:a16="http://schemas.microsoft.com/office/drawing/2014/main" id="{2C09C02F-EB5F-40F6-B7EE-C263430C12EF}"/>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150" b="1">
                <a:solidFill>
                  <a:srgbClr val="000000"/>
                </a:solidFill>
                <a:latin typeface="Helvetica Neue"/>
                <a:ea typeface="Helvetica Neue"/>
                <a:cs typeface="Helvetica Neue"/>
              </a:defRPr>
            </a:pPr>
            <a:r>
              <a:t>Aggregations move from strategy to execution</a:t>
            </a:r>
          </a:p>
        </p:txBody>
      </p:sp>
      <p:cxnSp>
        <p:nvCxnSpPr>
          <p:cNvPr id="29" name="line-210"/>
          <p:cNvCxnSpPr/>
          <p:nvPr/>
        </p:nvCxnSpPr>
        <p:spPr>
          <a:xfrm>
            <a:off x="495300" y="1057275"/>
            <a:ext cx="11296650" cy="9525"/>
          </a:xfrm>
          <a:prstGeom prst="straightConnector1">
            <a:avLst/>
          </a:prstGeom>
          <a:ln w="9525">
            <a:solidFill>
              <a:srgbClr val="B8BCC4"/>
            </a:solidFill>
            <a:prstDash val="solid"/>
          </a:ln>
        </p:spPr>
      </p:cxnSp>
      <p:sp>
        <p:nvSpPr>
          <p:cNvPr id="3" name="slide-13-source">
            <a:extLst>
              <a:ext uri="{FF2B5EF4-FFF2-40B4-BE49-F238E27FC236}">
                <a16:creationId xmlns:a16="http://schemas.microsoft.com/office/drawing/2014/main" id="{F1C90D00-26A3-4ECB-B91D-D115918D9CE1}"/>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agreed v2 aggregation design</a:t>
            </a:r>
          </a:p>
        </p:txBody>
      </p:sp>
      <p:sp>
        <p:nvSpPr>
          <p:cNvPr id="4" name="slide-13-number">
            <a:extLst>
              <a:ext uri="{FF2B5EF4-FFF2-40B4-BE49-F238E27FC236}">
                <a16:creationId xmlns:a16="http://schemas.microsoft.com/office/drawing/2014/main" id="{8C7D3D30-53F1-4CDE-A9B9-835761A25C9B}"/>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13</a:t>
            </a:r>
          </a:p>
        </p:txBody>
      </p:sp>
      <p:sp>
        <p:nvSpPr>
          <p:cNvPr id="5" name="shape-190">
            <a:extLst>
              <a:ext uri="{FF2B5EF4-FFF2-40B4-BE49-F238E27FC236}">
                <a16:creationId xmlns:a16="http://schemas.microsoft.com/office/drawing/2014/main" id="{4DFE733E-EEEB-4BA5-8311-3F1F1CA691AD}"/>
              </a:ext>
            </a:extLst>
          </p:cNvPr>
          <p:cNvSpPr>
            <a:spLocks noGrp="1"/>
          </p:cNvSpPr>
          <p:nvPr/>
        </p:nvSpPr>
        <p:spPr>
          <a:xfrm>
            <a:off x="390525" y="1714500"/>
            <a:ext cx="3562350" cy="3886200"/>
          </a:xfrm>
          <a:prstGeom prst="rect">
            <a:avLst/>
          </a:prstGeom>
          <a:solidFill>
            <a:srgbClr val="000000"/>
          </a:solidFill>
          <a:ln w="9525">
            <a:solidFill>
              <a:srgbClr val="000000"/>
            </a:solidFill>
            <a:prstDash val="solid"/>
          </a:ln>
        </p:spPr>
        <p:txBody>
          <a:bodyPr/>
          <a:lstStyle/>
          <a:p>
            <a:endParaRPr/>
          </a:p>
        </p:txBody>
      </p:sp>
      <p:sp>
        <p:nvSpPr>
          <p:cNvPr id="6" name="shape-191">
            <a:extLst>
              <a:ext uri="{FF2B5EF4-FFF2-40B4-BE49-F238E27FC236}">
                <a16:creationId xmlns:a16="http://schemas.microsoft.com/office/drawing/2014/main" id="{46C58777-937A-4C6A-9BFA-66DEB836069A}"/>
              </a:ext>
            </a:extLst>
          </p:cNvPr>
          <p:cNvSpPr>
            <a:spLocks noGrp="1"/>
          </p:cNvSpPr>
          <p:nvPr/>
        </p:nvSpPr>
        <p:spPr>
          <a:xfrm>
            <a:off x="4314825" y="1714500"/>
            <a:ext cx="3562350" cy="3886200"/>
          </a:xfrm>
          <a:prstGeom prst="rect">
            <a:avLst/>
          </a:prstGeom>
          <a:solidFill>
            <a:srgbClr val="D0EDFA"/>
          </a:solidFill>
          <a:ln w="9525">
            <a:solidFill>
              <a:srgbClr val="B8BCC4"/>
            </a:solidFill>
            <a:prstDash val="solid"/>
          </a:ln>
        </p:spPr>
        <p:txBody>
          <a:bodyPr/>
          <a:lstStyle/>
          <a:p>
            <a:endParaRPr/>
          </a:p>
        </p:txBody>
      </p:sp>
      <p:sp>
        <p:nvSpPr>
          <p:cNvPr id="7" name="shape-192">
            <a:extLst>
              <a:ext uri="{FF2B5EF4-FFF2-40B4-BE49-F238E27FC236}">
                <a16:creationId xmlns:a16="http://schemas.microsoft.com/office/drawing/2014/main" id="{6843BBF6-F127-49F1-AE51-1B9A3AECC197}"/>
              </a:ext>
            </a:extLst>
          </p:cNvPr>
          <p:cNvSpPr>
            <a:spLocks noGrp="1"/>
          </p:cNvSpPr>
          <p:nvPr/>
        </p:nvSpPr>
        <p:spPr>
          <a:xfrm>
            <a:off x="8239125" y="1714500"/>
            <a:ext cx="3562350" cy="3886200"/>
          </a:xfrm>
          <a:prstGeom prst="rect">
            <a:avLst/>
          </a:prstGeom>
          <a:solidFill>
            <a:srgbClr val="F7F7F7"/>
          </a:solidFill>
          <a:ln w="9525">
            <a:solidFill>
              <a:srgbClr val="B8BCC4"/>
            </a:solidFill>
            <a:prstDash val="solid"/>
          </a:ln>
        </p:spPr>
        <p:txBody>
          <a:bodyPr/>
          <a:lstStyle/>
          <a:p>
            <a:endParaRPr/>
          </a:p>
        </p:txBody>
      </p:sp>
      <p:sp>
        <p:nvSpPr>
          <p:cNvPr id="8" name="text-193">
            <a:extLst>
              <a:ext uri="{FF2B5EF4-FFF2-40B4-BE49-F238E27FC236}">
                <a16:creationId xmlns:a16="http://schemas.microsoft.com/office/drawing/2014/main" id="{DAD0F74F-AC34-4AF7-A67E-A2D9B5F568FF}"/>
              </a:ext>
            </a:extLst>
          </p:cNvPr>
          <p:cNvSpPr>
            <a:spLocks noGrp="1"/>
          </p:cNvSpPr>
          <p:nvPr/>
        </p:nvSpPr>
        <p:spPr>
          <a:xfrm>
            <a:off x="723900" y="2076450"/>
            <a:ext cx="2895600" cy="419100"/>
          </a:xfrm>
          <a:prstGeom prst="rect">
            <a:avLst/>
          </a:prstGeom>
        </p:spPr>
        <p:txBody>
          <a:bodyPr wrap="square" lIns="0" tIns="0" rIns="0" bIns="0" anchor="t">
            <a:normAutofit/>
          </a:bodyPr>
          <a:lstStyle/>
          <a:p>
            <a:pPr algn="l">
              <a:buNone/>
              <a:defRPr sz="2175" b="1">
                <a:solidFill>
                  <a:srgbClr val="FFFFFF"/>
                </a:solidFill>
                <a:latin typeface="Helvetica Neue"/>
                <a:ea typeface="Helvetica Neue"/>
                <a:cs typeface="Helvetica Neue"/>
              </a:defRPr>
            </a:pPr>
            <a:r>
              <a:t>CAMPAIGN</a:t>
            </a:r>
          </a:p>
        </p:txBody>
      </p:sp>
      <p:sp>
        <p:nvSpPr>
          <p:cNvPr id="9" name="text-194">
            <a:extLst>
              <a:ext uri="{FF2B5EF4-FFF2-40B4-BE49-F238E27FC236}">
                <a16:creationId xmlns:a16="http://schemas.microsoft.com/office/drawing/2014/main" id="{ACA088C6-F6A1-4A51-8C1F-3E7748575C1A}"/>
              </a:ext>
            </a:extLst>
          </p:cNvPr>
          <p:cNvSpPr>
            <a:spLocks noGrp="1"/>
          </p:cNvSpPr>
          <p:nvPr/>
        </p:nvSpPr>
        <p:spPr>
          <a:xfrm>
            <a:off x="723900" y="2724150"/>
            <a:ext cx="2895600" cy="266700"/>
          </a:xfrm>
          <a:prstGeom prst="rect">
            <a:avLst/>
          </a:prstGeom>
        </p:spPr>
        <p:txBody>
          <a:bodyPr wrap="square" lIns="0" tIns="0" rIns="0" bIns="0" anchor="t">
            <a:normAutofit/>
          </a:bodyPr>
          <a:lstStyle/>
          <a:p>
            <a:pPr algn="l">
              <a:buNone/>
              <a:defRPr sz="1350" b="1">
                <a:solidFill>
                  <a:srgbClr val="6DCBF4"/>
                </a:solidFill>
                <a:latin typeface="Helvetica Neue"/>
                <a:ea typeface="Helvetica Neue"/>
                <a:cs typeface="Helvetica Neue"/>
              </a:defRPr>
            </a:pPr>
            <a:r>
              <a:t>Question</a:t>
            </a:r>
          </a:p>
        </p:txBody>
      </p:sp>
      <p:sp>
        <p:nvSpPr>
          <p:cNvPr id="10" name="text-195">
            <a:extLst>
              <a:ext uri="{FF2B5EF4-FFF2-40B4-BE49-F238E27FC236}">
                <a16:creationId xmlns:a16="http://schemas.microsoft.com/office/drawing/2014/main" id="{C1D2EF15-C0A2-4716-B75C-C771B4195E4F}"/>
              </a:ext>
            </a:extLst>
          </p:cNvPr>
          <p:cNvSpPr>
            <a:spLocks noGrp="1"/>
          </p:cNvSpPr>
          <p:nvPr/>
        </p:nvSpPr>
        <p:spPr>
          <a:xfrm>
            <a:off x="723900" y="3048000"/>
            <a:ext cx="2895600" cy="552450"/>
          </a:xfrm>
          <a:prstGeom prst="rect">
            <a:avLst/>
          </a:prstGeom>
        </p:spPr>
        <p:txBody>
          <a:bodyPr wrap="square" lIns="0" tIns="0" rIns="0" bIns="0" anchor="t">
            <a:normAutofit/>
          </a:bodyPr>
          <a:lstStyle/>
          <a:p>
            <a:pPr algn="l">
              <a:buNone/>
              <a:defRPr sz="1500" b="0">
                <a:solidFill>
                  <a:srgbClr val="FFFFFF"/>
                </a:solidFill>
                <a:latin typeface="Helvetica Neue"/>
                <a:ea typeface="Helvetica Neue"/>
                <a:cs typeface="Helvetica Neue"/>
              </a:defRPr>
            </a:pPr>
            <a:r>
              <a:t>Which strategic pattern deserves another cycle?</a:t>
            </a:r>
          </a:p>
        </p:txBody>
      </p:sp>
      <p:sp>
        <p:nvSpPr>
          <p:cNvPr id="11" name="text-196">
            <a:extLst>
              <a:ext uri="{FF2B5EF4-FFF2-40B4-BE49-F238E27FC236}">
                <a16:creationId xmlns:a16="http://schemas.microsoft.com/office/drawing/2014/main" id="{BA9865B4-2E17-478C-A3F1-A8C101AA0661}"/>
              </a:ext>
            </a:extLst>
          </p:cNvPr>
          <p:cNvSpPr>
            <a:spLocks noGrp="1"/>
          </p:cNvSpPr>
          <p:nvPr/>
        </p:nvSpPr>
        <p:spPr>
          <a:xfrm>
            <a:off x="723900" y="3905250"/>
            <a:ext cx="2895600" cy="266700"/>
          </a:xfrm>
          <a:prstGeom prst="rect">
            <a:avLst/>
          </a:prstGeom>
        </p:spPr>
        <p:txBody>
          <a:bodyPr wrap="square" lIns="0" tIns="0" rIns="0" bIns="0" anchor="t">
            <a:normAutofit/>
          </a:bodyPr>
          <a:lstStyle/>
          <a:p>
            <a:pPr algn="l">
              <a:buNone/>
              <a:defRPr sz="1350" b="1">
                <a:solidFill>
                  <a:srgbClr val="6DCBF4"/>
                </a:solidFill>
                <a:latin typeface="Helvetica Neue"/>
                <a:ea typeface="Helvetica Neue"/>
                <a:cs typeface="Helvetica Neue"/>
              </a:defRPr>
            </a:pPr>
            <a:r>
              <a:t>Peer group</a:t>
            </a:r>
          </a:p>
        </p:txBody>
      </p:sp>
      <p:sp>
        <p:nvSpPr>
          <p:cNvPr id="12" name="text-197">
            <a:extLst>
              <a:ext uri="{FF2B5EF4-FFF2-40B4-BE49-F238E27FC236}">
                <a16:creationId xmlns:a16="http://schemas.microsoft.com/office/drawing/2014/main" id="{89E57138-FC23-47AC-92CB-7FFC11FA86C3}"/>
              </a:ext>
            </a:extLst>
          </p:cNvPr>
          <p:cNvSpPr>
            <a:spLocks noGrp="1"/>
          </p:cNvSpPr>
          <p:nvPr/>
        </p:nvSpPr>
        <p:spPr>
          <a:xfrm>
            <a:off x="723900" y="4229100"/>
            <a:ext cx="2895600" cy="552450"/>
          </a:xfrm>
          <a:prstGeom prst="rect">
            <a:avLst/>
          </a:prstGeom>
        </p:spPr>
        <p:txBody>
          <a:bodyPr wrap="square" lIns="0" tIns="0" rIns="0" bIns="0" anchor="t">
            <a:normAutofit/>
          </a:bodyPr>
          <a:lstStyle/>
          <a:p>
            <a:pPr algn="l">
              <a:buNone/>
              <a:defRPr sz="1500" b="0">
                <a:solidFill>
                  <a:srgbClr val="FFFFFF"/>
                </a:solidFill>
                <a:latin typeface="Helvetica Neue"/>
                <a:ea typeface="Helvetica Neue"/>
                <a:cs typeface="Helvetica Neue"/>
              </a:defRPr>
            </a:pPr>
            <a:r>
              <a:t>Same campaign type; portfolio fallback</a:t>
            </a:r>
          </a:p>
        </p:txBody>
      </p:sp>
      <p:sp>
        <p:nvSpPr>
          <p:cNvPr id="13" name="text-198">
            <a:extLst>
              <a:ext uri="{FF2B5EF4-FFF2-40B4-BE49-F238E27FC236}">
                <a16:creationId xmlns:a16="http://schemas.microsoft.com/office/drawing/2014/main" id="{B9A8EB6F-67A0-44C9-9F7F-F8D972F1FD1D}"/>
              </a:ext>
            </a:extLst>
          </p:cNvPr>
          <p:cNvSpPr>
            <a:spLocks noGrp="1"/>
          </p:cNvSpPr>
          <p:nvPr/>
        </p:nvSpPr>
        <p:spPr>
          <a:xfrm>
            <a:off x="4648200" y="2076450"/>
            <a:ext cx="2895600" cy="419100"/>
          </a:xfrm>
          <a:prstGeom prst="rect">
            <a:avLst/>
          </a:prstGeom>
        </p:spPr>
        <p:txBody>
          <a:bodyPr wrap="square" lIns="0" tIns="0" rIns="0" bIns="0" anchor="t">
            <a:normAutofit/>
          </a:bodyPr>
          <a:lstStyle/>
          <a:p>
            <a:pPr algn="l">
              <a:buNone/>
              <a:defRPr sz="2175" b="1">
                <a:solidFill>
                  <a:srgbClr val="000000"/>
                </a:solidFill>
                <a:latin typeface="Helvetica Neue"/>
                <a:ea typeface="Helvetica Neue"/>
                <a:cs typeface="Helvetica Neue"/>
              </a:defRPr>
            </a:pPr>
            <a:r>
              <a:t>ADSET + AUDIENCE</a:t>
            </a:r>
          </a:p>
        </p:txBody>
      </p:sp>
      <p:sp>
        <p:nvSpPr>
          <p:cNvPr id="14" name="text-199">
            <a:extLst>
              <a:ext uri="{FF2B5EF4-FFF2-40B4-BE49-F238E27FC236}">
                <a16:creationId xmlns:a16="http://schemas.microsoft.com/office/drawing/2014/main" id="{1AB58D94-5AD7-450F-AF71-DB614459A829}"/>
              </a:ext>
            </a:extLst>
          </p:cNvPr>
          <p:cNvSpPr>
            <a:spLocks noGrp="1"/>
          </p:cNvSpPr>
          <p:nvPr/>
        </p:nvSpPr>
        <p:spPr>
          <a:xfrm>
            <a:off x="4648200" y="2724150"/>
            <a:ext cx="2895600" cy="266700"/>
          </a:xfrm>
          <a:prstGeom prst="rect">
            <a:avLst/>
          </a:prstGeom>
        </p:spPr>
        <p:txBody>
          <a:bodyPr wrap="square" lIns="0" tIns="0" rIns="0" bIns="0" anchor="t">
            <a:normAutofit/>
          </a:bodyPr>
          <a:lstStyle/>
          <a:p>
            <a:pPr algn="l">
              <a:buNone/>
              <a:defRPr sz="1350" b="1">
                <a:solidFill>
                  <a:srgbClr val="3D8DFF"/>
                </a:solidFill>
                <a:latin typeface="Helvetica Neue"/>
                <a:ea typeface="Helvetica Neue"/>
                <a:cs typeface="Helvetica Neue"/>
              </a:defRPr>
            </a:pPr>
            <a:r>
              <a:t>Question</a:t>
            </a:r>
          </a:p>
        </p:txBody>
      </p:sp>
      <p:sp>
        <p:nvSpPr>
          <p:cNvPr id="15" name="text-200">
            <a:extLst>
              <a:ext uri="{FF2B5EF4-FFF2-40B4-BE49-F238E27FC236}">
                <a16:creationId xmlns:a16="http://schemas.microsoft.com/office/drawing/2014/main" id="{CE6412E3-37B5-49A3-B892-5AA28D26861F}"/>
              </a:ext>
            </a:extLst>
          </p:cNvPr>
          <p:cNvSpPr>
            <a:spLocks noGrp="1"/>
          </p:cNvSpPr>
          <p:nvPr/>
        </p:nvSpPr>
        <p:spPr>
          <a:xfrm>
            <a:off x="4648200" y="3048000"/>
            <a:ext cx="2895600" cy="552450"/>
          </a:xfrm>
          <a:prstGeom prst="rect">
            <a:avLst/>
          </a:prstGeom>
        </p:spPr>
        <p:txBody>
          <a:bodyPr wrap="square" lIns="0" tIns="0" rIns="0" bIns="0" anchor="t">
            <a:normAutofit/>
          </a:bodyPr>
          <a:lstStyle/>
          <a:p>
            <a:pPr algn="l">
              <a:buNone/>
              <a:defRPr sz="1500" b="0">
                <a:solidFill>
                  <a:srgbClr val="000000"/>
                </a:solidFill>
                <a:latin typeface="Helvetica Neue"/>
                <a:ea typeface="Helvetica Neue"/>
                <a:cs typeface="Helvetica Neue"/>
              </a:defRPr>
            </a:pPr>
            <a:r>
              <a:t>Which targeting and delivery setup performed best?</a:t>
            </a:r>
          </a:p>
        </p:txBody>
      </p:sp>
      <p:sp>
        <p:nvSpPr>
          <p:cNvPr id="16" name="text-201">
            <a:extLst>
              <a:ext uri="{FF2B5EF4-FFF2-40B4-BE49-F238E27FC236}">
                <a16:creationId xmlns:a16="http://schemas.microsoft.com/office/drawing/2014/main" id="{C6CE220F-B92B-40D1-A2B5-5218F6D7CF8F}"/>
              </a:ext>
            </a:extLst>
          </p:cNvPr>
          <p:cNvSpPr>
            <a:spLocks noGrp="1"/>
          </p:cNvSpPr>
          <p:nvPr/>
        </p:nvSpPr>
        <p:spPr>
          <a:xfrm>
            <a:off x="4648200" y="3905250"/>
            <a:ext cx="2895600" cy="266700"/>
          </a:xfrm>
          <a:prstGeom prst="rect">
            <a:avLst/>
          </a:prstGeom>
        </p:spPr>
        <p:txBody>
          <a:bodyPr wrap="square" lIns="0" tIns="0" rIns="0" bIns="0" anchor="t">
            <a:normAutofit/>
          </a:bodyPr>
          <a:lstStyle/>
          <a:p>
            <a:pPr algn="l">
              <a:buNone/>
              <a:defRPr sz="1350" b="1">
                <a:solidFill>
                  <a:srgbClr val="3D8DFF"/>
                </a:solidFill>
                <a:latin typeface="Helvetica Neue"/>
                <a:ea typeface="Helvetica Neue"/>
                <a:cs typeface="Helvetica Neue"/>
              </a:defRPr>
            </a:pPr>
            <a:r>
              <a:t>Peer group</a:t>
            </a:r>
          </a:p>
        </p:txBody>
      </p:sp>
      <p:sp>
        <p:nvSpPr>
          <p:cNvPr id="17" name="text-202">
            <a:extLst>
              <a:ext uri="{FF2B5EF4-FFF2-40B4-BE49-F238E27FC236}">
                <a16:creationId xmlns:a16="http://schemas.microsoft.com/office/drawing/2014/main" id="{ED442481-92AB-409E-AF15-E2C29C09CA9E}"/>
              </a:ext>
            </a:extLst>
          </p:cNvPr>
          <p:cNvSpPr>
            <a:spLocks noGrp="1"/>
          </p:cNvSpPr>
          <p:nvPr/>
        </p:nvSpPr>
        <p:spPr>
          <a:xfrm>
            <a:off x="4648200" y="4229100"/>
            <a:ext cx="2895600" cy="552450"/>
          </a:xfrm>
          <a:prstGeom prst="rect">
            <a:avLst/>
          </a:prstGeom>
        </p:spPr>
        <p:txBody>
          <a:bodyPr wrap="square" lIns="0" tIns="0" rIns="0" bIns="0" anchor="t">
            <a:normAutofit/>
          </a:bodyPr>
          <a:lstStyle/>
          <a:p>
            <a:pPr algn="l">
              <a:buNone/>
              <a:defRPr sz="1500" b="0">
                <a:solidFill>
                  <a:srgbClr val="000000"/>
                </a:solidFill>
                <a:latin typeface="Helvetica Neue"/>
                <a:ea typeface="Helvetica Neue"/>
                <a:cs typeface="Helvetica Neue"/>
              </a:defRPr>
            </a:pPr>
            <a:r>
              <a:t>Sibling adsets inside the campaign</a:t>
            </a:r>
          </a:p>
        </p:txBody>
      </p:sp>
      <p:sp>
        <p:nvSpPr>
          <p:cNvPr id="18" name="text-203">
            <a:extLst>
              <a:ext uri="{FF2B5EF4-FFF2-40B4-BE49-F238E27FC236}">
                <a16:creationId xmlns:a16="http://schemas.microsoft.com/office/drawing/2014/main" id="{E0DC6D2A-6637-47DB-984B-CE1F71B7239D}"/>
              </a:ext>
            </a:extLst>
          </p:cNvPr>
          <p:cNvSpPr>
            <a:spLocks noGrp="1"/>
          </p:cNvSpPr>
          <p:nvPr/>
        </p:nvSpPr>
        <p:spPr>
          <a:xfrm>
            <a:off x="8572500" y="2076450"/>
            <a:ext cx="2895600" cy="419100"/>
          </a:xfrm>
          <a:prstGeom prst="rect">
            <a:avLst/>
          </a:prstGeom>
        </p:spPr>
        <p:txBody>
          <a:bodyPr wrap="square" lIns="0" tIns="0" rIns="0" bIns="0" anchor="t">
            <a:normAutofit/>
          </a:bodyPr>
          <a:lstStyle/>
          <a:p>
            <a:pPr algn="l">
              <a:buNone/>
              <a:defRPr sz="2175" b="1">
                <a:solidFill>
                  <a:srgbClr val="000000"/>
                </a:solidFill>
                <a:latin typeface="Helvetica Neue"/>
                <a:ea typeface="Helvetica Neue"/>
                <a:cs typeface="Helvetica Neue"/>
              </a:defRPr>
            </a:pPr>
            <a:r>
              <a:t>AD + CREATIVE</a:t>
            </a:r>
          </a:p>
        </p:txBody>
      </p:sp>
      <p:sp>
        <p:nvSpPr>
          <p:cNvPr id="19" name="text-204">
            <a:extLst>
              <a:ext uri="{FF2B5EF4-FFF2-40B4-BE49-F238E27FC236}">
                <a16:creationId xmlns:a16="http://schemas.microsoft.com/office/drawing/2014/main" id="{5FF187C7-B74A-477A-BC49-FE357184FAD1}"/>
              </a:ext>
            </a:extLst>
          </p:cNvPr>
          <p:cNvSpPr>
            <a:spLocks noGrp="1"/>
          </p:cNvSpPr>
          <p:nvPr/>
        </p:nvSpPr>
        <p:spPr>
          <a:xfrm>
            <a:off x="8572500" y="2724150"/>
            <a:ext cx="2895600" cy="266700"/>
          </a:xfrm>
          <a:prstGeom prst="rect">
            <a:avLst/>
          </a:prstGeom>
        </p:spPr>
        <p:txBody>
          <a:bodyPr wrap="square" lIns="0" tIns="0" rIns="0" bIns="0" anchor="t">
            <a:normAutofit/>
          </a:bodyPr>
          <a:lstStyle/>
          <a:p>
            <a:pPr algn="l">
              <a:buNone/>
              <a:defRPr sz="1350" b="1">
                <a:solidFill>
                  <a:srgbClr val="3D8DFF"/>
                </a:solidFill>
                <a:latin typeface="Helvetica Neue"/>
                <a:ea typeface="Helvetica Neue"/>
                <a:cs typeface="Helvetica Neue"/>
              </a:defRPr>
            </a:pPr>
            <a:r>
              <a:t>Question</a:t>
            </a:r>
          </a:p>
        </p:txBody>
      </p:sp>
      <p:sp>
        <p:nvSpPr>
          <p:cNvPr id="20" name="text-205">
            <a:extLst>
              <a:ext uri="{FF2B5EF4-FFF2-40B4-BE49-F238E27FC236}">
                <a16:creationId xmlns:a16="http://schemas.microsoft.com/office/drawing/2014/main" id="{D1B5890B-B2F6-4CE0-87D8-F97E3F250F3D}"/>
              </a:ext>
            </a:extLst>
          </p:cNvPr>
          <p:cNvSpPr>
            <a:spLocks noGrp="1"/>
          </p:cNvSpPr>
          <p:nvPr/>
        </p:nvSpPr>
        <p:spPr>
          <a:xfrm>
            <a:off x="8572500" y="3048000"/>
            <a:ext cx="2895600" cy="552450"/>
          </a:xfrm>
          <a:prstGeom prst="rect">
            <a:avLst/>
          </a:prstGeom>
        </p:spPr>
        <p:txBody>
          <a:bodyPr wrap="square" lIns="0" tIns="0" rIns="0" bIns="0" anchor="t">
            <a:normAutofit/>
          </a:bodyPr>
          <a:lstStyle/>
          <a:p>
            <a:pPr algn="l">
              <a:buNone/>
              <a:defRPr sz="1500" b="0">
                <a:solidFill>
                  <a:srgbClr val="000000"/>
                </a:solidFill>
                <a:latin typeface="Helvetica Neue"/>
                <a:ea typeface="Helvetica Neue"/>
                <a:cs typeface="Helvetica Neue"/>
              </a:defRPr>
            </a:pPr>
            <a:r>
              <a:t>Which delivered message deserves reuse or retest?</a:t>
            </a:r>
          </a:p>
        </p:txBody>
      </p:sp>
      <p:sp>
        <p:nvSpPr>
          <p:cNvPr id="21" name="text-206">
            <a:extLst>
              <a:ext uri="{FF2B5EF4-FFF2-40B4-BE49-F238E27FC236}">
                <a16:creationId xmlns:a16="http://schemas.microsoft.com/office/drawing/2014/main" id="{8B1E6F71-F374-4C87-9D5B-7FF15BB2F475}"/>
              </a:ext>
            </a:extLst>
          </p:cNvPr>
          <p:cNvSpPr>
            <a:spLocks noGrp="1"/>
          </p:cNvSpPr>
          <p:nvPr/>
        </p:nvSpPr>
        <p:spPr>
          <a:xfrm>
            <a:off x="8572500" y="3905250"/>
            <a:ext cx="2895600" cy="266700"/>
          </a:xfrm>
          <a:prstGeom prst="rect">
            <a:avLst/>
          </a:prstGeom>
        </p:spPr>
        <p:txBody>
          <a:bodyPr wrap="square" lIns="0" tIns="0" rIns="0" bIns="0" anchor="t">
            <a:normAutofit/>
          </a:bodyPr>
          <a:lstStyle/>
          <a:p>
            <a:pPr algn="l">
              <a:buNone/>
              <a:defRPr sz="1350" b="1">
                <a:solidFill>
                  <a:srgbClr val="3D8DFF"/>
                </a:solidFill>
                <a:latin typeface="Helvetica Neue"/>
                <a:ea typeface="Helvetica Neue"/>
                <a:cs typeface="Helvetica Neue"/>
              </a:defRPr>
            </a:pPr>
            <a:r>
              <a:t>Peer group</a:t>
            </a:r>
          </a:p>
        </p:txBody>
      </p:sp>
      <p:sp>
        <p:nvSpPr>
          <p:cNvPr id="22" name="text-207">
            <a:extLst>
              <a:ext uri="{FF2B5EF4-FFF2-40B4-BE49-F238E27FC236}">
                <a16:creationId xmlns:a16="http://schemas.microsoft.com/office/drawing/2014/main" id="{EA2DA9A8-DB72-4DD8-B5F0-2D0AC24BE1FC}"/>
              </a:ext>
            </a:extLst>
          </p:cNvPr>
          <p:cNvSpPr>
            <a:spLocks noGrp="1"/>
          </p:cNvSpPr>
          <p:nvPr/>
        </p:nvSpPr>
        <p:spPr>
          <a:xfrm>
            <a:off x="8572500" y="4229100"/>
            <a:ext cx="2895600" cy="552450"/>
          </a:xfrm>
          <a:prstGeom prst="rect">
            <a:avLst/>
          </a:prstGeom>
        </p:spPr>
        <p:txBody>
          <a:bodyPr wrap="square" lIns="0" tIns="0" rIns="0" bIns="0" anchor="t">
            <a:normAutofit/>
          </a:bodyPr>
          <a:lstStyle/>
          <a:p>
            <a:pPr algn="l">
              <a:buNone/>
              <a:defRPr sz="1500" b="0">
                <a:solidFill>
                  <a:srgbClr val="000000"/>
                </a:solidFill>
                <a:latin typeface="Helvetica Neue"/>
                <a:ea typeface="Helvetica Neue"/>
                <a:cs typeface="Helvetica Neue"/>
              </a:defRPr>
            </a:pPr>
            <a:r>
              <a:t>Sibling ads; creative rollup is exploratory</a:t>
            </a:r>
          </a:p>
        </p:txBody>
      </p:sp>
      <p:sp>
        <p:nvSpPr>
          <p:cNvPr id="23" name="text-208">
            <a:extLst>
              <a:ext uri="{FF2B5EF4-FFF2-40B4-BE49-F238E27FC236}">
                <a16:creationId xmlns:a16="http://schemas.microsoft.com/office/drawing/2014/main" id="{39394989-11CA-4767-AEFE-0311A593BED1}"/>
              </a:ext>
            </a:extLst>
          </p:cNvPr>
          <p:cNvSpPr>
            <a:spLocks noGrp="1"/>
          </p:cNvSpPr>
          <p:nvPr/>
        </p:nvSpPr>
        <p:spPr>
          <a:xfrm>
            <a:off x="1524000" y="5905500"/>
            <a:ext cx="9144000" cy="304800"/>
          </a:xfrm>
          <a:prstGeom prst="rect">
            <a:avLst/>
          </a:prstGeom>
        </p:spPr>
        <p:txBody>
          <a:bodyPr wrap="square" lIns="0" tIns="0" rIns="0" bIns="0" anchor="t">
            <a:normAutofit fontScale="93616"/>
          </a:bodyPr>
          <a:lstStyle/>
          <a:p>
            <a:pPr algn="ctr">
              <a:buNone/>
              <a:defRPr sz="1650" b="1">
                <a:solidFill>
                  <a:srgbClr val="3D8DFF"/>
                </a:solidFill>
                <a:latin typeface="Helvetica Neue"/>
                <a:ea typeface="Helvetica Neue"/>
                <a:cs typeface="Helvetica Neue"/>
              </a:defRPr>
            </a:pPr>
            <a:r>
              <a:t>All levels reuse totals, KPI definitions, benchmark provenance, evidence counts, and parent gates.</a:t>
            </a:r>
          </a:p>
        </p:txBody>
      </p:sp>
    </p:spTree>
    <p:extLst>
      <p:ext uri="{BB962C8B-B14F-4D97-AF65-F5344CB8AC3E}">
        <p14:creationId xmlns:p14="http://schemas.microsoft.com/office/powerpoint/2010/main" val="1126294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14-title">
            <a:extLst>
              <a:ext uri="{FF2B5EF4-FFF2-40B4-BE49-F238E27FC236}">
                <a16:creationId xmlns:a16="http://schemas.microsoft.com/office/drawing/2014/main" id="{2766AECC-161B-4845-9004-7DEDBD5FF927}"/>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150" b="1">
                <a:solidFill>
                  <a:srgbClr val="000000"/>
                </a:solidFill>
                <a:latin typeface="Helvetica Neue"/>
                <a:ea typeface="Helvetica Neue"/>
                <a:cs typeface="Helvetica Neue"/>
              </a:defRPr>
            </a:pPr>
            <a:r>
              <a:t>Audience and creative wins are not causal</a:t>
            </a:r>
          </a:p>
        </p:txBody>
      </p:sp>
      <p:cxnSp>
        <p:nvCxnSpPr>
          <p:cNvPr id="23" name="line-224"/>
          <p:cNvCxnSpPr/>
          <p:nvPr/>
        </p:nvCxnSpPr>
        <p:spPr>
          <a:xfrm>
            <a:off x="495300" y="1057275"/>
            <a:ext cx="11296650" cy="9525"/>
          </a:xfrm>
          <a:prstGeom prst="straightConnector1">
            <a:avLst/>
          </a:prstGeom>
          <a:ln w="9525">
            <a:solidFill>
              <a:srgbClr val="B8BCC4"/>
            </a:solidFill>
            <a:prstDash val="solid"/>
          </a:ln>
        </p:spPr>
      </p:cxnSp>
      <p:sp>
        <p:nvSpPr>
          <p:cNvPr id="3" name="slide-14-source">
            <a:extLst>
              <a:ext uri="{FF2B5EF4-FFF2-40B4-BE49-F238E27FC236}">
                <a16:creationId xmlns:a16="http://schemas.microsoft.com/office/drawing/2014/main" id="{3B993C41-D398-4EC3-89D0-B21C437286F6}"/>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Sample 2 Eid adset and ad aggregates</a:t>
            </a:r>
          </a:p>
        </p:txBody>
      </p:sp>
      <p:sp>
        <p:nvSpPr>
          <p:cNvPr id="4" name="slide-14-number">
            <a:extLst>
              <a:ext uri="{FF2B5EF4-FFF2-40B4-BE49-F238E27FC236}">
                <a16:creationId xmlns:a16="http://schemas.microsoft.com/office/drawing/2014/main" id="{86B79629-70D7-4832-8F64-66304F0C74EE}"/>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14</a:t>
            </a:r>
          </a:p>
        </p:txBody>
      </p:sp>
      <p:sp>
        <p:nvSpPr>
          <p:cNvPr id="5" name="text-213">
            <a:extLst>
              <a:ext uri="{FF2B5EF4-FFF2-40B4-BE49-F238E27FC236}">
                <a16:creationId xmlns:a16="http://schemas.microsoft.com/office/drawing/2014/main" id="{B3FD7C78-66F2-4608-929A-2A3521BF65AF}"/>
              </a:ext>
            </a:extLst>
          </p:cNvPr>
          <p:cNvSpPr>
            <a:spLocks noGrp="1"/>
          </p:cNvSpPr>
          <p:nvPr/>
        </p:nvSpPr>
        <p:spPr>
          <a:xfrm>
            <a:off x="390525" y="1257300"/>
            <a:ext cx="5905500" cy="342900"/>
          </a:xfrm>
          <a:prstGeom prst="rect">
            <a:avLst/>
          </a:prstGeom>
        </p:spPr>
        <p:txBody>
          <a:bodyPr wrap="square" lIns="0" tIns="0" rIns="0" bIns="0" anchor="t">
            <a:normAutofit/>
          </a:bodyPr>
          <a:lstStyle/>
          <a:p>
            <a:pPr algn="l">
              <a:buNone/>
              <a:defRPr sz="1725" b="1">
                <a:solidFill>
                  <a:srgbClr val="000000"/>
                </a:solidFill>
                <a:latin typeface="Helvetica Neue"/>
                <a:ea typeface="Helvetica Neue"/>
                <a:cs typeface="Helvetica Neue"/>
              </a:defRPr>
            </a:pPr>
            <a:r>
              <a:t>Eid Gifting Premium: observed adset ROAS</a:t>
            </a:r>
          </a:p>
        </p:txBody>
      </p:sp>
      <p:sp>
        <p:nvSpPr>
          <p:cNvPr id="6" name="shape-214">
            <a:extLst>
              <a:ext uri="{FF2B5EF4-FFF2-40B4-BE49-F238E27FC236}">
                <a16:creationId xmlns:a16="http://schemas.microsoft.com/office/drawing/2014/main" id="{D8B97729-B965-41C1-B631-A16041A4EF5E}"/>
              </a:ext>
            </a:extLst>
          </p:cNvPr>
          <p:cNvSpPr>
            <a:spLocks noGrp="1"/>
          </p:cNvSpPr>
          <p:nvPr/>
        </p:nvSpPr>
        <p:spPr>
          <a:xfrm>
            <a:off x="6591300" y="1466850"/>
            <a:ext cx="5210175" cy="1352550"/>
          </a:xfrm>
          <a:prstGeom prst="rect">
            <a:avLst/>
          </a:prstGeom>
          <a:solidFill>
            <a:srgbClr val="F7F7F7"/>
          </a:solidFill>
          <a:ln w="9525">
            <a:solidFill>
              <a:srgbClr val="B8BCC4"/>
            </a:solidFill>
            <a:prstDash val="solid"/>
          </a:ln>
        </p:spPr>
        <p:txBody>
          <a:bodyPr/>
          <a:lstStyle/>
          <a:p>
            <a:endParaRPr/>
          </a:p>
        </p:txBody>
      </p:sp>
      <p:sp>
        <p:nvSpPr>
          <p:cNvPr id="7" name="shape-215">
            <a:extLst>
              <a:ext uri="{FF2B5EF4-FFF2-40B4-BE49-F238E27FC236}">
                <a16:creationId xmlns:a16="http://schemas.microsoft.com/office/drawing/2014/main" id="{7C61293D-8BD3-4EC9-AEC7-1C9654D8735F}"/>
              </a:ext>
            </a:extLst>
          </p:cNvPr>
          <p:cNvSpPr>
            <a:spLocks noGrp="1"/>
          </p:cNvSpPr>
          <p:nvPr/>
        </p:nvSpPr>
        <p:spPr>
          <a:xfrm>
            <a:off x="6591300" y="3009900"/>
            <a:ext cx="5210175" cy="1352550"/>
          </a:xfrm>
          <a:prstGeom prst="rect">
            <a:avLst/>
          </a:prstGeom>
          <a:solidFill>
            <a:srgbClr val="F7F7F7"/>
          </a:solidFill>
          <a:ln w="9525">
            <a:solidFill>
              <a:srgbClr val="B8BCC4"/>
            </a:solidFill>
            <a:prstDash val="solid"/>
          </a:ln>
        </p:spPr>
        <p:txBody>
          <a:bodyPr/>
          <a:lstStyle/>
          <a:p>
            <a:endParaRPr/>
          </a:p>
        </p:txBody>
      </p:sp>
      <p:sp>
        <p:nvSpPr>
          <p:cNvPr id="8" name="shape-216">
            <a:extLst>
              <a:ext uri="{FF2B5EF4-FFF2-40B4-BE49-F238E27FC236}">
                <a16:creationId xmlns:a16="http://schemas.microsoft.com/office/drawing/2014/main" id="{2C405055-B224-45EE-A9E5-498D2C492FA3}"/>
              </a:ext>
            </a:extLst>
          </p:cNvPr>
          <p:cNvSpPr>
            <a:spLocks noGrp="1"/>
          </p:cNvSpPr>
          <p:nvPr/>
        </p:nvSpPr>
        <p:spPr>
          <a:xfrm>
            <a:off x="6591300" y="4552950"/>
            <a:ext cx="5210175" cy="1352550"/>
          </a:xfrm>
          <a:prstGeom prst="rect">
            <a:avLst/>
          </a:prstGeom>
          <a:solidFill>
            <a:srgbClr val="F4C27A"/>
          </a:solidFill>
          <a:ln w="9525">
            <a:solidFill>
              <a:srgbClr val="F4C27A"/>
            </a:solidFill>
            <a:prstDash val="solid"/>
          </a:ln>
        </p:spPr>
        <p:txBody>
          <a:bodyPr/>
          <a:lstStyle/>
          <a:p>
            <a:endParaRPr/>
          </a:p>
        </p:txBody>
      </p:sp>
      <p:sp>
        <p:nvSpPr>
          <p:cNvPr id="9" name="text-217">
            <a:extLst>
              <a:ext uri="{FF2B5EF4-FFF2-40B4-BE49-F238E27FC236}">
                <a16:creationId xmlns:a16="http://schemas.microsoft.com/office/drawing/2014/main" id="{6EC32EEE-6344-498B-A23A-DC55E2435F2C}"/>
              </a:ext>
            </a:extLst>
          </p:cNvPr>
          <p:cNvSpPr>
            <a:spLocks noGrp="1"/>
          </p:cNvSpPr>
          <p:nvPr/>
        </p:nvSpPr>
        <p:spPr>
          <a:xfrm>
            <a:off x="6896100" y="1695450"/>
            <a:ext cx="4591050" cy="285750"/>
          </a:xfrm>
          <a:prstGeom prst="rect">
            <a:avLst/>
          </a:prstGeom>
        </p:spPr>
        <p:txBody>
          <a:bodyPr wrap="square" lIns="0" tIns="0" rIns="0" bIns="0" anchor="t">
            <a:normAutofit/>
          </a:bodyPr>
          <a:lstStyle/>
          <a:p>
            <a:pPr algn="l">
              <a:buNone/>
              <a:defRPr sz="1425" b="1">
                <a:solidFill>
                  <a:srgbClr val="3D8DFF"/>
                </a:solidFill>
                <a:latin typeface="Helvetica Neue"/>
                <a:ea typeface="Helvetica Neue"/>
                <a:cs typeface="Helvetica Neue"/>
              </a:defRPr>
            </a:pPr>
            <a:r>
              <a:t>HOSTESS GIFT AD</a:t>
            </a:r>
          </a:p>
        </p:txBody>
      </p:sp>
      <p:sp>
        <p:nvSpPr>
          <p:cNvPr id="10" name="text-218">
            <a:extLst>
              <a:ext uri="{FF2B5EF4-FFF2-40B4-BE49-F238E27FC236}">
                <a16:creationId xmlns:a16="http://schemas.microsoft.com/office/drawing/2014/main" id="{088A01E8-7D00-4627-9DAE-DD194FA8D3D2}"/>
              </a:ext>
            </a:extLst>
          </p:cNvPr>
          <p:cNvSpPr>
            <a:spLocks noGrp="1"/>
          </p:cNvSpPr>
          <p:nvPr/>
        </p:nvSpPr>
        <p:spPr>
          <a:xfrm>
            <a:off x="6896100" y="2095500"/>
            <a:ext cx="4591050" cy="419100"/>
          </a:xfrm>
          <a:prstGeom prst="rect">
            <a:avLst/>
          </a:prstGeom>
        </p:spPr>
        <p:txBody>
          <a:bodyPr wrap="square" lIns="0" tIns="0" rIns="0" bIns="0" anchor="t">
            <a:normAutofit/>
          </a:bodyPr>
          <a:lstStyle/>
          <a:p>
            <a:pPr algn="l">
              <a:buNone/>
              <a:defRPr sz="1950" b="1">
                <a:solidFill>
                  <a:srgbClr val="000000"/>
                </a:solidFill>
                <a:latin typeface="Helvetica Neue"/>
                <a:ea typeface="Helvetica Neue"/>
                <a:cs typeface="Helvetica Neue"/>
              </a:defRPr>
            </a:pPr>
            <a:r>
              <a:t>ROAS 9.93 | 13 delivered orders</a:t>
            </a:r>
          </a:p>
        </p:txBody>
      </p:sp>
      <p:sp>
        <p:nvSpPr>
          <p:cNvPr id="11" name="text-219">
            <a:extLst>
              <a:ext uri="{FF2B5EF4-FFF2-40B4-BE49-F238E27FC236}">
                <a16:creationId xmlns:a16="http://schemas.microsoft.com/office/drawing/2014/main" id="{B37CB335-AC40-4344-AD15-172271687869}"/>
              </a:ext>
            </a:extLst>
          </p:cNvPr>
          <p:cNvSpPr>
            <a:spLocks noGrp="1"/>
          </p:cNvSpPr>
          <p:nvPr/>
        </p:nvSpPr>
        <p:spPr>
          <a:xfrm>
            <a:off x="6896100" y="3238500"/>
            <a:ext cx="4591050" cy="285750"/>
          </a:xfrm>
          <a:prstGeom prst="rect">
            <a:avLst/>
          </a:prstGeom>
        </p:spPr>
        <p:txBody>
          <a:bodyPr wrap="square" lIns="0" tIns="0" rIns="0" bIns="0" anchor="t">
            <a:normAutofit/>
          </a:bodyPr>
          <a:lstStyle/>
          <a:p>
            <a:pPr algn="l">
              <a:buNone/>
              <a:defRPr sz="1425" b="1">
                <a:solidFill>
                  <a:srgbClr val="3D8DFF"/>
                </a:solidFill>
                <a:latin typeface="Helvetica Neue"/>
                <a:ea typeface="Helvetica Neue"/>
                <a:cs typeface="Helvetica Neue"/>
              </a:defRPr>
            </a:pPr>
            <a:r>
              <a:t>BROAD ADSET</a:t>
            </a:r>
          </a:p>
        </p:txBody>
      </p:sp>
      <p:sp>
        <p:nvSpPr>
          <p:cNvPr id="12" name="text-220">
            <a:extLst>
              <a:ext uri="{FF2B5EF4-FFF2-40B4-BE49-F238E27FC236}">
                <a16:creationId xmlns:a16="http://schemas.microsoft.com/office/drawing/2014/main" id="{0D0060FB-EDD5-44B7-8370-5CAB1F5F6EE4}"/>
              </a:ext>
            </a:extLst>
          </p:cNvPr>
          <p:cNvSpPr>
            <a:spLocks noGrp="1"/>
          </p:cNvSpPr>
          <p:nvPr/>
        </p:nvSpPr>
        <p:spPr>
          <a:xfrm>
            <a:off x="6896100" y="3638550"/>
            <a:ext cx="4591050" cy="419100"/>
          </a:xfrm>
          <a:prstGeom prst="rect">
            <a:avLst/>
          </a:prstGeom>
        </p:spPr>
        <p:txBody>
          <a:bodyPr wrap="square" lIns="0" tIns="0" rIns="0" bIns="0" anchor="t">
            <a:normAutofit/>
          </a:bodyPr>
          <a:lstStyle/>
          <a:p>
            <a:pPr algn="l">
              <a:buNone/>
              <a:defRPr sz="1950" b="1">
                <a:solidFill>
                  <a:srgbClr val="000000"/>
                </a:solidFill>
                <a:latin typeface="Helvetica Neue"/>
                <a:ea typeface="Helvetica Neue"/>
                <a:cs typeface="Helvetica Neue"/>
              </a:defRPr>
            </a:pPr>
            <a:r>
              <a:t>ROAS 5.53 | 22 delivered orders</a:t>
            </a:r>
          </a:p>
        </p:txBody>
      </p:sp>
      <p:sp>
        <p:nvSpPr>
          <p:cNvPr id="13" name="text-221">
            <a:extLst>
              <a:ext uri="{FF2B5EF4-FFF2-40B4-BE49-F238E27FC236}">
                <a16:creationId xmlns:a16="http://schemas.microsoft.com/office/drawing/2014/main" id="{B101DD88-6708-49DF-9D5B-EB670B05E0F3}"/>
              </a:ext>
            </a:extLst>
          </p:cNvPr>
          <p:cNvSpPr>
            <a:spLocks noGrp="1"/>
          </p:cNvSpPr>
          <p:nvPr/>
        </p:nvSpPr>
        <p:spPr>
          <a:xfrm>
            <a:off x="6896100" y="4781550"/>
            <a:ext cx="4591050" cy="285750"/>
          </a:xfrm>
          <a:prstGeom prst="rect">
            <a:avLst/>
          </a:prstGeom>
        </p:spPr>
        <p:txBody>
          <a:bodyPr wrap="square" lIns="0" tIns="0" rIns="0" bIns="0" anchor="t">
            <a:normAutofit/>
          </a:bodyPr>
          <a:lstStyle/>
          <a:p>
            <a:pPr algn="l">
              <a:buNone/>
              <a:defRPr sz="1425" b="1">
                <a:solidFill>
                  <a:srgbClr val="000000"/>
                </a:solidFill>
                <a:latin typeface="Helvetica Neue"/>
                <a:ea typeface="Helvetica Neue"/>
                <a:cs typeface="Helvetica Neue"/>
              </a:defRPr>
            </a:pPr>
            <a:r>
              <a:t>CAUSALITY WARNING</a:t>
            </a:r>
          </a:p>
        </p:txBody>
      </p:sp>
      <p:sp>
        <p:nvSpPr>
          <p:cNvPr id="14" name="text-222">
            <a:extLst>
              <a:ext uri="{FF2B5EF4-FFF2-40B4-BE49-F238E27FC236}">
                <a16:creationId xmlns:a16="http://schemas.microsoft.com/office/drawing/2014/main" id="{200D9678-3D85-4B8D-BC1D-7407B7DB28B3}"/>
              </a:ext>
            </a:extLst>
          </p:cNvPr>
          <p:cNvSpPr>
            <a:spLocks noGrp="1"/>
          </p:cNvSpPr>
          <p:nvPr/>
        </p:nvSpPr>
        <p:spPr>
          <a:xfrm>
            <a:off x="6896100" y="5181600"/>
            <a:ext cx="4591050" cy="571500"/>
          </a:xfrm>
          <a:prstGeom prst="rect">
            <a:avLst/>
          </a:prstGeom>
        </p:spPr>
        <p:txBody>
          <a:bodyPr wrap="square" lIns="0" tIns="0" rIns="0" bIns="0" anchor="t">
            <a:normAutofit/>
          </a:bodyPr>
          <a:lstStyle/>
          <a:p>
            <a:pPr algn="l">
              <a:buNone/>
              <a:defRPr sz="1500" b="0">
                <a:solidFill>
                  <a:srgbClr val="000000"/>
                </a:solidFill>
                <a:latin typeface="Helvetica Neue"/>
                <a:ea typeface="Helvetica Neue"/>
                <a:cs typeface="Helvetica Neue"/>
              </a:defRPr>
            </a:pPr>
            <a:r>
              <a:t>Audience and creative changed together. The winning combination needs a controlled comparison.</a:t>
            </a:r>
          </a:p>
        </p:txBody>
      </p:sp>
      <p:graphicFrame>
        <p:nvGraphicFramePr>
          <p:cNvPr id="36" name="Chart"/>
          <p:cNvGraphicFramePr/>
          <p:nvPr/>
        </p:nvGraphicFramePr>
        <p:xfrm>
          <a:off x="390525" y="1809750"/>
          <a:ext cx="571500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59765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15-title">
            <a:extLst>
              <a:ext uri="{FF2B5EF4-FFF2-40B4-BE49-F238E27FC236}">
                <a16:creationId xmlns:a16="http://schemas.microsoft.com/office/drawing/2014/main" id="{A808D528-BFBB-4929-BCE2-A37C0FB6C872}"/>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Eid is strong, with a large caveat</a:t>
            </a:r>
          </a:p>
        </p:txBody>
      </p:sp>
      <p:cxnSp>
        <p:nvCxnSpPr>
          <p:cNvPr id="24" name="line-239"/>
          <p:cNvCxnSpPr/>
          <p:nvPr/>
        </p:nvCxnSpPr>
        <p:spPr>
          <a:xfrm>
            <a:off x="495300" y="1057275"/>
            <a:ext cx="11296650" cy="9525"/>
          </a:xfrm>
          <a:prstGeom prst="straightConnector1">
            <a:avLst/>
          </a:prstGeom>
          <a:ln w="9525">
            <a:solidFill>
              <a:srgbClr val="B8BCC4"/>
            </a:solidFill>
            <a:prstDash val="solid"/>
          </a:ln>
        </p:spPr>
      </p:cxnSp>
      <p:sp>
        <p:nvSpPr>
          <p:cNvPr id="3" name="slide-15-source">
            <a:extLst>
              <a:ext uri="{FF2B5EF4-FFF2-40B4-BE49-F238E27FC236}">
                <a16:creationId xmlns:a16="http://schemas.microsoft.com/office/drawing/2014/main" id="{159B50D4-6529-4209-A311-2E70CFD811A3}"/>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Sample 2; existing src baseline; v2 evidence policy</a:t>
            </a:r>
          </a:p>
        </p:txBody>
      </p:sp>
      <p:sp>
        <p:nvSpPr>
          <p:cNvPr id="4" name="slide-15-number">
            <a:extLst>
              <a:ext uri="{FF2B5EF4-FFF2-40B4-BE49-F238E27FC236}">
                <a16:creationId xmlns:a16="http://schemas.microsoft.com/office/drawing/2014/main" id="{3CCD4751-CA3E-4699-85B9-C4A85A469E75}"/>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15</a:t>
            </a:r>
          </a:p>
        </p:txBody>
      </p:sp>
      <p:sp>
        <p:nvSpPr>
          <p:cNvPr id="5" name="text-227">
            <a:extLst>
              <a:ext uri="{FF2B5EF4-FFF2-40B4-BE49-F238E27FC236}">
                <a16:creationId xmlns:a16="http://schemas.microsoft.com/office/drawing/2014/main" id="{712A2021-D264-47F1-BD0B-FD7565387162}"/>
              </a:ext>
            </a:extLst>
          </p:cNvPr>
          <p:cNvSpPr>
            <a:spLocks noGrp="1"/>
          </p:cNvSpPr>
          <p:nvPr/>
        </p:nvSpPr>
        <p:spPr>
          <a:xfrm>
            <a:off x="390525" y="1257300"/>
            <a:ext cx="5810250" cy="342900"/>
          </a:xfrm>
          <a:prstGeom prst="rect">
            <a:avLst/>
          </a:prstGeom>
        </p:spPr>
        <p:txBody>
          <a:bodyPr wrap="square" lIns="0" tIns="0" rIns="0" bIns="0" anchor="t">
            <a:normAutofit/>
          </a:bodyPr>
          <a:lstStyle/>
          <a:p>
            <a:pPr algn="l">
              <a:buNone/>
              <a:defRPr sz="1725" b="1">
                <a:solidFill>
                  <a:srgbClr val="000000"/>
                </a:solidFill>
                <a:latin typeface="Helvetica Neue"/>
                <a:ea typeface="Helvetica Neue"/>
                <a:cs typeface="Helvetica Neue"/>
              </a:defRPr>
            </a:pPr>
            <a:r>
              <a:t>Observed seasonal campaign ROAS</a:t>
            </a:r>
          </a:p>
        </p:txBody>
      </p:sp>
      <p:sp>
        <p:nvSpPr>
          <p:cNvPr id="6" name="shape-228">
            <a:extLst>
              <a:ext uri="{FF2B5EF4-FFF2-40B4-BE49-F238E27FC236}">
                <a16:creationId xmlns:a16="http://schemas.microsoft.com/office/drawing/2014/main" id="{99C7040D-2DB3-4C27-B0F8-BE05B6A28B8F}"/>
              </a:ext>
            </a:extLst>
          </p:cNvPr>
          <p:cNvSpPr>
            <a:spLocks noGrp="1"/>
          </p:cNvSpPr>
          <p:nvPr/>
        </p:nvSpPr>
        <p:spPr>
          <a:xfrm>
            <a:off x="6534150" y="1428750"/>
            <a:ext cx="5267325" cy="1143000"/>
          </a:xfrm>
          <a:prstGeom prst="rect">
            <a:avLst/>
          </a:prstGeom>
          <a:solidFill>
            <a:srgbClr val="F7F7F7"/>
          </a:solidFill>
          <a:ln w="9525">
            <a:solidFill>
              <a:srgbClr val="B8BCC4"/>
            </a:solidFill>
            <a:prstDash val="solid"/>
          </a:ln>
        </p:spPr>
        <p:txBody>
          <a:bodyPr/>
          <a:lstStyle/>
          <a:p>
            <a:endParaRPr/>
          </a:p>
        </p:txBody>
      </p:sp>
      <p:sp>
        <p:nvSpPr>
          <p:cNvPr id="7" name="shape-229">
            <a:extLst>
              <a:ext uri="{FF2B5EF4-FFF2-40B4-BE49-F238E27FC236}">
                <a16:creationId xmlns:a16="http://schemas.microsoft.com/office/drawing/2014/main" id="{A561A01F-4350-4466-B496-89A283BFB6BA}"/>
              </a:ext>
            </a:extLst>
          </p:cNvPr>
          <p:cNvSpPr>
            <a:spLocks noGrp="1"/>
          </p:cNvSpPr>
          <p:nvPr/>
        </p:nvSpPr>
        <p:spPr>
          <a:xfrm>
            <a:off x="6534150" y="2762250"/>
            <a:ext cx="5267325" cy="1143000"/>
          </a:xfrm>
          <a:prstGeom prst="rect">
            <a:avLst/>
          </a:prstGeom>
          <a:solidFill>
            <a:srgbClr val="F7F7F7"/>
          </a:solidFill>
          <a:ln w="9525">
            <a:solidFill>
              <a:srgbClr val="B8BCC4"/>
            </a:solidFill>
            <a:prstDash val="solid"/>
          </a:ln>
        </p:spPr>
        <p:txBody>
          <a:bodyPr/>
          <a:lstStyle/>
          <a:p>
            <a:endParaRPr/>
          </a:p>
        </p:txBody>
      </p:sp>
      <p:sp>
        <p:nvSpPr>
          <p:cNvPr id="8" name="shape-230">
            <a:extLst>
              <a:ext uri="{FF2B5EF4-FFF2-40B4-BE49-F238E27FC236}">
                <a16:creationId xmlns:a16="http://schemas.microsoft.com/office/drawing/2014/main" id="{F5ECC722-AEDC-4A4D-8037-903799CDD67A}"/>
              </a:ext>
            </a:extLst>
          </p:cNvPr>
          <p:cNvSpPr>
            <a:spLocks noGrp="1"/>
          </p:cNvSpPr>
          <p:nvPr/>
        </p:nvSpPr>
        <p:spPr>
          <a:xfrm>
            <a:off x="6534150" y="4095750"/>
            <a:ext cx="5267325" cy="1752600"/>
          </a:xfrm>
          <a:prstGeom prst="rect">
            <a:avLst/>
          </a:prstGeom>
          <a:solidFill>
            <a:srgbClr val="F4C27A"/>
          </a:solidFill>
          <a:ln w="9525">
            <a:solidFill>
              <a:srgbClr val="F4C27A"/>
            </a:solidFill>
            <a:prstDash val="solid"/>
          </a:ln>
        </p:spPr>
        <p:txBody>
          <a:bodyPr/>
          <a:lstStyle/>
          <a:p>
            <a:endParaRPr/>
          </a:p>
        </p:txBody>
      </p:sp>
      <p:sp>
        <p:nvSpPr>
          <p:cNvPr id="9" name="text-231">
            <a:extLst>
              <a:ext uri="{FF2B5EF4-FFF2-40B4-BE49-F238E27FC236}">
                <a16:creationId xmlns:a16="http://schemas.microsoft.com/office/drawing/2014/main" id="{1D161F91-6E23-4676-8CD1-BBA0E4FD4181}"/>
              </a:ext>
            </a:extLst>
          </p:cNvPr>
          <p:cNvSpPr>
            <a:spLocks noGrp="1"/>
          </p:cNvSpPr>
          <p:nvPr/>
        </p:nvSpPr>
        <p:spPr>
          <a:xfrm>
            <a:off x="6838950" y="1676400"/>
            <a:ext cx="4657725" cy="438150"/>
          </a:xfrm>
          <a:prstGeom prst="rect">
            <a:avLst/>
          </a:prstGeom>
        </p:spPr>
        <p:txBody>
          <a:bodyPr wrap="square" lIns="0" tIns="0" rIns="0" bIns="0" anchor="t">
            <a:normAutofit/>
          </a:bodyPr>
          <a:lstStyle/>
          <a:p>
            <a:pPr algn="l">
              <a:buNone/>
              <a:defRPr sz="2550" b="1">
                <a:solidFill>
                  <a:srgbClr val="000000"/>
                </a:solidFill>
                <a:latin typeface="Helvetica Neue"/>
                <a:ea typeface="Helvetica Neue"/>
                <a:cs typeface="Helvetica Neue"/>
              </a:defRPr>
            </a:pPr>
            <a:r>
              <a:t>EGP 64,990</a:t>
            </a:r>
          </a:p>
        </p:txBody>
      </p:sp>
      <p:sp>
        <p:nvSpPr>
          <p:cNvPr id="10" name="text-232">
            <a:extLst>
              <a:ext uri="{FF2B5EF4-FFF2-40B4-BE49-F238E27FC236}">
                <a16:creationId xmlns:a16="http://schemas.microsoft.com/office/drawing/2014/main" id="{F42F114D-142D-4227-B4BA-8D254E4C2D47}"/>
              </a:ext>
            </a:extLst>
          </p:cNvPr>
          <p:cNvSpPr>
            <a:spLocks noGrp="1"/>
          </p:cNvSpPr>
          <p:nvPr/>
        </p:nvSpPr>
        <p:spPr>
          <a:xfrm>
            <a:off x="6838950" y="2152650"/>
            <a:ext cx="4657725" cy="266700"/>
          </a:xfrm>
          <a:prstGeom prst="rect">
            <a:avLst/>
          </a:prstGeom>
        </p:spPr>
        <p:txBody>
          <a:bodyPr wrap="square" lIns="0" tIns="0" rIns="0" bIns="0" anchor="t">
            <a:normAutofit/>
          </a:bodyPr>
          <a:lstStyle/>
          <a:p>
            <a:pPr algn="l">
              <a:buNone/>
              <a:defRPr sz="1275" b="0">
                <a:solidFill>
                  <a:srgbClr val="5F6368"/>
                </a:solidFill>
                <a:latin typeface="Helvetica Neue"/>
                <a:ea typeface="Helvetica Neue"/>
                <a:cs typeface="Helvetica Neue"/>
              </a:defRPr>
            </a:pPr>
            <a:r>
              <a:t>Observed net revenue</a:t>
            </a:r>
          </a:p>
        </p:txBody>
      </p:sp>
      <p:sp>
        <p:nvSpPr>
          <p:cNvPr id="11" name="text-233">
            <a:extLst>
              <a:ext uri="{FF2B5EF4-FFF2-40B4-BE49-F238E27FC236}">
                <a16:creationId xmlns:a16="http://schemas.microsoft.com/office/drawing/2014/main" id="{F97AB5B0-95F1-4424-81D8-3D2F30F82214}"/>
              </a:ext>
            </a:extLst>
          </p:cNvPr>
          <p:cNvSpPr>
            <a:spLocks noGrp="1"/>
          </p:cNvSpPr>
          <p:nvPr/>
        </p:nvSpPr>
        <p:spPr>
          <a:xfrm>
            <a:off x="6838950" y="3009900"/>
            <a:ext cx="4657725" cy="438150"/>
          </a:xfrm>
          <a:prstGeom prst="rect">
            <a:avLst/>
          </a:prstGeom>
        </p:spPr>
        <p:txBody>
          <a:bodyPr wrap="square" lIns="0" tIns="0" rIns="0" bIns="0" anchor="t">
            <a:normAutofit/>
          </a:bodyPr>
          <a:lstStyle/>
          <a:p>
            <a:pPr algn="l">
              <a:buNone/>
              <a:defRPr sz="2175" b="1">
                <a:solidFill>
                  <a:srgbClr val="000000"/>
                </a:solidFill>
                <a:latin typeface="Helvetica Neue"/>
                <a:ea typeface="Helvetica Neue"/>
                <a:cs typeface="Helvetica Neue"/>
              </a:defRPr>
            </a:pPr>
            <a:r>
              <a:t>28 delivered | AOV EGP 2,235</a:t>
            </a:r>
          </a:p>
        </p:txBody>
      </p:sp>
      <p:sp>
        <p:nvSpPr>
          <p:cNvPr id="12" name="text-234">
            <a:extLst>
              <a:ext uri="{FF2B5EF4-FFF2-40B4-BE49-F238E27FC236}">
                <a16:creationId xmlns:a16="http://schemas.microsoft.com/office/drawing/2014/main" id="{C3444CE6-ADB4-453B-89D1-D26F2E56BD16}"/>
              </a:ext>
            </a:extLst>
          </p:cNvPr>
          <p:cNvSpPr>
            <a:spLocks noGrp="1"/>
          </p:cNvSpPr>
          <p:nvPr/>
        </p:nvSpPr>
        <p:spPr>
          <a:xfrm>
            <a:off x="6838950" y="3486150"/>
            <a:ext cx="4657725" cy="266700"/>
          </a:xfrm>
          <a:prstGeom prst="rect">
            <a:avLst/>
          </a:prstGeom>
        </p:spPr>
        <p:txBody>
          <a:bodyPr wrap="square" lIns="0" tIns="0" rIns="0" bIns="0" anchor="t">
            <a:normAutofit/>
          </a:bodyPr>
          <a:lstStyle/>
          <a:p>
            <a:pPr algn="l">
              <a:buNone/>
              <a:defRPr sz="1275" b="0">
                <a:solidFill>
                  <a:srgbClr val="5F6368"/>
                </a:solidFill>
                <a:latin typeface="Helvetica Neue"/>
                <a:ea typeface="Helvetica Neue"/>
                <a:cs typeface="Helvetica Neue"/>
              </a:defRPr>
            </a:pPr>
            <a:r>
              <a:t>47 supplied conversations</a:t>
            </a:r>
          </a:p>
        </p:txBody>
      </p:sp>
      <p:sp>
        <p:nvSpPr>
          <p:cNvPr id="13" name="text-235">
            <a:extLst>
              <a:ext uri="{FF2B5EF4-FFF2-40B4-BE49-F238E27FC236}">
                <a16:creationId xmlns:a16="http://schemas.microsoft.com/office/drawing/2014/main" id="{AD037BAC-CDA0-4CB9-B5CE-5F41BE24A44C}"/>
              </a:ext>
            </a:extLst>
          </p:cNvPr>
          <p:cNvSpPr>
            <a:spLocks noGrp="1"/>
          </p:cNvSpPr>
          <p:nvPr/>
        </p:nvSpPr>
        <p:spPr>
          <a:xfrm>
            <a:off x="6838950" y="4343400"/>
            <a:ext cx="4657725" cy="285750"/>
          </a:xfrm>
          <a:prstGeom prst="rect">
            <a:avLst/>
          </a:prstGeom>
        </p:spPr>
        <p:txBody>
          <a:bodyPr wrap="square" lIns="0" tIns="0" rIns="0" bIns="0" anchor="t">
            <a:normAutofit/>
          </a:bodyPr>
          <a:lstStyle/>
          <a:p>
            <a:pPr algn="l">
              <a:buNone/>
              <a:defRPr sz="1425" b="1">
                <a:solidFill>
                  <a:srgbClr val="000000"/>
                </a:solidFill>
                <a:latin typeface="Helvetica Neue"/>
                <a:ea typeface="Helvetica Neue"/>
                <a:cs typeface="Helvetica Neue"/>
              </a:defRPr>
            </a:pPr>
            <a:r>
              <a:t>Existing baseline result</a:t>
            </a:r>
          </a:p>
        </p:txBody>
      </p:sp>
      <p:sp>
        <p:nvSpPr>
          <p:cNvPr id="14" name="text-236">
            <a:extLst>
              <a:ext uri="{FF2B5EF4-FFF2-40B4-BE49-F238E27FC236}">
                <a16:creationId xmlns:a16="http://schemas.microsoft.com/office/drawing/2014/main" id="{5EC7EE46-36D8-4742-A8CB-F10C4A6CE8DD}"/>
              </a:ext>
            </a:extLst>
          </p:cNvPr>
          <p:cNvSpPr>
            <a:spLocks noGrp="1"/>
          </p:cNvSpPr>
          <p:nvPr/>
        </p:nvSpPr>
        <p:spPr>
          <a:xfrm>
            <a:off x="6838950" y="4724400"/>
            <a:ext cx="4657725" cy="400050"/>
          </a:xfrm>
          <a:prstGeom prst="rect">
            <a:avLst/>
          </a:prstGeom>
        </p:spPr>
        <p:txBody>
          <a:bodyPr wrap="square" lIns="0" tIns="0" rIns="0" bIns="0" anchor="t">
            <a:normAutofit/>
          </a:bodyPr>
          <a:lstStyle/>
          <a:p>
            <a:pPr algn="l">
              <a:buNone/>
              <a:defRPr sz="1875" b="1">
                <a:solidFill>
                  <a:srgbClr val="000000"/>
                </a:solidFill>
                <a:latin typeface="Helvetica Neue"/>
                <a:ea typeface="Helvetica Neue"/>
                <a:cs typeface="Helvetica Neue"/>
              </a:defRPr>
            </a:pPr>
            <a:r>
              <a:t>Scale; 39.52% of the seasonal envelope</a:t>
            </a:r>
          </a:p>
        </p:txBody>
      </p:sp>
      <p:sp>
        <p:nvSpPr>
          <p:cNvPr id="15" name="text-237">
            <a:extLst>
              <a:ext uri="{FF2B5EF4-FFF2-40B4-BE49-F238E27FC236}">
                <a16:creationId xmlns:a16="http://schemas.microsoft.com/office/drawing/2014/main" id="{2E1D61EC-FE30-49EF-9226-22ED242D5E78}"/>
              </a:ext>
            </a:extLst>
          </p:cNvPr>
          <p:cNvSpPr>
            <a:spLocks noGrp="1"/>
          </p:cNvSpPr>
          <p:nvPr/>
        </p:nvSpPr>
        <p:spPr>
          <a:xfrm>
            <a:off x="6838950" y="5238750"/>
            <a:ext cx="4657725" cy="457200"/>
          </a:xfrm>
          <a:prstGeom prst="rect">
            <a:avLst/>
          </a:prstGeom>
        </p:spPr>
        <p:txBody>
          <a:bodyPr wrap="square" lIns="0" tIns="0" rIns="0" bIns="0" anchor="t">
            <a:normAutofit/>
          </a:bodyPr>
          <a:lstStyle/>
          <a:p>
            <a:pPr algn="l">
              <a:buNone/>
              <a:defRPr sz="1425" b="0">
                <a:solidFill>
                  <a:srgbClr val="000000"/>
                </a:solidFill>
                <a:latin typeface="Helvetica Neue"/>
                <a:ea typeface="Helvetica Neue"/>
                <a:cs typeface="Helvetica Neue"/>
              </a:defRPr>
            </a:pPr>
            <a:r>
              <a:t>v2 interpretation: illustrative only while outcome evidence is globally limited.</a:t>
            </a:r>
          </a:p>
        </p:txBody>
      </p:sp>
      <p:graphicFrame>
        <p:nvGraphicFramePr>
          <p:cNvPr id="38" name="Chart"/>
          <p:cNvGraphicFramePr/>
          <p:nvPr/>
        </p:nvGraphicFramePr>
        <p:xfrm>
          <a:off x="390525" y="1809750"/>
          <a:ext cx="561975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44022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16-title">
            <a:extLst>
              <a:ext uri="{FF2B5EF4-FFF2-40B4-BE49-F238E27FC236}">
                <a16:creationId xmlns:a16="http://schemas.microsoft.com/office/drawing/2014/main" id="{BD437B7A-2A21-4924-86A3-A832700254F5}"/>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The POC preserves the previous strategy</a:t>
            </a:r>
          </a:p>
        </p:txBody>
      </p:sp>
      <p:cxnSp>
        <p:nvCxnSpPr>
          <p:cNvPr id="21" name="line-251"/>
          <p:cNvCxnSpPr/>
          <p:nvPr/>
        </p:nvCxnSpPr>
        <p:spPr>
          <a:xfrm>
            <a:off x="495300" y="1057275"/>
            <a:ext cx="11296650" cy="9525"/>
          </a:xfrm>
          <a:prstGeom prst="straightConnector1">
            <a:avLst/>
          </a:prstGeom>
          <a:ln w="9525">
            <a:solidFill>
              <a:srgbClr val="B8BCC4"/>
            </a:solidFill>
            <a:prstDash val="solid"/>
          </a:ln>
        </p:spPr>
      </p:cxnSp>
      <p:sp>
        <p:nvSpPr>
          <p:cNvPr id="3" name="slide-16-source">
            <a:extLst>
              <a:ext uri="{FF2B5EF4-FFF2-40B4-BE49-F238E27FC236}">
                <a16:creationId xmlns:a16="http://schemas.microsoft.com/office/drawing/2014/main" id="{28E707C2-0D90-43A2-B9C1-C4491A4E7EBB}"/>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t>Source: Sample 2 spend; src_2 budget_policy.poc.yaml</a:t>
            </a:r>
          </a:p>
        </p:txBody>
      </p:sp>
      <p:sp>
        <p:nvSpPr>
          <p:cNvPr id="4" name="slide-16-number">
            <a:extLst>
              <a:ext uri="{FF2B5EF4-FFF2-40B4-BE49-F238E27FC236}">
                <a16:creationId xmlns:a16="http://schemas.microsoft.com/office/drawing/2014/main" id="{19DB6D42-4A9B-405A-9976-8C785DF4BF39}"/>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t>16</a:t>
            </a:r>
          </a:p>
        </p:txBody>
      </p:sp>
      <p:sp>
        <p:nvSpPr>
          <p:cNvPr id="5" name="text-242">
            <a:extLst>
              <a:ext uri="{FF2B5EF4-FFF2-40B4-BE49-F238E27FC236}">
                <a16:creationId xmlns:a16="http://schemas.microsoft.com/office/drawing/2014/main" id="{77331177-CE8B-488C-899D-1677774BB8E9}"/>
              </a:ext>
            </a:extLst>
          </p:cNvPr>
          <p:cNvSpPr>
            <a:spLocks noGrp="1"/>
          </p:cNvSpPr>
          <p:nvPr/>
        </p:nvSpPr>
        <p:spPr>
          <a:xfrm>
            <a:off x="390525" y="1257300"/>
            <a:ext cx="6667500" cy="342900"/>
          </a:xfrm>
          <a:prstGeom prst="rect">
            <a:avLst/>
          </a:prstGeom>
        </p:spPr>
        <p:txBody>
          <a:bodyPr wrap="square" lIns="0" tIns="0" rIns="0" bIns="0" anchor="t">
            <a:normAutofit/>
          </a:bodyPr>
          <a:lstStyle/>
          <a:p>
            <a:pPr algn="l">
              <a:buNone/>
              <a:defRPr sz="1725" b="1">
                <a:solidFill>
                  <a:srgbClr val="000000"/>
                </a:solidFill>
                <a:latin typeface="Helvetica Neue"/>
                <a:ea typeface="Helvetica Neue"/>
                <a:cs typeface="Helvetica Neue"/>
              </a:defRPr>
            </a:pPr>
            <a:r>
              <a:t>Previous-cycle spend share by campaign type</a:t>
            </a:r>
          </a:p>
        </p:txBody>
      </p:sp>
      <p:sp>
        <p:nvSpPr>
          <p:cNvPr id="6" name="shape-243">
            <a:extLst>
              <a:ext uri="{FF2B5EF4-FFF2-40B4-BE49-F238E27FC236}">
                <a16:creationId xmlns:a16="http://schemas.microsoft.com/office/drawing/2014/main" id="{F51C6F5F-A51D-4B6C-BB18-1A51C6FD2A6B}"/>
              </a:ext>
            </a:extLst>
          </p:cNvPr>
          <p:cNvSpPr>
            <a:spLocks noGrp="1"/>
          </p:cNvSpPr>
          <p:nvPr/>
        </p:nvSpPr>
        <p:spPr>
          <a:xfrm>
            <a:off x="7258050" y="1562100"/>
            <a:ext cx="4543425" cy="1752600"/>
          </a:xfrm>
          <a:prstGeom prst="rect">
            <a:avLst/>
          </a:prstGeom>
          <a:solidFill>
            <a:srgbClr val="D0EDFA"/>
          </a:solidFill>
          <a:ln w="9525">
            <a:solidFill>
              <a:srgbClr val="B8BCC4"/>
            </a:solidFill>
            <a:prstDash val="solid"/>
          </a:ln>
        </p:spPr>
        <p:txBody>
          <a:bodyPr/>
          <a:lstStyle/>
          <a:p>
            <a:endParaRPr/>
          </a:p>
        </p:txBody>
      </p:sp>
      <p:sp>
        <p:nvSpPr>
          <p:cNvPr id="7" name="shape-244">
            <a:extLst>
              <a:ext uri="{FF2B5EF4-FFF2-40B4-BE49-F238E27FC236}">
                <a16:creationId xmlns:a16="http://schemas.microsoft.com/office/drawing/2014/main" id="{1076C871-369B-404F-BE46-FE276ECAE347}"/>
              </a:ext>
            </a:extLst>
          </p:cNvPr>
          <p:cNvSpPr>
            <a:spLocks noGrp="1"/>
          </p:cNvSpPr>
          <p:nvPr/>
        </p:nvSpPr>
        <p:spPr>
          <a:xfrm>
            <a:off x="7258050" y="3543300"/>
            <a:ext cx="4543425" cy="1752600"/>
          </a:xfrm>
          <a:prstGeom prst="rect">
            <a:avLst/>
          </a:prstGeom>
          <a:solidFill>
            <a:srgbClr val="F7F7F7"/>
          </a:solidFill>
          <a:ln w="9525">
            <a:solidFill>
              <a:srgbClr val="B8BCC4"/>
            </a:solidFill>
            <a:prstDash val="solid"/>
          </a:ln>
        </p:spPr>
        <p:txBody>
          <a:bodyPr/>
          <a:lstStyle/>
          <a:p>
            <a:endParaRPr/>
          </a:p>
        </p:txBody>
      </p:sp>
      <p:sp>
        <p:nvSpPr>
          <p:cNvPr id="8" name="text-245">
            <a:extLst>
              <a:ext uri="{FF2B5EF4-FFF2-40B4-BE49-F238E27FC236}">
                <a16:creationId xmlns:a16="http://schemas.microsoft.com/office/drawing/2014/main" id="{4F9F37EF-5E81-47A1-9F6E-0D33A501F273}"/>
              </a:ext>
            </a:extLst>
          </p:cNvPr>
          <p:cNvSpPr>
            <a:spLocks noGrp="1"/>
          </p:cNvSpPr>
          <p:nvPr/>
        </p:nvSpPr>
        <p:spPr>
          <a:xfrm>
            <a:off x="7600950" y="1943100"/>
            <a:ext cx="3857625" cy="571500"/>
          </a:xfrm>
          <a:prstGeom prst="rect">
            <a:avLst/>
          </a:prstGeom>
        </p:spPr>
        <p:txBody>
          <a:bodyPr wrap="square" lIns="0" tIns="0" rIns="0" bIns="0" anchor="t">
            <a:normAutofit/>
          </a:bodyPr>
          <a:lstStyle/>
          <a:p>
            <a:pPr algn="l">
              <a:buNone/>
              <a:defRPr sz="3450" b="1">
                <a:solidFill>
                  <a:srgbClr val="3D8DFF"/>
                </a:solidFill>
                <a:latin typeface="Helvetica Neue"/>
                <a:ea typeface="Helvetica Neue"/>
                <a:cs typeface="Helvetica Neue"/>
              </a:defRPr>
            </a:pPr>
            <a:r>
              <a:t>2.63 units</a:t>
            </a:r>
          </a:p>
        </p:txBody>
      </p:sp>
      <p:sp>
        <p:nvSpPr>
          <p:cNvPr id="9" name="text-246">
            <a:extLst>
              <a:ext uri="{FF2B5EF4-FFF2-40B4-BE49-F238E27FC236}">
                <a16:creationId xmlns:a16="http://schemas.microsoft.com/office/drawing/2014/main" id="{3E416542-EAE4-4185-AFA1-B5E09E591621}"/>
              </a:ext>
            </a:extLst>
          </p:cNvPr>
          <p:cNvSpPr>
            <a:spLocks noGrp="1"/>
          </p:cNvSpPr>
          <p:nvPr/>
        </p:nvSpPr>
        <p:spPr>
          <a:xfrm>
            <a:off x="7600950" y="2609850"/>
            <a:ext cx="3857625" cy="400050"/>
          </a:xfrm>
          <a:prstGeom prst="rect">
            <a:avLst/>
          </a:prstGeom>
        </p:spPr>
        <p:txBody>
          <a:bodyPr wrap="square" lIns="0" tIns="0" rIns="0" bIns="0" anchor="t">
            <a:normAutofit/>
          </a:bodyPr>
          <a:lstStyle/>
          <a:p>
            <a:pPr algn="l">
              <a:buNone/>
              <a:defRPr sz="1500" b="1">
                <a:solidFill>
                  <a:srgbClr val="000000"/>
                </a:solidFill>
                <a:latin typeface="Helvetica Neue"/>
                <a:ea typeface="Helvetica Neue"/>
                <a:cs typeface="Helvetica Neue"/>
              </a:defRPr>
            </a:pPr>
            <a:r>
              <a:t>Historical experimental envelope</a:t>
            </a:r>
          </a:p>
        </p:txBody>
      </p:sp>
      <p:sp>
        <p:nvSpPr>
          <p:cNvPr id="10" name="text-247">
            <a:extLst>
              <a:ext uri="{FF2B5EF4-FFF2-40B4-BE49-F238E27FC236}">
                <a16:creationId xmlns:a16="http://schemas.microsoft.com/office/drawing/2014/main" id="{3A65594C-2B13-4C76-868B-0C1530CC6B37}"/>
              </a:ext>
            </a:extLst>
          </p:cNvPr>
          <p:cNvSpPr>
            <a:spLocks noGrp="1"/>
          </p:cNvSpPr>
          <p:nvPr/>
        </p:nvSpPr>
        <p:spPr>
          <a:xfrm>
            <a:off x="7600950" y="3924300"/>
            <a:ext cx="3857625" cy="571500"/>
          </a:xfrm>
          <a:prstGeom prst="rect">
            <a:avLst/>
          </a:prstGeom>
        </p:spPr>
        <p:txBody>
          <a:bodyPr wrap="square" lIns="0" tIns="0" rIns="0" bIns="0" anchor="t">
            <a:normAutofit/>
          </a:bodyPr>
          <a:lstStyle/>
          <a:p>
            <a:pPr algn="l">
              <a:buNone/>
              <a:defRPr sz="3450" b="1">
                <a:solidFill>
                  <a:srgbClr val="000000"/>
                </a:solidFill>
                <a:latin typeface="Helvetica Neue"/>
                <a:ea typeface="Helvetica Neue"/>
                <a:cs typeface="Helvetica Neue"/>
              </a:defRPr>
            </a:pPr>
            <a:r>
              <a:t>100 units</a:t>
            </a:r>
          </a:p>
        </p:txBody>
      </p:sp>
      <p:sp>
        <p:nvSpPr>
          <p:cNvPr id="11" name="text-248">
            <a:extLst>
              <a:ext uri="{FF2B5EF4-FFF2-40B4-BE49-F238E27FC236}">
                <a16:creationId xmlns:a16="http://schemas.microsoft.com/office/drawing/2014/main" id="{3C921165-6737-4E87-A805-64E71092CAF6}"/>
              </a:ext>
            </a:extLst>
          </p:cNvPr>
          <p:cNvSpPr>
            <a:spLocks noGrp="1"/>
          </p:cNvSpPr>
          <p:nvPr/>
        </p:nvSpPr>
        <p:spPr>
          <a:xfrm>
            <a:off x="7600950" y="4591050"/>
            <a:ext cx="3857625" cy="533400"/>
          </a:xfrm>
          <a:prstGeom prst="rect">
            <a:avLst/>
          </a:prstGeom>
        </p:spPr>
        <p:txBody>
          <a:bodyPr wrap="square" lIns="0" tIns="0" rIns="0" bIns="0" anchor="t">
            <a:normAutofit/>
          </a:bodyPr>
          <a:lstStyle/>
          <a:p>
            <a:pPr algn="l">
              <a:buNone/>
              <a:defRPr sz="1500" b="1">
                <a:solidFill>
                  <a:srgbClr val="000000"/>
                </a:solidFill>
                <a:latin typeface="Helvetica Neue"/>
                <a:ea typeface="Helvetica Neue"/>
                <a:cs typeface="Helvetica Neue"/>
              </a:defRPr>
            </a:pPr>
            <a:r>
              <a:t>Normalized POC budget; no campaign concentration cap</a:t>
            </a:r>
          </a:p>
        </p:txBody>
      </p:sp>
      <p:sp>
        <p:nvSpPr>
          <p:cNvPr id="12" name="text-249">
            <a:extLst>
              <a:ext uri="{FF2B5EF4-FFF2-40B4-BE49-F238E27FC236}">
                <a16:creationId xmlns:a16="http://schemas.microsoft.com/office/drawing/2014/main" id="{24E1DC43-A28A-4D4D-BA86-1C9B22A4D8BD}"/>
              </a:ext>
            </a:extLst>
          </p:cNvPr>
          <p:cNvSpPr>
            <a:spLocks noGrp="1"/>
          </p:cNvSpPr>
          <p:nvPr/>
        </p:nvSpPr>
        <p:spPr>
          <a:xfrm>
            <a:off x="1600200" y="5867400"/>
            <a:ext cx="8991600" cy="323850"/>
          </a:xfrm>
          <a:prstGeom prst="rect">
            <a:avLst/>
          </a:prstGeom>
        </p:spPr>
        <p:txBody>
          <a:bodyPr wrap="square" lIns="0" tIns="0" rIns="0" bIns="0" anchor="t">
            <a:normAutofit/>
          </a:bodyPr>
          <a:lstStyle/>
          <a:p>
            <a:pPr algn="ctr">
              <a:buNone/>
              <a:defRPr sz="1725" b="1">
                <a:solidFill>
                  <a:srgbClr val="3D8DFF"/>
                </a:solidFill>
                <a:latin typeface="Helvetica Neue"/>
                <a:ea typeface="Helvetica Neue"/>
                <a:cs typeface="Helvetica Neue"/>
              </a:defRPr>
            </a:pPr>
            <a:r>
              <a:t>The type mix is preserved first; optimization happens inside each envelope.</a:t>
            </a:r>
          </a:p>
        </p:txBody>
      </p:sp>
      <p:graphicFrame>
        <p:nvGraphicFramePr>
          <p:cNvPr id="32" name="Chart"/>
          <p:cNvGraphicFramePr/>
          <p:nvPr/>
        </p:nvGraphicFramePr>
        <p:xfrm>
          <a:off x="390525" y="1714500"/>
          <a:ext cx="647700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4338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lide-10-title">
            <a:extLst>
              <a:ext uri="{FF2B5EF4-FFF2-40B4-BE49-F238E27FC236}">
                <a16:creationId xmlns:a16="http://schemas.microsoft.com/office/drawing/2014/main" id="{D747FCFD-D8CC-42A9-8E80-34BE20BE9313}"/>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Pydantic fixes shape, not judgement</a:t>
            </a:r>
          </a:p>
        </p:txBody>
      </p:sp>
      <p:cxnSp>
        <p:nvCxnSpPr>
          <p:cNvPr id="30" name="line-153"/>
          <p:cNvCxnSpPr/>
          <p:nvPr/>
        </p:nvCxnSpPr>
        <p:spPr>
          <a:xfrm>
            <a:off x="495300" y="1057275"/>
            <a:ext cx="11296650" cy="9525"/>
          </a:xfrm>
          <a:prstGeom prst="straightConnector1">
            <a:avLst/>
          </a:prstGeom>
          <a:ln w="9525">
            <a:solidFill>
              <a:srgbClr val="B8BCC4"/>
            </a:solidFill>
            <a:prstDash val="solid"/>
          </a:ln>
        </p:spPr>
      </p:cxnSp>
      <p:sp>
        <p:nvSpPr>
          <p:cNvPr id="3" name="slide-10-source">
            <a:extLst>
              <a:ext uri="{FF2B5EF4-FFF2-40B4-BE49-F238E27FC236}">
                <a16:creationId xmlns:a16="http://schemas.microsoft.com/office/drawing/2014/main" id="{4650EB3C-FB3E-4BFF-983B-08A669E0EF43}"/>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Source: src_2 contracts and OpenAI adapters</a:t>
            </a:r>
          </a:p>
        </p:txBody>
      </p:sp>
      <p:sp>
        <p:nvSpPr>
          <p:cNvPr id="4" name="slide-10-number">
            <a:extLst>
              <a:ext uri="{FF2B5EF4-FFF2-40B4-BE49-F238E27FC236}">
                <a16:creationId xmlns:a16="http://schemas.microsoft.com/office/drawing/2014/main" id="{D5C53451-C354-4B83-A6C1-9B9CA2045103}"/>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25</a:t>
            </a:r>
          </a:p>
        </p:txBody>
      </p:sp>
      <p:sp>
        <p:nvSpPr>
          <p:cNvPr id="5" name="shape-142">
            <a:extLst>
              <a:ext uri="{FF2B5EF4-FFF2-40B4-BE49-F238E27FC236}">
                <a16:creationId xmlns:a16="http://schemas.microsoft.com/office/drawing/2014/main" id="{48DED642-0943-4FEC-BDBD-FA260A9E2559}"/>
              </a:ext>
            </a:extLst>
          </p:cNvPr>
          <p:cNvSpPr>
            <a:spLocks noGrp="1"/>
          </p:cNvSpPr>
          <p:nvPr/>
        </p:nvSpPr>
        <p:spPr>
          <a:xfrm>
            <a:off x="390525" y="1619250"/>
            <a:ext cx="5095875" cy="3943350"/>
          </a:xfrm>
          <a:prstGeom prst="rect">
            <a:avLst/>
          </a:prstGeom>
          <a:solidFill>
            <a:srgbClr val="F7F7F7"/>
          </a:solidFill>
          <a:ln w="9525">
            <a:solidFill>
              <a:srgbClr val="B8BCC4"/>
            </a:solidFill>
            <a:prstDash val="solid"/>
          </a:ln>
        </p:spPr>
        <p:txBody>
          <a:bodyPr/>
          <a:lstStyle/>
          <a:p>
            <a:endParaRPr/>
          </a:p>
        </p:txBody>
      </p:sp>
      <p:sp>
        <p:nvSpPr>
          <p:cNvPr id="6" name="shape-143">
            <a:extLst>
              <a:ext uri="{FF2B5EF4-FFF2-40B4-BE49-F238E27FC236}">
                <a16:creationId xmlns:a16="http://schemas.microsoft.com/office/drawing/2014/main" id="{C0C4B8E4-0353-4E79-9F40-BDD7197B4B1B}"/>
              </a:ext>
            </a:extLst>
          </p:cNvPr>
          <p:cNvSpPr>
            <a:spLocks noGrp="1"/>
          </p:cNvSpPr>
          <p:nvPr/>
        </p:nvSpPr>
        <p:spPr>
          <a:xfrm>
            <a:off x="6705600" y="1619250"/>
            <a:ext cx="5095875" cy="3943350"/>
          </a:xfrm>
          <a:prstGeom prst="rect">
            <a:avLst/>
          </a:prstGeom>
          <a:solidFill>
            <a:srgbClr val="D0EDFA"/>
          </a:solidFill>
          <a:ln w="9525">
            <a:solidFill>
              <a:srgbClr val="B8BCC4"/>
            </a:solidFill>
            <a:prstDash val="solid"/>
          </a:ln>
        </p:spPr>
        <p:txBody>
          <a:bodyPr/>
          <a:lstStyle/>
          <a:p>
            <a:endParaRPr/>
          </a:p>
        </p:txBody>
      </p:sp>
      <p:cxnSp>
        <p:nvCxnSpPr>
          <p:cNvPr id="35" name="line-144"/>
          <p:cNvCxnSpPr/>
          <p:nvPr/>
        </p:nvCxnSpPr>
        <p:spPr>
          <a:xfrm>
            <a:off x="5657850" y="3590925"/>
            <a:ext cx="876300" cy="9525"/>
          </a:xfrm>
          <a:prstGeom prst="straightConnector1">
            <a:avLst/>
          </a:prstGeom>
          <a:ln w="38100">
            <a:solidFill>
              <a:srgbClr val="3D8DFF"/>
            </a:solidFill>
            <a:prstDash val="solid"/>
          </a:ln>
        </p:spPr>
      </p:cxnSp>
      <p:sp>
        <p:nvSpPr>
          <p:cNvPr id="8" name="text-145">
            <a:extLst>
              <a:ext uri="{FF2B5EF4-FFF2-40B4-BE49-F238E27FC236}">
                <a16:creationId xmlns:a16="http://schemas.microsoft.com/office/drawing/2014/main" id="{D2634B01-FC83-4E51-832B-D93D04A74C88}"/>
              </a:ext>
            </a:extLst>
          </p:cNvPr>
          <p:cNvSpPr>
            <a:spLocks noGrp="1"/>
          </p:cNvSpPr>
          <p:nvPr/>
        </p:nvSpPr>
        <p:spPr>
          <a:xfrm>
            <a:off x="723900" y="1924050"/>
            <a:ext cx="4429125" cy="342900"/>
          </a:xfrm>
          <a:prstGeom prst="rect">
            <a:avLst/>
          </a:prstGeom>
        </p:spPr>
        <p:txBody>
          <a:bodyPr wrap="square" lIns="0" tIns="0" rIns="0" bIns="0" anchor="t">
            <a:normAutofit/>
          </a:bodyPr>
          <a:lstStyle/>
          <a:p>
            <a:pPr algn="l">
              <a:buNone/>
              <a:defRPr sz="1650" b="1">
                <a:solidFill>
                  <a:srgbClr val="5F6368"/>
                </a:solidFill>
                <a:latin typeface="Helvetica Neue"/>
                <a:ea typeface="Helvetica Neue"/>
                <a:cs typeface="Helvetica Neue"/>
              </a:defRPr>
            </a:pPr>
            <a:r>
              <a:t>VALIDATED</a:t>
            </a:r>
          </a:p>
        </p:txBody>
      </p:sp>
      <p:sp>
        <p:nvSpPr>
          <p:cNvPr id="9" name="text-146">
            <a:extLst>
              <a:ext uri="{FF2B5EF4-FFF2-40B4-BE49-F238E27FC236}">
                <a16:creationId xmlns:a16="http://schemas.microsoft.com/office/drawing/2014/main" id="{38EB85EA-99B1-4E2B-9BB0-B09D3774475F}"/>
              </a:ext>
            </a:extLst>
          </p:cNvPr>
          <p:cNvSpPr>
            <a:spLocks noGrp="1"/>
          </p:cNvSpPr>
          <p:nvPr/>
        </p:nvSpPr>
        <p:spPr>
          <a:xfrm>
            <a:off x="723900" y="2476500"/>
            <a:ext cx="4429125" cy="514350"/>
          </a:xfrm>
          <a:prstGeom prst="rect">
            <a:avLst/>
          </a:prstGeom>
        </p:spPr>
        <p:txBody>
          <a:bodyPr wrap="square" lIns="0" tIns="0" rIns="0" bIns="0" anchor="t">
            <a:normAutofit/>
          </a:bodyPr>
          <a:lstStyle/>
          <a:p>
            <a:pPr algn="l">
              <a:buNone/>
              <a:defRPr sz="2550" b="1">
                <a:solidFill>
                  <a:srgbClr val="000000"/>
                </a:solidFill>
                <a:latin typeface="Helvetica Neue"/>
                <a:ea typeface="Helvetica Neue"/>
                <a:cs typeface="Helvetica Neue"/>
              </a:defRPr>
            </a:pPr>
            <a:r>
              <a:t>Response structure</a:t>
            </a:r>
          </a:p>
        </p:txBody>
      </p:sp>
      <p:sp>
        <p:nvSpPr>
          <p:cNvPr id="10" name="text-147">
            <a:extLst>
              <a:ext uri="{FF2B5EF4-FFF2-40B4-BE49-F238E27FC236}">
                <a16:creationId xmlns:a16="http://schemas.microsoft.com/office/drawing/2014/main" id="{0E35970C-3EF9-44EA-9680-A71673CB0BFF}"/>
              </a:ext>
            </a:extLst>
          </p:cNvPr>
          <p:cNvSpPr>
            <a:spLocks noGrp="1"/>
          </p:cNvSpPr>
          <p:nvPr/>
        </p:nvSpPr>
        <p:spPr>
          <a:xfrm>
            <a:off x="723900" y="3219450"/>
            <a:ext cx="4429125" cy="1981200"/>
          </a:xfrm>
          <a:prstGeom prst="rect">
            <a:avLst/>
          </a:prstGeom>
        </p:spPr>
        <p:txBody>
          <a:bodyPr wrap="square" lIns="0" tIns="0" rIns="0" bIns="0" anchor="t">
            <a:normAutofit/>
          </a:bodyPr>
          <a:lstStyle/>
          <a:p>
            <a:pPr algn="l">
              <a:buNone/>
              <a:defRPr sz="1575" b="0">
                <a:solidFill>
                  <a:srgbClr val="5F6368"/>
                </a:solidFill>
                <a:latin typeface="Helvetica Neue"/>
                <a:ea typeface="Helvetica Neue"/>
                <a:cs typeface="Helvetica Neue"/>
              </a:defRPr>
            </a:pPr>
            <a:r>
              <a:t>Required fields
Correct data types
Allowed enum values
Budget value ranges
Parsed object or error
No uncontrolled prose</a:t>
            </a:r>
          </a:p>
        </p:txBody>
      </p:sp>
      <p:sp>
        <p:nvSpPr>
          <p:cNvPr id="11" name="text-148">
            <a:extLst>
              <a:ext uri="{FF2B5EF4-FFF2-40B4-BE49-F238E27FC236}">
                <a16:creationId xmlns:a16="http://schemas.microsoft.com/office/drawing/2014/main" id="{5F80FD80-1DBC-48AE-9673-9227E763843F}"/>
              </a:ext>
            </a:extLst>
          </p:cNvPr>
          <p:cNvSpPr>
            <a:spLocks noGrp="1"/>
          </p:cNvSpPr>
          <p:nvPr/>
        </p:nvSpPr>
        <p:spPr>
          <a:xfrm>
            <a:off x="7038975" y="1924050"/>
            <a:ext cx="4429125" cy="342900"/>
          </a:xfrm>
          <a:prstGeom prst="rect">
            <a:avLst/>
          </a:prstGeom>
        </p:spPr>
        <p:txBody>
          <a:bodyPr wrap="square" lIns="0" tIns="0" rIns="0" bIns="0" anchor="t">
            <a:normAutofit/>
          </a:bodyPr>
          <a:lstStyle/>
          <a:p>
            <a:pPr algn="l">
              <a:buNone/>
              <a:defRPr sz="1650" b="1">
                <a:solidFill>
                  <a:srgbClr val="3D8DFF"/>
                </a:solidFill>
                <a:latin typeface="Helvetica Neue"/>
                <a:ea typeface="Helvetica Neue"/>
                <a:cs typeface="Helvetica Neue"/>
              </a:defRPr>
            </a:pPr>
            <a:r>
              <a:t>REVIEWED BY HUMANS</a:t>
            </a:r>
          </a:p>
        </p:txBody>
      </p:sp>
      <p:sp>
        <p:nvSpPr>
          <p:cNvPr id="12" name="text-149">
            <a:extLst>
              <a:ext uri="{FF2B5EF4-FFF2-40B4-BE49-F238E27FC236}">
                <a16:creationId xmlns:a16="http://schemas.microsoft.com/office/drawing/2014/main" id="{9F97F3E8-5A3E-4890-A700-0DA0F87B0C47}"/>
              </a:ext>
            </a:extLst>
          </p:cNvPr>
          <p:cNvSpPr>
            <a:spLocks noGrp="1"/>
          </p:cNvSpPr>
          <p:nvPr/>
        </p:nvSpPr>
        <p:spPr>
          <a:xfrm>
            <a:off x="7038975" y="2476500"/>
            <a:ext cx="4429125" cy="514350"/>
          </a:xfrm>
          <a:prstGeom prst="rect">
            <a:avLst/>
          </a:prstGeom>
        </p:spPr>
        <p:txBody>
          <a:bodyPr wrap="square" lIns="0" tIns="0" rIns="0" bIns="0" anchor="t">
            <a:normAutofit/>
          </a:bodyPr>
          <a:lstStyle/>
          <a:p>
            <a:pPr algn="l">
              <a:buNone/>
              <a:defRPr sz="2475" b="1">
                <a:solidFill>
                  <a:srgbClr val="000000"/>
                </a:solidFill>
                <a:latin typeface="Helvetica Neue"/>
                <a:ea typeface="Helvetica Neue"/>
                <a:cs typeface="Helvetica Neue"/>
              </a:defRPr>
            </a:pPr>
            <a:r>
              <a:t>Meaning and evidence</a:t>
            </a:r>
          </a:p>
        </p:txBody>
      </p:sp>
      <p:sp>
        <p:nvSpPr>
          <p:cNvPr id="13" name="text-150">
            <a:extLst>
              <a:ext uri="{FF2B5EF4-FFF2-40B4-BE49-F238E27FC236}">
                <a16:creationId xmlns:a16="http://schemas.microsoft.com/office/drawing/2014/main" id="{1427806A-7CEE-46C6-B789-47A8B73C5768}"/>
              </a:ext>
            </a:extLst>
          </p:cNvPr>
          <p:cNvSpPr>
            <a:spLocks noGrp="1"/>
          </p:cNvSpPr>
          <p:nvPr/>
        </p:nvSpPr>
        <p:spPr>
          <a:xfrm>
            <a:off x="7038975" y="3219450"/>
            <a:ext cx="4429125" cy="1981200"/>
          </a:xfrm>
          <a:prstGeom prst="rect">
            <a:avLst/>
          </a:prstGeom>
        </p:spPr>
        <p:txBody>
          <a:bodyPr wrap="square" lIns="0" tIns="0" rIns="0" bIns="0" anchor="t">
            <a:normAutofit/>
          </a:bodyPr>
          <a:lstStyle/>
          <a:p>
            <a:pPr algn="l">
              <a:buNone/>
              <a:defRPr sz="1575" b="0">
                <a:solidFill>
                  <a:srgbClr val="5F6368"/>
                </a:solidFill>
                <a:latin typeface="Helvetica Neue"/>
                <a:ea typeface="Helvetica Neue"/>
                <a:cs typeface="Helvetica Neue"/>
              </a:defRPr>
            </a:pPr>
            <a:r>
              <a:t>Does the evidence support the claim?
Does the campaign ID match?
Are cited metrics present?
Is the conclusion commercially sound?
Is the language specific enough?</a:t>
            </a:r>
          </a:p>
        </p:txBody>
      </p:sp>
      <p:sp>
        <p:nvSpPr>
          <p:cNvPr id="14" name="text-151">
            <a:extLst>
              <a:ext uri="{FF2B5EF4-FFF2-40B4-BE49-F238E27FC236}">
                <a16:creationId xmlns:a16="http://schemas.microsoft.com/office/drawing/2014/main" id="{AA9CF7EF-FC03-468B-80A4-0D0EC88374A6}"/>
              </a:ext>
            </a:extLst>
          </p:cNvPr>
          <p:cNvSpPr>
            <a:spLocks noGrp="1"/>
          </p:cNvSpPr>
          <p:nvPr/>
        </p:nvSpPr>
        <p:spPr>
          <a:xfrm>
            <a:off x="1428750" y="5867400"/>
            <a:ext cx="9334500" cy="342900"/>
          </a:xfrm>
          <a:prstGeom prst="rect">
            <a:avLst/>
          </a:prstGeom>
        </p:spPr>
        <p:txBody>
          <a:bodyPr wrap="square" lIns="0" tIns="0" rIns="0" bIns="0" anchor="t">
            <a:normAutofit/>
          </a:bodyPr>
          <a:lstStyle/>
          <a:p>
            <a:pPr algn="ctr">
              <a:buNone/>
              <a:defRPr sz="1725" b="1">
                <a:solidFill>
                  <a:srgbClr val="3D8DFF"/>
                </a:solidFill>
                <a:latin typeface="Helvetica Neue"/>
                <a:ea typeface="Helvetica Neue"/>
                <a:cs typeface="Helvetica Neue"/>
              </a:defRPr>
            </a:pPr>
            <a:r>
              <a:t>Structured output makes failures visible; it does not make every conclusion true.</a:t>
            </a:r>
          </a:p>
        </p:txBody>
      </p:sp>
    </p:spTree>
    <p:extLst>
      <p:ext uri="{BB962C8B-B14F-4D97-AF65-F5344CB8AC3E}">
        <p14:creationId xmlns:p14="http://schemas.microsoft.com/office/powerpoint/2010/main" val="1252145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15-title">
            <a:extLst>
              <a:ext uri="{FF2B5EF4-FFF2-40B4-BE49-F238E27FC236}">
                <a16:creationId xmlns:a16="http://schemas.microsoft.com/office/drawing/2014/main" id="{A808D528-BFBB-4929-BCE2-A37C0FB6C872}"/>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Eid shows how facts become an LLM insight</a:t>
            </a:r>
          </a:p>
        </p:txBody>
      </p:sp>
      <p:cxnSp>
        <p:nvCxnSpPr>
          <p:cNvPr id="24" name="line-239"/>
          <p:cNvCxnSpPr/>
          <p:nvPr/>
        </p:nvCxnSpPr>
        <p:spPr>
          <a:xfrm>
            <a:off x="495300" y="1057275"/>
            <a:ext cx="11296650" cy="9525"/>
          </a:xfrm>
          <a:prstGeom prst="straightConnector1">
            <a:avLst/>
          </a:prstGeom>
          <a:ln w="9525">
            <a:solidFill>
              <a:srgbClr val="B8BCC4"/>
            </a:solidFill>
            <a:prstDash val="solid"/>
          </a:ln>
        </p:spPr>
      </p:cxnSp>
      <p:sp>
        <p:nvSpPr>
          <p:cNvPr id="3" name="slide-15-source">
            <a:extLst>
              <a:ext uri="{FF2B5EF4-FFF2-40B4-BE49-F238E27FC236}">
                <a16:creationId xmlns:a16="http://schemas.microsoft.com/office/drawing/2014/main" id="{159B50D4-6529-4209-A311-2E70CFD811A3}"/>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Source: local Sample 2 completed-cycle report</a:t>
            </a:r>
          </a:p>
        </p:txBody>
      </p:sp>
      <p:sp>
        <p:nvSpPr>
          <p:cNvPr id="4" name="slide-15-number">
            <a:extLst>
              <a:ext uri="{FF2B5EF4-FFF2-40B4-BE49-F238E27FC236}">
                <a16:creationId xmlns:a16="http://schemas.microsoft.com/office/drawing/2014/main" id="{3CCD4751-CA3E-4699-85B9-C4A85A469E75}"/>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26</a:t>
            </a:r>
          </a:p>
        </p:txBody>
      </p:sp>
      <p:sp>
        <p:nvSpPr>
          <p:cNvPr id="5" name="text-227">
            <a:extLst>
              <a:ext uri="{FF2B5EF4-FFF2-40B4-BE49-F238E27FC236}">
                <a16:creationId xmlns:a16="http://schemas.microsoft.com/office/drawing/2014/main" id="{712A2021-D264-47F1-BD0B-FD7565387162}"/>
              </a:ext>
            </a:extLst>
          </p:cNvPr>
          <p:cNvSpPr>
            <a:spLocks noGrp="1"/>
          </p:cNvSpPr>
          <p:nvPr/>
        </p:nvSpPr>
        <p:spPr>
          <a:xfrm>
            <a:off x="390525" y="1257300"/>
            <a:ext cx="5810250" cy="342900"/>
          </a:xfrm>
          <a:prstGeom prst="rect">
            <a:avLst/>
          </a:prstGeom>
        </p:spPr>
        <p:txBody>
          <a:bodyPr wrap="square" lIns="0" tIns="0" rIns="0" bIns="0" anchor="t">
            <a:normAutofit/>
          </a:bodyPr>
          <a:lstStyle/>
          <a:p>
            <a:pPr algn="l">
              <a:buNone/>
              <a:defRPr sz="1725" b="1">
                <a:solidFill>
                  <a:srgbClr val="000000"/>
                </a:solidFill>
                <a:latin typeface="Helvetica Neue"/>
                <a:ea typeface="Helvetica Neue"/>
                <a:cs typeface="Helvetica Neue"/>
              </a:defRPr>
            </a:pPr>
            <a:r>
              <a:t>Observed seasonal ROAS entering the prompt</a:t>
            </a:r>
          </a:p>
        </p:txBody>
      </p:sp>
      <p:sp>
        <p:nvSpPr>
          <p:cNvPr id="6" name="shape-228">
            <a:extLst>
              <a:ext uri="{FF2B5EF4-FFF2-40B4-BE49-F238E27FC236}">
                <a16:creationId xmlns:a16="http://schemas.microsoft.com/office/drawing/2014/main" id="{99C7040D-2DB3-4C27-B0F8-BE05B6A28B8F}"/>
              </a:ext>
            </a:extLst>
          </p:cNvPr>
          <p:cNvSpPr>
            <a:spLocks noGrp="1"/>
          </p:cNvSpPr>
          <p:nvPr/>
        </p:nvSpPr>
        <p:spPr>
          <a:xfrm>
            <a:off x="6534150" y="1428750"/>
            <a:ext cx="5267325" cy="1143000"/>
          </a:xfrm>
          <a:prstGeom prst="rect">
            <a:avLst/>
          </a:prstGeom>
          <a:solidFill>
            <a:srgbClr val="F7F7F7"/>
          </a:solidFill>
          <a:ln w="9525">
            <a:solidFill>
              <a:srgbClr val="B8BCC4"/>
            </a:solidFill>
            <a:prstDash val="solid"/>
          </a:ln>
        </p:spPr>
        <p:txBody>
          <a:bodyPr/>
          <a:lstStyle/>
          <a:p>
            <a:endParaRPr/>
          </a:p>
        </p:txBody>
      </p:sp>
      <p:sp>
        <p:nvSpPr>
          <p:cNvPr id="7" name="shape-229">
            <a:extLst>
              <a:ext uri="{FF2B5EF4-FFF2-40B4-BE49-F238E27FC236}">
                <a16:creationId xmlns:a16="http://schemas.microsoft.com/office/drawing/2014/main" id="{A561A01F-4350-4466-B496-89A283BFB6BA}"/>
              </a:ext>
            </a:extLst>
          </p:cNvPr>
          <p:cNvSpPr>
            <a:spLocks noGrp="1"/>
          </p:cNvSpPr>
          <p:nvPr/>
        </p:nvSpPr>
        <p:spPr>
          <a:xfrm>
            <a:off x="6534150" y="2762250"/>
            <a:ext cx="5267325" cy="1143000"/>
          </a:xfrm>
          <a:prstGeom prst="rect">
            <a:avLst/>
          </a:prstGeom>
          <a:solidFill>
            <a:srgbClr val="F7F7F7"/>
          </a:solidFill>
          <a:ln w="9525">
            <a:solidFill>
              <a:srgbClr val="B8BCC4"/>
            </a:solidFill>
            <a:prstDash val="solid"/>
          </a:ln>
        </p:spPr>
        <p:txBody>
          <a:bodyPr/>
          <a:lstStyle/>
          <a:p>
            <a:endParaRPr/>
          </a:p>
        </p:txBody>
      </p:sp>
      <p:sp>
        <p:nvSpPr>
          <p:cNvPr id="8" name="shape-230">
            <a:extLst>
              <a:ext uri="{FF2B5EF4-FFF2-40B4-BE49-F238E27FC236}">
                <a16:creationId xmlns:a16="http://schemas.microsoft.com/office/drawing/2014/main" id="{F5ECC722-AEDC-4A4D-8037-903799CDD67A}"/>
              </a:ext>
            </a:extLst>
          </p:cNvPr>
          <p:cNvSpPr>
            <a:spLocks noGrp="1"/>
          </p:cNvSpPr>
          <p:nvPr/>
        </p:nvSpPr>
        <p:spPr>
          <a:xfrm>
            <a:off x="6534150" y="4095750"/>
            <a:ext cx="5267325" cy="1752600"/>
          </a:xfrm>
          <a:prstGeom prst="rect">
            <a:avLst/>
          </a:prstGeom>
          <a:solidFill>
            <a:srgbClr val="F4C27A"/>
          </a:solidFill>
          <a:ln w="9525">
            <a:solidFill>
              <a:srgbClr val="F4C27A"/>
            </a:solidFill>
            <a:prstDash val="solid"/>
          </a:ln>
        </p:spPr>
        <p:txBody>
          <a:bodyPr/>
          <a:lstStyle/>
          <a:p>
            <a:endParaRPr/>
          </a:p>
        </p:txBody>
      </p:sp>
      <p:sp>
        <p:nvSpPr>
          <p:cNvPr id="9" name="text-231">
            <a:extLst>
              <a:ext uri="{FF2B5EF4-FFF2-40B4-BE49-F238E27FC236}">
                <a16:creationId xmlns:a16="http://schemas.microsoft.com/office/drawing/2014/main" id="{1D161F91-6E23-4676-8CD1-BBA0E4FD4181}"/>
              </a:ext>
            </a:extLst>
          </p:cNvPr>
          <p:cNvSpPr>
            <a:spLocks noGrp="1"/>
          </p:cNvSpPr>
          <p:nvPr/>
        </p:nvSpPr>
        <p:spPr>
          <a:xfrm>
            <a:off x="6838950" y="1676400"/>
            <a:ext cx="4657725" cy="438150"/>
          </a:xfrm>
          <a:prstGeom prst="rect">
            <a:avLst/>
          </a:prstGeom>
        </p:spPr>
        <p:txBody>
          <a:bodyPr wrap="square" lIns="0" tIns="0" rIns="0" bIns="0" anchor="t">
            <a:normAutofit/>
          </a:bodyPr>
          <a:lstStyle/>
          <a:p>
            <a:pPr algn="l">
              <a:buNone/>
              <a:defRPr sz="2550" b="1">
                <a:solidFill>
                  <a:srgbClr val="000000"/>
                </a:solidFill>
                <a:latin typeface="Helvetica Neue"/>
                <a:ea typeface="Helvetica Neue"/>
                <a:cs typeface="Helvetica Neue"/>
              </a:defRPr>
            </a:pPr>
            <a:r>
              <a:t>EVIDENCE INPUT</a:t>
            </a:r>
          </a:p>
        </p:txBody>
      </p:sp>
      <p:sp>
        <p:nvSpPr>
          <p:cNvPr id="10" name="text-232">
            <a:extLst>
              <a:ext uri="{FF2B5EF4-FFF2-40B4-BE49-F238E27FC236}">
                <a16:creationId xmlns:a16="http://schemas.microsoft.com/office/drawing/2014/main" id="{F42F114D-142D-4227-B4BA-8D254E4C2D47}"/>
              </a:ext>
            </a:extLst>
          </p:cNvPr>
          <p:cNvSpPr>
            <a:spLocks noGrp="1"/>
          </p:cNvSpPr>
          <p:nvPr/>
        </p:nvSpPr>
        <p:spPr>
          <a:xfrm>
            <a:off x="6838950" y="2152650"/>
            <a:ext cx="4657725" cy="266700"/>
          </a:xfrm>
          <a:prstGeom prst="rect">
            <a:avLst/>
          </a:prstGeom>
        </p:spPr>
        <p:txBody>
          <a:bodyPr wrap="square" lIns="0" tIns="0" rIns="0" bIns="0" anchor="t">
            <a:normAutofit/>
          </a:bodyPr>
          <a:lstStyle/>
          <a:p>
            <a:pPr algn="l">
              <a:buNone/>
              <a:defRPr sz="1275" b="0">
                <a:solidFill>
                  <a:srgbClr val="5F6368"/>
                </a:solidFill>
                <a:latin typeface="Helvetica Neue"/>
                <a:ea typeface="Helvetica Neue"/>
                <a:cs typeface="Helvetica Neue"/>
              </a:defRPr>
            </a:pPr>
            <a:r>
              <a:t>ROAS 4.34x | EGP 64,990 net revenue</a:t>
            </a:r>
          </a:p>
        </p:txBody>
      </p:sp>
      <p:sp>
        <p:nvSpPr>
          <p:cNvPr id="11" name="text-233">
            <a:extLst>
              <a:ext uri="{FF2B5EF4-FFF2-40B4-BE49-F238E27FC236}">
                <a16:creationId xmlns:a16="http://schemas.microsoft.com/office/drawing/2014/main" id="{F97AB5B0-95F1-4424-81D8-3D2F30F82214}"/>
              </a:ext>
            </a:extLst>
          </p:cNvPr>
          <p:cNvSpPr>
            <a:spLocks noGrp="1"/>
          </p:cNvSpPr>
          <p:nvPr/>
        </p:nvSpPr>
        <p:spPr>
          <a:xfrm>
            <a:off x="6838950" y="3009900"/>
            <a:ext cx="4657725" cy="438150"/>
          </a:xfrm>
          <a:prstGeom prst="rect">
            <a:avLst/>
          </a:prstGeom>
        </p:spPr>
        <p:txBody>
          <a:bodyPr wrap="square" lIns="0" tIns="0" rIns="0" bIns="0" anchor="t">
            <a:normAutofit/>
          </a:bodyPr>
          <a:lstStyle/>
          <a:p>
            <a:pPr algn="l">
              <a:buNone/>
              <a:defRPr sz="2175" b="1">
                <a:solidFill>
                  <a:srgbClr val="000000"/>
                </a:solidFill>
                <a:latin typeface="Helvetica Neue"/>
                <a:ea typeface="Helvetica Neue"/>
                <a:cs typeface="Helvetica Neue"/>
              </a:defRPr>
            </a:pPr>
            <a:r>
              <a:t>CAMPAIGNINSIGHT</a:t>
            </a:r>
          </a:p>
        </p:txBody>
      </p:sp>
      <p:sp>
        <p:nvSpPr>
          <p:cNvPr id="12" name="text-234">
            <a:extLst>
              <a:ext uri="{FF2B5EF4-FFF2-40B4-BE49-F238E27FC236}">
                <a16:creationId xmlns:a16="http://schemas.microsoft.com/office/drawing/2014/main" id="{C3444CE6-ADB4-453B-89D1-D26F2E56BD16}"/>
              </a:ext>
            </a:extLst>
          </p:cNvPr>
          <p:cNvSpPr>
            <a:spLocks noGrp="1"/>
          </p:cNvSpPr>
          <p:nvPr/>
        </p:nvSpPr>
        <p:spPr>
          <a:xfrm>
            <a:off x="6838950" y="3486150"/>
            <a:ext cx="4657725" cy="266700"/>
          </a:xfrm>
          <a:prstGeom prst="rect">
            <a:avLst/>
          </a:prstGeom>
        </p:spPr>
        <p:txBody>
          <a:bodyPr wrap="square" lIns="0" tIns="0" rIns="0" bIns="0" anchor="t">
            <a:normAutofit/>
          </a:bodyPr>
          <a:lstStyle/>
          <a:p>
            <a:pPr algn="l">
              <a:buNone/>
              <a:defRPr sz="1275" b="0">
                <a:solidFill>
                  <a:srgbClr val="5F6368"/>
                </a:solidFill>
                <a:latin typeface="Helvetica Neue"/>
                <a:ea typeface="Helvetica Neue"/>
                <a:cs typeface="Helvetica Neue"/>
              </a:defRPr>
            </a:pPr>
            <a:r>
              <a:t>Strong outcome; global evidence remains limited</a:t>
            </a:r>
          </a:p>
        </p:txBody>
      </p:sp>
      <p:sp>
        <p:nvSpPr>
          <p:cNvPr id="13" name="text-235">
            <a:extLst>
              <a:ext uri="{FF2B5EF4-FFF2-40B4-BE49-F238E27FC236}">
                <a16:creationId xmlns:a16="http://schemas.microsoft.com/office/drawing/2014/main" id="{AD037BAC-CDA0-4CB9-B5CE-5F41BE24A44C}"/>
              </a:ext>
            </a:extLst>
          </p:cNvPr>
          <p:cNvSpPr>
            <a:spLocks noGrp="1"/>
          </p:cNvSpPr>
          <p:nvPr/>
        </p:nvSpPr>
        <p:spPr>
          <a:xfrm>
            <a:off x="6838950" y="4343400"/>
            <a:ext cx="4657725" cy="285750"/>
          </a:xfrm>
          <a:prstGeom prst="rect">
            <a:avLst/>
          </a:prstGeom>
        </p:spPr>
        <p:txBody>
          <a:bodyPr wrap="square" lIns="0" tIns="0" rIns="0" bIns="0" anchor="t">
            <a:normAutofit/>
          </a:bodyPr>
          <a:lstStyle/>
          <a:p>
            <a:pPr algn="l">
              <a:buNone/>
              <a:defRPr sz="1425" b="1">
                <a:solidFill>
                  <a:srgbClr val="000000"/>
                </a:solidFill>
                <a:latin typeface="Helvetica Neue"/>
                <a:ea typeface="Helvetica Neue"/>
                <a:cs typeface="Helvetica Neue"/>
              </a:defRPr>
            </a:pPr>
            <a:r>
              <a:t>NEXT-CYCLE OUTPUT</a:t>
            </a:r>
          </a:p>
        </p:txBody>
      </p:sp>
      <p:sp>
        <p:nvSpPr>
          <p:cNvPr id="14" name="text-236">
            <a:extLst>
              <a:ext uri="{FF2B5EF4-FFF2-40B4-BE49-F238E27FC236}">
                <a16:creationId xmlns:a16="http://schemas.microsoft.com/office/drawing/2014/main" id="{5EC7EE46-36D8-4742-A8CB-F10C4A6CE8DD}"/>
              </a:ext>
            </a:extLst>
          </p:cNvPr>
          <p:cNvSpPr>
            <a:spLocks noGrp="1"/>
          </p:cNvSpPr>
          <p:nvPr/>
        </p:nvSpPr>
        <p:spPr>
          <a:xfrm>
            <a:off x="6838950" y="4724400"/>
            <a:ext cx="4657725" cy="400050"/>
          </a:xfrm>
          <a:prstGeom prst="rect">
            <a:avLst/>
          </a:prstGeom>
        </p:spPr>
        <p:txBody>
          <a:bodyPr wrap="square" lIns="0" tIns="0" rIns="0" bIns="0" anchor="t">
            <a:normAutofit/>
          </a:bodyPr>
          <a:lstStyle/>
          <a:p>
            <a:pPr algn="l">
              <a:buNone/>
              <a:defRPr sz="1875" b="1">
                <a:solidFill>
                  <a:srgbClr val="000000"/>
                </a:solidFill>
                <a:latin typeface="Helvetica Neue"/>
                <a:ea typeface="Helvetica Neue"/>
                <a:cs typeface="Helvetica Neue"/>
              </a:defRPr>
            </a:pPr>
            <a:r>
              <a:t>Keep as test | 20.07 units</a:t>
            </a:r>
          </a:p>
        </p:txBody>
      </p:sp>
      <p:sp>
        <p:nvSpPr>
          <p:cNvPr id="15" name="text-237">
            <a:extLst>
              <a:ext uri="{FF2B5EF4-FFF2-40B4-BE49-F238E27FC236}">
                <a16:creationId xmlns:a16="http://schemas.microsoft.com/office/drawing/2014/main" id="{2E1D61EC-FE30-49EF-9226-22ED242D5E78}"/>
              </a:ext>
            </a:extLst>
          </p:cNvPr>
          <p:cNvSpPr>
            <a:spLocks noGrp="1"/>
          </p:cNvSpPr>
          <p:nvPr/>
        </p:nvSpPr>
        <p:spPr>
          <a:xfrm>
            <a:off x="6838950" y="5238750"/>
            <a:ext cx="4657725" cy="457200"/>
          </a:xfrm>
          <a:prstGeom prst="rect">
            <a:avLst/>
          </a:prstGeom>
        </p:spPr>
        <p:txBody>
          <a:bodyPr wrap="square" lIns="0" tIns="0" rIns="0" bIns="0" anchor="t">
            <a:normAutofit/>
          </a:bodyPr>
          <a:lstStyle/>
          <a:p>
            <a:pPr algn="l">
              <a:buNone/>
              <a:defRPr sz="1425" b="0">
                <a:solidFill>
                  <a:srgbClr val="000000"/>
                </a:solidFill>
                <a:latin typeface="Helvetica Neue"/>
                <a:ea typeface="Helvetica Neue"/>
                <a:cs typeface="Helvetica Neue"/>
              </a:defRPr>
            </a:pPr>
            <a:r>
              <a:t>The LLM explains this result; rules supplied the action and allocation.</a:t>
            </a:r>
          </a:p>
        </p:txBody>
      </p:sp>
      <p:graphicFrame>
        <p:nvGraphicFramePr>
          <p:cNvPr id="38" name="Chart"/>
          <p:cNvGraphicFramePr/>
          <p:nvPr/>
        </p:nvGraphicFramePr>
        <p:xfrm>
          <a:off x="390525" y="1809750"/>
          <a:ext cx="561975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44022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16-title">
            <a:extLst>
              <a:ext uri="{FF2B5EF4-FFF2-40B4-BE49-F238E27FC236}">
                <a16:creationId xmlns:a16="http://schemas.microsoft.com/office/drawing/2014/main" id="{BD437B7A-2A21-4924-86A3-A832700254F5}"/>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buNone/>
              <a:defRPr sz="3450" b="1">
                <a:solidFill>
                  <a:srgbClr val="000000"/>
                </a:solidFill>
                <a:latin typeface="Helvetica Neue"/>
                <a:ea typeface="Helvetica Neue"/>
                <a:cs typeface="Helvetica Neue"/>
              </a:defRPr>
            </a:pPr>
            <a:r>
              <a:t>The budget is fixed before narration begins</a:t>
            </a:r>
          </a:p>
        </p:txBody>
      </p:sp>
      <p:cxnSp>
        <p:nvCxnSpPr>
          <p:cNvPr id="21" name="line-251"/>
          <p:cNvCxnSpPr/>
          <p:nvPr/>
        </p:nvCxnSpPr>
        <p:spPr>
          <a:xfrm>
            <a:off x="495300" y="1057275"/>
            <a:ext cx="11296650" cy="9525"/>
          </a:xfrm>
          <a:prstGeom prst="straightConnector1">
            <a:avLst/>
          </a:prstGeom>
          <a:ln w="9525">
            <a:solidFill>
              <a:srgbClr val="B8BCC4"/>
            </a:solidFill>
            <a:prstDash val="solid"/>
          </a:ln>
        </p:spPr>
      </p:cxnSp>
      <p:sp>
        <p:nvSpPr>
          <p:cNvPr id="3" name="slide-16-source">
            <a:extLst>
              <a:ext uri="{FF2B5EF4-FFF2-40B4-BE49-F238E27FC236}">
                <a16:creationId xmlns:a16="http://schemas.microsoft.com/office/drawing/2014/main" id="{28E707C2-0D90-43A2-B9C1-C4491A4E7EBB}"/>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buNone/>
              <a:defRPr sz="900" b="0">
                <a:solidFill>
                  <a:srgbClr val="5F6368"/>
                </a:solidFill>
                <a:latin typeface="Helvetica Neue"/>
                <a:ea typeface="Helvetica Neue"/>
                <a:cs typeface="Helvetica Neue"/>
              </a:defRPr>
            </a:pPr>
            <a:r>
              <a:rPr sz="900" b="0">
                <a:solidFill>
                  <a:srgbClr val="5F6368"/>
                </a:solidFill>
                <a:latin typeface="Helvetica Neue"/>
                <a:ea typeface="Helvetica Neue"/>
                <a:cs typeface="Helvetica Neue"/>
              </a:rPr>
              <a:t>Source: src_2 deterministic 100-unit budget scenario</a:t>
            </a:r>
          </a:p>
        </p:txBody>
      </p:sp>
      <p:sp>
        <p:nvSpPr>
          <p:cNvPr id="4" name="slide-16-number">
            <a:extLst>
              <a:ext uri="{FF2B5EF4-FFF2-40B4-BE49-F238E27FC236}">
                <a16:creationId xmlns:a16="http://schemas.microsoft.com/office/drawing/2014/main" id="{19DB6D42-4A9B-405A-9976-8C785DF4BF39}"/>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buNone/>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27</a:t>
            </a:r>
          </a:p>
        </p:txBody>
      </p:sp>
      <p:sp>
        <p:nvSpPr>
          <p:cNvPr id="5" name="text-242">
            <a:extLst>
              <a:ext uri="{FF2B5EF4-FFF2-40B4-BE49-F238E27FC236}">
                <a16:creationId xmlns:a16="http://schemas.microsoft.com/office/drawing/2014/main" id="{77331177-CE8B-488C-899D-1677774BB8E9}"/>
              </a:ext>
            </a:extLst>
          </p:cNvPr>
          <p:cNvSpPr>
            <a:spLocks noGrp="1"/>
          </p:cNvSpPr>
          <p:nvPr/>
        </p:nvSpPr>
        <p:spPr>
          <a:xfrm>
            <a:off x="390525" y="1257300"/>
            <a:ext cx="6667500" cy="342900"/>
          </a:xfrm>
          <a:prstGeom prst="rect">
            <a:avLst/>
          </a:prstGeom>
        </p:spPr>
        <p:txBody>
          <a:bodyPr wrap="square" lIns="0" tIns="0" rIns="0" bIns="0" anchor="t">
            <a:normAutofit/>
          </a:bodyPr>
          <a:lstStyle/>
          <a:p>
            <a:pPr algn="l">
              <a:buNone/>
              <a:defRPr sz="1725" b="1">
                <a:solidFill>
                  <a:srgbClr val="000000"/>
                </a:solidFill>
                <a:latin typeface="Helvetica Neue"/>
                <a:ea typeface="Helvetica Neue"/>
                <a:cs typeface="Helvetica Neue"/>
              </a:defRPr>
            </a:pPr>
            <a:r>
              <a:t>Illustrative allocation outcome (100 units)</a:t>
            </a:r>
          </a:p>
        </p:txBody>
      </p:sp>
      <p:sp>
        <p:nvSpPr>
          <p:cNvPr id="6" name="shape-243">
            <a:extLst>
              <a:ext uri="{FF2B5EF4-FFF2-40B4-BE49-F238E27FC236}">
                <a16:creationId xmlns:a16="http://schemas.microsoft.com/office/drawing/2014/main" id="{F51C6F5F-A51D-4B6C-BB18-1A51C6FD2A6B}"/>
              </a:ext>
            </a:extLst>
          </p:cNvPr>
          <p:cNvSpPr>
            <a:spLocks noGrp="1"/>
          </p:cNvSpPr>
          <p:nvPr/>
        </p:nvSpPr>
        <p:spPr>
          <a:xfrm>
            <a:off x="7258050" y="1562100"/>
            <a:ext cx="4543425" cy="1752600"/>
          </a:xfrm>
          <a:prstGeom prst="rect">
            <a:avLst/>
          </a:prstGeom>
          <a:solidFill>
            <a:srgbClr val="D0EDFA"/>
          </a:solidFill>
          <a:ln w="9525">
            <a:solidFill>
              <a:srgbClr val="B8BCC4"/>
            </a:solidFill>
            <a:prstDash val="solid"/>
          </a:ln>
        </p:spPr>
        <p:txBody>
          <a:bodyPr/>
          <a:lstStyle/>
          <a:p>
            <a:endParaRPr/>
          </a:p>
        </p:txBody>
      </p:sp>
      <p:sp>
        <p:nvSpPr>
          <p:cNvPr id="7" name="shape-244">
            <a:extLst>
              <a:ext uri="{FF2B5EF4-FFF2-40B4-BE49-F238E27FC236}">
                <a16:creationId xmlns:a16="http://schemas.microsoft.com/office/drawing/2014/main" id="{1076C871-369B-404F-BE46-FE276ECAE347}"/>
              </a:ext>
            </a:extLst>
          </p:cNvPr>
          <p:cNvSpPr>
            <a:spLocks noGrp="1"/>
          </p:cNvSpPr>
          <p:nvPr/>
        </p:nvSpPr>
        <p:spPr>
          <a:xfrm>
            <a:off x="7258050" y="3543300"/>
            <a:ext cx="4543425" cy="1752600"/>
          </a:xfrm>
          <a:prstGeom prst="rect">
            <a:avLst/>
          </a:prstGeom>
          <a:solidFill>
            <a:srgbClr val="F7F7F7"/>
          </a:solidFill>
          <a:ln w="9525">
            <a:solidFill>
              <a:srgbClr val="B8BCC4"/>
            </a:solidFill>
            <a:prstDash val="solid"/>
          </a:ln>
        </p:spPr>
        <p:txBody>
          <a:bodyPr/>
          <a:lstStyle/>
          <a:p>
            <a:endParaRPr/>
          </a:p>
        </p:txBody>
      </p:sp>
      <p:sp>
        <p:nvSpPr>
          <p:cNvPr id="8" name="text-245">
            <a:extLst>
              <a:ext uri="{FF2B5EF4-FFF2-40B4-BE49-F238E27FC236}">
                <a16:creationId xmlns:a16="http://schemas.microsoft.com/office/drawing/2014/main" id="{4F9F37EF-5E81-47A1-9F6E-0D33A501F273}"/>
              </a:ext>
            </a:extLst>
          </p:cNvPr>
          <p:cNvSpPr>
            <a:spLocks noGrp="1"/>
          </p:cNvSpPr>
          <p:nvPr/>
        </p:nvSpPr>
        <p:spPr>
          <a:xfrm>
            <a:off x="7600950" y="1943100"/>
            <a:ext cx="3857625" cy="571500"/>
          </a:xfrm>
          <a:prstGeom prst="rect">
            <a:avLst/>
          </a:prstGeom>
        </p:spPr>
        <p:txBody>
          <a:bodyPr wrap="square" lIns="0" tIns="0" rIns="0" bIns="0" anchor="t">
            <a:normAutofit/>
          </a:bodyPr>
          <a:lstStyle/>
          <a:p>
            <a:pPr algn="l">
              <a:buNone/>
              <a:defRPr sz="3450" b="1">
                <a:solidFill>
                  <a:srgbClr val="3D8DFF"/>
                </a:solidFill>
                <a:latin typeface="Helvetica Neue"/>
                <a:ea typeface="Helvetica Neue"/>
                <a:cs typeface="Helvetica Neue"/>
              </a:defRPr>
            </a:pPr>
            <a:r>
              <a:t>62.76 units</a:t>
            </a:r>
          </a:p>
        </p:txBody>
      </p:sp>
      <p:sp>
        <p:nvSpPr>
          <p:cNvPr id="9" name="text-246">
            <a:extLst>
              <a:ext uri="{FF2B5EF4-FFF2-40B4-BE49-F238E27FC236}">
                <a16:creationId xmlns:a16="http://schemas.microsoft.com/office/drawing/2014/main" id="{3E416542-EAE4-4185-AFA1-B5E09E591621}"/>
              </a:ext>
            </a:extLst>
          </p:cNvPr>
          <p:cNvSpPr>
            <a:spLocks noGrp="1"/>
          </p:cNvSpPr>
          <p:nvPr/>
        </p:nvSpPr>
        <p:spPr>
          <a:xfrm>
            <a:off x="7600950" y="2609850"/>
            <a:ext cx="3857625" cy="400050"/>
          </a:xfrm>
          <a:prstGeom prst="rect">
            <a:avLst/>
          </a:prstGeom>
        </p:spPr>
        <p:txBody>
          <a:bodyPr wrap="square" lIns="0" tIns="0" rIns="0" bIns="0" anchor="t">
            <a:normAutofit/>
          </a:bodyPr>
          <a:lstStyle/>
          <a:p>
            <a:pPr algn="l">
              <a:buNone/>
              <a:defRPr sz="1500" b="1">
                <a:solidFill>
                  <a:srgbClr val="000000"/>
                </a:solidFill>
                <a:latin typeface="Helvetica Neue"/>
                <a:ea typeface="Helvetica Neue"/>
                <a:cs typeface="Helvetica Neue"/>
              </a:defRPr>
            </a:pPr>
            <a:r>
              <a:t>Assigned by deterministic rules</a:t>
            </a:r>
          </a:p>
        </p:txBody>
      </p:sp>
      <p:sp>
        <p:nvSpPr>
          <p:cNvPr id="10" name="text-247">
            <a:extLst>
              <a:ext uri="{FF2B5EF4-FFF2-40B4-BE49-F238E27FC236}">
                <a16:creationId xmlns:a16="http://schemas.microsoft.com/office/drawing/2014/main" id="{3A65594C-2B13-4C76-868B-0C1530CC6B37}"/>
              </a:ext>
            </a:extLst>
          </p:cNvPr>
          <p:cNvSpPr>
            <a:spLocks noGrp="1"/>
          </p:cNvSpPr>
          <p:nvPr/>
        </p:nvSpPr>
        <p:spPr>
          <a:xfrm>
            <a:off x="7600950" y="3924300"/>
            <a:ext cx="3857625" cy="571500"/>
          </a:xfrm>
          <a:prstGeom prst="rect">
            <a:avLst/>
          </a:prstGeom>
        </p:spPr>
        <p:txBody>
          <a:bodyPr wrap="square" lIns="0" tIns="0" rIns="0" bIns="0" anchor="t">
            <a:normAutofit/>
          </a:bodyPr>
          <a:lstStyle/>
          <a:p>
            <a:pPr algn="l">
              <a:buNone/>
              <a:defRPr sz="3450" b="1">
                <a:solidFill>
                  <a:srgbClr val="000000"/>
                </a:solidFill>
                <a:latin typeface="Helvetica Neue"/>
                <a:ea typeface="Helvetica Neue"/>
                <a:cs typeface="Helvetica Neue"/>
              </a:defRPr>
            </a:pPr>
            <a:r>
              <a:t>37.24 units</a:t>
            </a:r>
          </a:p>
        </p:txBody>
      </p:sp>
      <p:sp>
        <p:nvSpPr>
          <p:cNvPr id="11" name="text-248">
            <a:extLst>
              <a:ext uri="{FF2B5EF4-FFF2-40B4-BE49-F238E27FC236}">
                <a16:creationId xmlns:a16="http://schemas.microsoft.com/office/drawing/2014/main" id="{3C921165-6737-4E87-A805-64E71092CAF6}"/>
              </a:ext>
            </a:extLst>
          </p:cNvPr>
          <p:cNvSpPr>
            <a:spLocks noGrp="1"/>
          </p:cNvSpPr>
          <p:nvPr/>
        </p:nvSpPr>
        <p:spPr>
          <a:xfrm>
            <a:off x="7600950" y="4591050"/>
            <a:ext cx="3857625" cy="533400"/>
          </a:xfrm>
          <a:prstGeom prst="rect">
            <a:avLst/>
          </a:prstGeom>
        </p:spPr>
        <p:txBody>
          <a:bodyPr wrap="square" lIns="0" tIns="0" rIns="0" bIns="0" anchor="t">
            <a:normAutofit/>
          </a:bodyPr>
          <a:lstStyle/>
          <a:p>
            <a:pPr algn="l">
              <a:buNone/>
              <a:defRPr sz="1500" b="1">
                <a:solidFill>
                  <a:srgbClr val="000000"/>
                </a:solidFill>
                <a:latin typeface="Helvetica Neue"/>
                <a:ea typeface="Helvetica Neue"/>
                <a:cs typeface="Helvetica Neue"/>
              </a:defRPr>
            </a:pPr>
            <a:r>
              <a:t>Unallocated; blocked envelopes are not redistributed</a:t>
            </a:r>
          </a:p>
        </p:txBody>
      </p:sp>
      <p:sp>
        <p:nvSpPr>
          <p:cNvPr id="12" name="text-249">
            <a:extLst>
              <a:ext uri="{FF2B5EF4-FFF2-40B4-BE49-F238E27FC236}">
                <a16:creationId xmlns:a16="http://schemas.microsoft.com/office/drawing/2014/main" id="{24E1DC43-A28A-4D4D-BA86-1C9B22A4D8BD}"/>
              </a:ext>
            </a:extLst>
          </p:cNvPr>
          <p:cNvSpPr>
            <a:spLocks noGrp="1"/>
          </p:cNvSpPr>
          <p:nvPr/>
        </p:nvSpPr>
        <p:spPr>
          <a:xfrm>
            <a:off x="1600200" y="5867400"/>
            <a:ext cx="8991600" cy="323850"/>
          </a:xfrm>
          <a:prstGeom prst="rect">
            <a:avLst/>
          </a:prstGeom>
        </p:spPr>
        <p:txBody>
          <a:bodyPr wrap="square" lIns="0" tIns="0" rIns="0" bIns="0" anchor="t">
            <a:normAutofit/>
          </a:bodyPr>
          <a:lstStyle/>
          <a:p>
            <a:pPr algn="ctr">
              <a:buNone/>
              <a:defRPr sz="1725" b="1">
                <a:solidFill>
                  <a:srgbClr val="3D8DFF"/>
                </a:solidFill>
                <a:latin typeface="Helvetica Neue"/>
                <a:ea typeface="Helvetica Neue"/>
                <a:cs typeface="Helvetica Neue"/>
              </a:defRPr>
            </a:pPr>
            <a:r>
              <a:t>The LLM may explain these numbers; it cannot change them.</a:t>
            </a:r>
          </a:p>
        </p:txBody>
      </p:sp>
      <p:graphicFrame>
        <p:nvGraphicFramePr>
          <p:cNvPr id="32" name="Chart"/>
          <p:cNvGraphicFramePr/>
          <p:nvPr/>
        </p:nvGraphicFramePr>
        <p:xfrm>
          <a:off x="390525" y="1714500"/>
          <a:ext cx="647700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43383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549ac42a-3eb4-4074-b885-aea26bd6241e}" enabled="1" method="Standard" siteId="{9274ee3f-9425-4109-a27f-9fb15c10675d}" contentBits="0" removed="0"/>
</clbl:labelList>
</file>

<file path=docProps/app.xml><?xml version="1.0" encoding="utf-8"?>
<Properties xmlns="http://schemas.openxmlformats.org/officeDocument/2006/extended-properties" xmlns:vt="http://schemas.openxmlformats.org/officeDocument/2006/docPropsVTypes">
  <TotalTime>0</TotalTime>
  <Words>2121</Words>
  <Application>Microsoft Macintosh PowerPoint</Application>
  <DocSecurity>0</DocSecurity>
  <PresentationFormat>Widescreen</PresentationFormat>
  <Paragraphs>261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Abdelmoaaty, Osama (LNG-PSG)</cp:lastModifiedBy>
  <cp:revision>1</cp:revision>
  <dcterms:created xsi:type="dcterms:W3CDTF">2026-07-21T19:21:23Z</dcterms:created>
  <dcterms:modified xsi:type="dcterms:W3CDTF">2026-07-22T19:33:35Z</dcterms:modified>
</cp:coreProperties>
</file>